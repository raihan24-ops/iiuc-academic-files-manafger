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Gill Sans"/>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4" roundtripDataSignature="AMtx7mgnCtGJ9LvkVpMdKvll0P9rt8qI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GillSans-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Gill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8"/>
          <p:cNvSpPr txBox="1"/>
          <p:nvPr>
            <p:ph type="ctrTitle"/>
          </p:nvPr>
        </p:nvSpPr>
        <p:spPr>
          <a:xfrm>
            <a:off x="1777464" y="802298"/>
            <a:ext cx="8637073"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8"/>
          <p:cNvSpPr txBox="1"/>
          <p:nvPr>
            <p:ph idx="1" type="subTitle"/>
          </p:nvPr>
        </p:nvSpPr>
        <p:spPr>
          <a:xfrm>
            <a:off x="1777464" y="3531204"/>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20" name="Google Shape;20;p18"/>
          <p:cNvSpPr txBox="1"/>
          <p:nvPr>
            <p:ph idx="10" type="dt"/>
          </p:nvPr>
        </p:nvSpPr>
        <p:spPr>
          <a:xfrm>
            <a:off x="6913821" y="6370429"/>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
          <p:cNvSpPr txBox="1"/>
          <p:nvPr>
            <p:ph idx="11" type="ftr"/>
          </p:nvPr>
        </p:nvSpPr>
        <p:spPr>
          <a:xfrm>
            <a:off x="1777464" y="6370430"/>
            <a:ext cx="4973915"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2" name="Google Shape;22;p18"/>
          <p:cNvCxnSpPr/>
          <p:nvPr/>
        </p:nvCxnSpPr>
        <p:spPr>
          <a:xfrm>
            <a:off x="1777464"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mt="45000"/>
          </a:blip>
          <a:stretch>
            <a:fillRect/>
          </a:stretch>
        </a:blipFill>
      </p:bgPr>
    </p:bg>
    <p:spTree>
      <p:nvGrpSpPr>
        <p:cNvPr id="23" name="Shape 23"/>
        <p:cNvGrpSpPr/>
        <p:nvPr/>
      </p:nvGrpSpPr>
      <p:grpSpPr>
        <a:xfrm>
          <a:off x="0" y="0"/>
          <a:ext cx="0" cy="0"/>
          <a:chOff x="0" y="0"/>
          <a:chExt cx="0" cy="0"/>
        </a:xfrm>
      </p:grpSpPr>
      <p:sp>
        <p:nvSpPr>
          <p:cNvPr id="24" name="Google Shape;24;p19"/>
          <p:cNvSpPr txBox="1"/>
          <p:nvPr>
            <p:ph idx="1" type="body"/>
          </p:nvPr>
        </p:nvSpPr>
        <p:spPr>
          <a:xfrm>
            <a:off x="1294363" y="2015732"/>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5" name="Google Shape;25;p19"/>
          <p:cNvSpPr txBox="1"/>
          <p:nvPr>
            <p:ph idx="10" type="dt"/>
          </p:nvPr>
        </p:nvSpPr>
        <p:spPr>
          <a:xfrm>
            <a:off x="7396923" y="6340793"/>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1" type="ftr"/>
          </p:nvPr>
        </p:nvSpPr>
        <p:spPr>
          <a:xfrm>
            <a:off x="1294364" y="6339730"/>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7" name="Google Shape;27;p19"/>
          <p:cNvCxnSpPr/>
          <p:nvPr/>
        </p:nvCxnSpPr>
        <p:spPr>
          <a:xfrm>
            <a:off x="1292239" y="1486603"/>
            <a:ext cx="9607522" cy="0"/>
          </a:xfrm>
          <a:prstGeom prst="straightConnector1">
            <a:avLst/>
          </a:prstGeom>
          <a:noFill/>
          <a:ln cap="flat" cmpd="sng" w="31750">
            <a:solidFill>
              <a:schemeClr val="accent1"/>
            </a:solidFill>
            <a:prstDash val="solid"/>
            <a:round/>
            <a:headEnd len="sm" w="sm" type="none"/>
            <a:tailEnd len="sm" w="sm" type="none"/>
          </a:ln>
        </p:spPr>
      </p:cxnSp>
      <p:sp>
        <p:nvSpPr>
          <p:cNvPr id="28" name="Google Shape;28;p19"/>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blipFill>
          <a:blip r:embed="rId2">
            <a:alphaModFix amt="45000"/>
          </a:blip>
          <a:stretch>
            <a:fillRect/>
          </a:stretch>
        </a:blipFill>
      </p:bgPr>
    </p:bg>
    <p:spTree>
      <p:nvGrpSpPr>
        <p:cNvPr id="29" name="Shape 29"/>
        <p:cNvGrpSpPr/>
        <p:nvPr/>
      </p:nvGrpSpPr>
      <p:grpSpPr>
        <a:xfrm>
          <a:off x="0" y="0"/>
          <a:ext cx="0" cy="0"/>
          <a:chOff x="0" y="0"/>
          <a:chExt cx="0" cy="0"/>
        </a:xfrm>
      </p:grpSpPr>
      <p:sp>
        <p:nvSpPr>
          <p:cNvPr id="30" name="Google Shape;30;p20"/>
          <p:cNvSpPr txBox="1"/>
          <p:nvPr>
            <p:ph idx="1" type="body"/>
          </p:nvPr>
        </p:nvSpPr>
        <p:spPr>
          <a:xfrm>
            <a:off x="5095246" y="1645522"/>
            <a:ext cx="5807176" cy="3840852"/>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1" name="Google Shape;31;p20"/>
          <p:cNvSpPr txBox="1"/>
          <p:nvPr>
            <p:ph idx="2" type="body"/>
          </p:nvPr>
        </p:nvSpPr>
        <p:spPr>
          <a:xfrm>
            <a:off x="1290909" y="1645522"/>
            <a:ext cx="3600000" cy="383672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32" name="Google Shape;32;p20"/>
          <p:cNvSpPr txBox="1"/>
          <p:nvPr>
            <p:ph idx="10" type="dt"/>
          </p:nvPr>
        </p:nvSpPr>
        <p:spPr>
          <a:xfrm>
            <a:off x="7396923" y="6340793"/>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1" type="ftr"/>
          </p:nvPr>
        </p:nvSpPr>
        <p:spPr>
          <a:xfrm>
            <a:off x="1294364" y="6339730"/>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34" name="Google Shape;34;p20"/>
          <p:cNvCxnSpPr/>
          <p:nvPr/>
        </p:nvCxnSpPr>
        <p:spPr>
          <a:xfrm>
            <a:off x="1292239" y="1486603"/>
            <a:ext cx="9607522" cy="0"/>
          </a:xfrm>
          <a:prstGeom prst="straightConnector1">
            <a:avLst/>
          </a:prstGeom>
          <a:noFill/>
          <a:ln cap="flat" cmpd="sng" w="31750">
            <a:solidFill>
              <a:schemeClr val="accent1"/>
            </a:solidFill>
            <a:prstDash val="solid"/>
            <a:round/>
            <a:headEnd len="sm" w="sm" type="none"/>
            <a:tailEnd len="sm" w="sm" type="none"/>
          </a:ln>
        </p:spPr>
      </p:cxnSp>
      <p:sp>
        <p:nvSpPr>
          <p:cNvPr id="35" name="Google Shape;35;p20"/>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Gallery ">
  <p:cSld name="Content and Gallery ">
    <p:bg>
      <p:bgPr>
        <a:blipFill>
          <a:blip r:embed="rId2">
            <a:alphaModFix amt="45000"/>
          </a:blip>
          <a:stretch>
            <a:fillRect/>
          </a:stretch>
        </a:blipFill>
      </p:bgPr>
    </p:bg>
    <p:spTree>
      <p:nvGrpSpPr>
        <p:cNvPr id="36" name="Shape 36"/>
        <p:cNvGrpSpPr/>
        <p:nvPr/>
      </p:nvGrpSpPr>
      <p:grpSpPr>
        <a:xfrm>
          <a:off x="0" y="0"/>
          <a:ext cx="0" cy="0"/>
          <a:chOff x="0" y="0"/>
          <a:chExt cx="0" cy="0"/>
        </a:xfrm>
      </p:grpSpPr>
      <p:sp>
        <p:nvSpPr>
          <p:cNvPr id="37" name="Google Shape;37;p21"/>
          <p:cNvSpPr txBox="1"/>
          <p:nvPr>
            <p:ph idx="1" type="body"/>
          </p:nvPr>
        </p:nvSpPr>
        <p:spPr>
          <a:xfrm>
            <a:off x="1300394" y="3128470"/>
            <a:ext cx="3024000" cy="1906565"/>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8" name="Google Shape;38;p21"/>
          <p:cNvSpPr txBox="1"/>
          <p:nvPr>
            <p:ph idx="2" type="body"/>
          </p:nvPr>
        </p:nvSpPr>
        <p:spPr>
          <a:xfrm>
            <a:off x="7873638" y="5144980"/>
            <a:ext cx="3036438" cy="80740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39" name="Google Shape;39;p21"/>
          <p:cNvSpPr txBox="1"/>
          <p:nvPr>
            <p:ph idx="10" type="dt"/>
          </p:nvPr>
        </p:nvSpPr>
        <p:spPr>
          <a:xfrm>
            <a:off x="7396923" y="6340793"/>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1"/>
          <p:cNvSpPr txBox="1"/>
          <p:nvPr>
            <p:ph idx="11" type="ftr"/>
          </p:nvPr>
        </p:nvSpPr>
        <p:spPr>
          <a:xfrm>
            <a:off x="1294364" y="6339730"/>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41" name="Google Shape;41;p21"/>
          <p:cNvCxnSpPr/>
          <p:nvPr/>
        </p:nvCxnSpPr>
        <p:spPr>
          <a:xfrm>
            <a:off x="1292239" y="1486603"/>
            <a:ext cx="9607522" cy="0"/>
          </a:xfrm>
          <a:prstGeom prst="straightConnector1">
            <a:avLst/>
          </a:prstGeom>
          <a:noFill/>
          <a:ln cap="flat" cmpd="sng" w="31750">
            <a:solidFill>
              <a:schemeClr val="accent1"/>
            </a:solidFill>
            <a:prstDash val="solid"/>
            <a:round/>
            <a:headEnd len="sm" w="sm" type="none"/>
            <a:tailEnd len="sm" w="sm" type="none"/>
          </a:ln>
        </p:spPr>
      </p:cxnSp>
      <p:sp>
        <p:nvSpPr>
          <p:cNvPr id="42" name="Google Shape;42;p21"/>
          <p:cNvSpPr txBox="1"/>
          <p:nvPr>
            <p:ph idx="3" type="body"/>
          </p:nvPr>
        </p:nvSpPr>
        <p:spPr>
          <a:xfrm>
            <a:off x="4602108" y="3128470"/>
            <a:ext cx="3024000" cy="1906565"/>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3" name="Google Shape;43;p21"/>
          <p:cNvSpPr txBox="1"/>
          <p:nvPr>
            <p:ph idx="4" type="body"/>
          </p:nvPr>
        </p:nvSpPr>
        <p:spPr>
          <a:xfrm>
            <a:off x="7873638" y="3128470"/>
            <a:ext cx="3024000" cy="1906565"/>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4" name="Google Shape;44;p21"/>
          <p:cNvSpPr txBox="1"/>
          <p:nvPr>
            <p:ph idx="5" type="body"/>
          </p:nvPr>
        </p:nvSpPr>
        <p:spPr>
          <a:xfrm>
            <a:off x="4595889" y="5144979"/>
            <a:ext cx="3036438" cy="80740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45" name="Google Shape;45;p21"/>
          <p:cNvSpPr txBox="1"/>
          <p:nvPr>
            <p:ph idx="6" type="body"/>
          </p:nvPr>
        </p:nvSpPr>
        <p:spPr>
          <a:xfrm>
            <a:off x="1306587" y="5144978"/>
            <a:ext cx="3036438" cy="80740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cxnSp>
        <p:nvCxnSpPr>
          <p:cNvPr id="46" name="Google Shape;46;p21"/>
          <p:cNvCxnSpPr/>
          <p:nvPr/>
        </p:nvCxnSpPr>
        <p:spPr>
          <a:xfrm>
            <a:off x="4484077" y="5144978"/>
            <a:ext cx="0" cy="807405"/>
          </a:xfrm>
          <a:prstGeom prst="straightConnector1">
            <a:avLst/>
          </a:prstGeom>
          <a:noFill/>
          <a:ln cap="flat" cmpd="sng" w="19050">
            <a:solidFill>
              <a:srgbClr val="AFA597"/>
            </a:solidFill>
            <a:prstDash val="solid"/>
            <a:round/>
            <a:headEnd len="sm" w="sm" type="none"/>
            <a:tailEnd len="sm" w="sm" type="none"/>
          </a:ln>
        </p:spPr>
      </p:cxnSp>
      <p:cxnSp>
        <p:nvCxnSpPr>
          <p:cNvPr id="47" name="Google Shape;47;p21"/>
          <p:cNvCxnSpPr/>
          <p:nvPr/>
        </p:nvCxnSpPr>
        <p:spPr>
          <a:xfrm>
            <a:off x="7757747" y="5144978"/>
            <a:ext cx="0" cy="807405"/>
          </a:xfrm>
          <a:prstGeom prst="straightConnector1">
            <a:avLst/>
          </a:prstGeom>
          <a:noFill/>
          <a:ln cap="flat" cmpd="sng" w="19050">
            <a:solidFill>
              <a:srgbClr val="AFA597"/>
            </a:solidFill>
            <a:prstDash val="solid"/>
            <a:round/>
            <a:headEnd len="sm" w="sm" type="none"/>
            <a:tailEnd len="sm" w="sm" type="none"/>
          </a:ln>
        </p:spPr>
      </p:cxnSp>
      <p:sp>
        <p:nvSpPr>
          <p:cNvPr id="48" name="Google Shape;48;p21"/>
          <p:cNvSpPr txBox="1"/>
          <p:nvPr>
            <p:ph idx="7" type="body"/>
          </p:nvPr>
        </p:nvSpPr>
        <p:spPr>
          <a:xfrm>
            <a:off x="1290908" y="1617663"/>
            <a:ext cx="9618391" cy="1336675"/>
          </a:xfrm>
          <a:prstGeom prst="rect">
            <a:avLst/>
          </a:prstGeom>
          <a:noFill/>
          <a:ln>
            <a:noFill/>
          </a:ln>
        </p:spPr>
        <p:txBody>
          <a:bodyPr anchorCtr="0" anchor="t" bIns="45700" lIns="91425" spcFirstLastPara="1" rIns="91425" wrap="square" tIns="45700">
            <a:no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9" name="Google Shape;49;p21"/>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blipFill>
          <a:blip r:embed="rId2">
            <a:alphaModFix amt="45000"/>
          </a:blip>
          <a:stretch>
            <a:fillRect/>
          </a:stretch>
        </a:blipFill>
      </p:bgPr>
    </p:bg>
    <p:spTree>
      <p:nvGrpSpPr>
        <p:cNvPr id="50" name="Shape 50"/>
        <p:cNvGrpSpPr/>
        <p:nvPr/>
      </p:nvGrpSpPr>
      <p:grpSpPr>
        <a:xfrm>
          <a:off x="0" y="0"/>
          <a:ext cx="0" cy="0"/>
          <a:chOff x="0" y="0"/>
          <a:chExt cx="0" cy="0"/>
        </a:xfrm>
      </p:grpSpPr>
      <p:sp>
        <p:nvSpPr>
          <p:cNvPr id="51" name="Google Shape;51;p22"/>
          <p:cNvSpPr txBox="1"/>
          <p:nvPr>
            <p:ph idx="10" type="dt"/>
          </p:nvPr>
        </p:nvSpPr>
        <p:spPr>
          <a:xfrm>
            <a:off x="7396923" y="6340793"/>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1294364" y="6339730"/>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53" name="Google Shape;53;p22"/>
          <p:cNvCxnSpPr/>
          <p:nvPr/>
        </p:nvCxnSpPr>
        <p:spPr>
          <a:xfrm>
            <a:off x="1292239" y="1486603"/>
            <a:ext cx="9607522" cy="0"/>
          </a:xfrm>
          <a:prstGeom prst="straightConnector1">
            <a:avLst/>
          </a:prstGeom>
          <a:noFill/>
          <a:ln cap="flat" cmpd="sng" w="31750">
            <a:solidFill>
              <a:schemeClr val="accent1"/>
            </a:solidFill>
            <a:prstDash val="solid"/>
            <a:round/>
            <a:headEnd len="sm" w="sm" type="none"/>
            <a:tailEnd len="sm" w="sm" type="none"/>
          </a:ln>
        </p:spPr>
      </p:cxnSp>
      <p:sp>
        <p:nvSpPr>
          <p:cNvPr id="54" name="Google Shape;54;p22"/>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2"/>
          <p:cNvSpPr txBox="1"/>
          <p:nvPr>
            <p:ph idx="1" type="body"/>
          </p:nvPr>
        </p:nvSpPr>
        <p:spPr>
          <a:xfrm>
            <a:off x="1694656" y="1865037"/>
            <a:ext cx="8802688" cy="3127927"/>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SzPts val="6000"/>
              <a:buNone/>
              <a:defRPr sz="6000"/>
            </a:lvl1pPr>
            <a:lvl2pPr indent="-228600" lvl="1" marL="914400" algn="l">
              <a:lnSpc>
                <a:spcPct val="120000"/>
              </a:lnSpc>
              <a:spcBef>
                <a:spcPts val="500"/>
              </a:spcBef>
              <a:spcAft>
                <a:spcPts val="0"/>
              </a:spcAft>
              <a:buSzPts val="1800"/>
              <a:buNone/>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mt="45000"/>
          </a:blip>
          <a:stretch>
            <a:fillRect/>
          </a:stretch>
        </a:blipFill>
      </p:bgPr>
    </p:bg>
    <p:spTree>
      <p:nvGrpSpPr>
        <p:cNvPr id="56" name="Shape 56"/>
        <p:cNvGrpSpPr/>
        <p:nvPr/>
      </p:nvGrpSpPr>
      <p:grpSpPr>
        <a:xfrm>
          <a:off x="0" y="0"/>
          <a:ext cx="0" cy="0"/>
          <a:chOff x="0" y="0"/>
          <a:chExt cx="0" cy="0"/>
        </a:xfrm>
      </p:grpSpPr>
      <p:sp>
        <p:nvSpPr>
          <p:cNvPr id="57" name="Google Shape;57;p23"/>
          <p:cNvSpPr txBox="1"/>
          <p:nvPr>
            <p:ph type="title"/>
          </p:nvPr>
        </p:nvSpPr>
        <p:spPr>
          <a:xfrm>
            <a:off x="1774423"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3"/>
          <p:cNvSpPr txBox="1"/>
          <p:nvPr>
            <p:ph idx="1" type="body"/>
          </p:nvPr>
        </p:nvSpPr>
        <p:spPr>
          <a:xfrm>
            <a:off x="1780777" y="3806195"/>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59" name="Google Shape;59;p23"/>
          <p:cNvSpPr txBox="1"/>
          <p:nvPr>
            <p:ph idx="10" type="dt"/>
          </p:nvPr>
        </p:nvSpPr>
        <p:spPr>
          <a:xfrm>
            <a:off x="7396923" y="6340793"/>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1" type="ftr"/>
          </p:nvPr>
        </p:nvSpPr>
        <p:spPr>
          <a:xfrm>
            <a:off x="1294364" y="6339730"/>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61" name="Google Shape;61;p23"/>
          <p:cNvCxnSpPr/>
          <p:nvPr/>
        </p:nvCxnSpPr>
        <p:spPr>
          <a:xfrm>
            <a:off x="1780777"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mt="45000"/>
          </a:blip>
          <a:stretch>
            <a:fillRect/>
          </a:stretch>
        </a:blipFill>
      </p:bgPr>
    </p:bg>
    <p:spTree>
      <p:nvGrpSpPr>
        <p:cNvPr id="62" name="Shape 62"/>
        <p:cNvGrpSpPr/>
        <p:nvPr/>
      </p:nvGrpSpPr>
      <p:grpSpPr>
        <a:xfrm>
          <a:off x="0" y="0"/>
          <a:ext cx="0" cy="0"/>
          <a:chOff x="0" y="0"/>
          <a:chExt cx="0" cy="0"/>
        </a:xfrm>
      </p:grpSpPr>
      <p:sp>
        <p:nvSpPr>
          <p:cNvPr id="63" name="Google Shape;63;p24"/>
          <p:cNvSpPr txBox="1"/>
          <p:nvPr>
            <p:ph idx="1" type="body"/>
          </p:nvPr>
        </p:nvSpPr>
        <p:spPr>
          <a:xfrm>
            <a:off x="1292239" y="2161853"/>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4" name="Google Shape;64;p24"/>
          <p:cNvSpPr txBox="1"/>
          <p:nvPr>
            <p:ph idx="2" type="body"/>
          </p:nvPr>
        </p:nvSpPr>
        <p:spPr>
          <a:xfrm>
            <a:off x="6258679" y="2168318"/>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5" name="Google Shape;65;p24"/>
          <p:cNvSpPr txBox="1"/>
          <p:nvPr>
            <p:ph idx="10" type="dt"/>
          </p:nvPr>
        </p:nvSpPr>
        <p:spPr>
          <a:xfrm>
            <a:off x="7396923" y="6340793"/>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1294364" y="6339730"/>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67" name="Google Shape;67;p24"/>
          <p:cNvCxnSpPr/>
          <p:nvPr/>
        </p:nvCxnSpPr>
        <p:spPr>
          <a:xfrm>
            <a:off x="1292239" y="1486603"/>
            <a:ext cx="9607522" cy="0"/>
          </a:xfrm>
          <a:prstGeom prst="straightConnector1">
            <a:avLst/>
          </a:prstGeom>
          <a:noFill/>
          <a:ln cap="flat" cmpd="sng" w="31750">
            <a:solidFill>
              <a:schemeClr val="accent1"/>
            </a:solidFill>
            <a:prstDash val="solid"/>
            <a:round/>
            <a:headEnd len="sm" w="sm" type="none"/>
            <a:tailEnd len="sm" w="sm" type="none"/>
          </a:ln>
        </p:spPr>
      </p:cxnSp>
      <p:sp>
        <p:nvSpPr>
          <p:cNvPr id="68" name="Google Shape;68;p24"/>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mt="45000"/>
          </a:blip>
          <a:stretch>
            <a:fillRect/>
          </a:stretch>
        </a:blipFill>
      </p:bgPr>
    </p:bg>
    <p:spTree>
      <p:nvGrpSpPr>
        <p:cNvPr id="69" name="Shape 69"/>
        <p:cNvGrpSpPr/>
        <p:nvPr/>
      </p:nvGrpSpPr>
      <p:grpSpPr>
        <a:xfrm>
          <a:off x="0" y="0"/>
          <a:ext cx="0" cy="0"/>
          <a:chOff x="0" y="0"/>
          <a:chExt cx="0" cy="0"/>
        </a:xfrm>
      </p:grpSpPr>
      <p:sp>
        <p:nvSpPr>
          <p:cNvPr id="70" name="Google Shape;70;p25"/>
          <p:cNvSpPr txBox="1"/>
          <p:nvPr>
            <p:ph idx="1" type="body"/>
          </p:nvPr>
        </p:nvSpPr>
        <p:spPr>
          <a:xfrm>
            <a:off x="1287315" y="1950795"/>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71" name="Google Shape;71;p25"/>
          <p:cNvSpPr txBox="1"/>
          <p:nvPr>
            <p:ph idx="2" type="body"/>
          </p:nvPr>
        </p:nvSpPr>
        <p:spPr>
          <a:xfrm>
            <a:off x="1287315" y="2755515"/>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72" name="Google Shape;72;p25"/>
          <p:cNvSpPr txBox="1"/>
          <p:nvPr>
            <p:ph idx="3" type="body"/>
          </p:nvPr>
        </p:nvSpPr>
        <p:spPr>
          <a:xfrm>
            <a:off x="6252486" y="1954249"/>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73" name="Google Shape;73;p25"/>
          <p:cNvSpPr txBox="1"/>
          <p:nvPr>
            <p:ph idx="4" type="body"/>
          </p:nvPr>
        </p:nvSpPr>
        <p:spPr>
          <a:xfrm>
            <a:off x="6252486" y="2752737"/>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74" name="Google Shape;74;p25"/>
          <p:cNvSpPr txBox="1"/>
          <p:nvPr>
            <p:ph idx="10" type="dt"/>
          </p:nvPr>
        </p:nvSpPr>
        <p:spPr>
          <a:xfrm>
            <a:off x="7396923" y="6340793"/>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5"/>
          <p:cNvSpPr txBox="1"/>
          <p:nvPr>
            <p:ph idx="11" type="ftr"/>
          </p:nvPr>
        </p:nvSpPr>
        <p:spPr>
          <a:xfrm>
            <a:off x="1294364" y="6339730"/>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6" name="Google Shape;76;p25"/>
          <p:cNvCxnSpPr/>
          <p:nvPr/>
        </p:nvCxnSpPr>
        <p:spPr>
          <a:xfrm>
            <a:off x="1292239" y="1486603"/>
            <a:ext cx="9607522" cy="0"/>
          </a:xfrm>
          <a:prstGeom prst="straightConnector1">
            <a:avLst/>
          </a:prstGeom>
          <a:noFill/>
          <a:ln cap="flat" cmpd="sng" w="31750">
            <a:solidFill>
              <a:schemeClr val="accent1"/>
            </a:solidFill>
            <a:prstDash val="solid"/>
            <a:round/>
            <a:headEnd len="sm" w="sm" type="none"/>
            <a:tailEnd len="sm" w="sm" type="none"/>
          </a:ln>
        </p:spPr>
      </p:cxnSp>
      <p:sp>
        <p:nvSpPr>
          <p:cNvPr id="77" name="Google Shape;77;p25"/>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blipFill>
          <a:blip r:embed="rId2">
            <a:alphaModFix amt="45000"/>
          </a:blip>
          <a:stretch>
            <a:fillRect/>
          </a:stretch>
        </a:blipFill>
      </p:bgPr>
    </p:bg>
    <p:spTree>
      <p:nvGrpSpPr>
        <p:cNvPr id="78" name="Shape 78"/>
        <p:cNvGrpSpPr/>
        <p:nvPr/>
      </p:nvGrpSpPr>
      <p:grpSpPr>
        <a:xfrm>
          <a:off x="0" y="0"/>
          <a:ext cx="0" cy="0"/>
          <a:chOff x="0" y="0"/>
          <a:chExt cx="0" cy="0"/>
        </a:xfrm>
      </p:grpSpPr>
      <p:sp>
        <p:nvSpPr>
          <p:cNvPr id="79" name="Google Shape;79;p26"/>
          <p:cNvSpPr txBox="1"/>
          <p:nvPr>
            <p:ph idx="10" type="dt"/>
          </p:nvPr>
        </p:nvSpPr>
        <p:spPr>
          <a:xfrm>
            <a:off x="7396923" y="6340793"/>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6"/>
          <p:cNvSpPr txBox="1"/>
          <p:nvPr>
            <p:ph idx="11" type="ftr"/>
          </p:nvPr>
        </p:nvSpPr>
        <p:spPr>
          <a:xfrm>
            <a:off x="1294364" y="6339730"/>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81" name="Google Shape;81;p26"/>
          <p:cNvCxnSpPr/>
          <p:nvPr/>
        </p:nvCxnSpPr>
        <p:spPr>
          <a:xfrm>
            <a:off x="1292239" y="1486603"/>
            <a:ext cx="9607522" cy="0"/>
          </a:xfrm>
          <a:prstGeom prst="straightConnector1">
            <a:avLst/>
          </a:prstGeom>
          <a:noFill/>
          <a:ln cap="flat" cmpd="sng" w="31750">
            <a:solidFill>
              <a:schemeClr val="accent1"/>
            </a:solidFill>
            <a:prstDash val="solid"/>
            <a:round/>
            <a:headEnd len="sm" w="sm" type="none"/>
            <a:tailEnd len="sm" w="sm" type="none"/>
          </a:ln>
        </p:spPr>
      </p:cxnSp>
      <p:sp>
        <p:nvSpPr>
          <p:cNvPr id="82" name="Google Shape;82;p26"/>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mt="45000"/>
          </a:blip>
          <a:stretch>
            <a:fillRect/>
          </a:stretch>
        </a:blipFill>
      </p:bgPr>
    </p:bg>
    <p:spTree>
      <p:nvGrpSpPr>
        <p:cNvPr id="83" name="Shape 83"/>
        <p:cNvGrpSpPr/>
        <p:nvPr/>
      </p:nvGrpSpPr>
      <p:grpSpPr>
        <a:xfrm>
          <a:off x="0" y="0"/>
          <a:ext cx="0" cy="0"/>
          <a:chOff x="0" y="0"/>
          <a:chExt cx="0" cy="0"/>
        </a:xfrm>
      </p:grpSpPr>
      <p:sp>
        <p:nvSpPr>
          <p:cNvPr id="84" name="Google Shape;84;p27"/>
          <p:cNvSpPr txBox="1"/>
          <p:nvPr>
            <p:ph idx="10" type="dt"/>
          </p:nvPr>
        </p:nvSpPr>
        <p:spPr>
          <a:xfrm>
            <a:off x="7396923" y="6340793"/>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7"/>
          <p:cNvSpPr txBox="1"/>
          <p:nvPr>
            <p:ph idx="11" type="ftr"/>
          </p:nvPr>
        </p:nvSpPr>
        <p:spPr>
          <a:xfrm>
            <a:off x="1294364" y="6339730"/>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a:blip r:embed="rId2">
            <a:alphaModFix amt="45000"/>
          </a:blip>
          <a:stretch>
            <a:fillRect/>
          </a:stretch>
        </a:blipFill>
      </p:bgPr>
    </p:bg>
    <p:spTree>
      <p:nvGrpSpPr>
        <p:cNvPr id="86" name="Shape 86"/>
        <p:cNvGrpSpPr/>
        <p:nvPr/>
      </p:nvGrpSpPr>
      <p:grpSpPr>
        <a:xfrm>
          <a:off x="0" y="0"/>
          <a:ext cx="0" cy="0"/>
          <a:chOff x="0" y="0"/>
          <a:chExt cx="0" cy="0"/>
        </a:xfrm>
      </p:grpSpPr>
      <p:grpSp>
        <p:nvGrpSpPr>
          <p:cNvPr id="87" name="Google Shape;87;p28"/>
          <p:cNvGrpSpPr/>
          <p:nvPr/>
        </p:nvGrpSpPr>
        <p:grpSpPr>
          <a:xfrm>
            <a:off x="7477387" y="482170"/>
            <a:ext cx="4074533" cy="5149101"/>
            <a:chOff x="7477387" y="482170"/>
            <a:chExt cx="4074533" cy="5149101"/>
          </a:xfrm>
        </p:grpSpPr>
        <p:sp>
          <p:nvSpPr>
            <p:cNvPr id="88" name="Google Shape;88;p28"/>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8"/>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28"/>
          <p:cNvSpPr txBox="1"/>
          <p:nvPr>
            <p:ph type="title"/>
          </p:nvPr>
        </p:nvSpPr>
        <p:spPr>
          <a:xfrm>
            <a:off x="1451206" y="1129513"/>
            <a:ext cx="5532328"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28"/>
          <p:cNvSpPr/>
          <p:nvPr>
            <p:ph idx="2" type="pic"/>
          </p:nvPr>
        </p:nvSpPr>
        <p:spPr>
          <a:xfrm>
            <a:off x="8124389" y="1122542"/>
            <a:ext cx="2791171" cy="3866327"/>
          </a:xfrm>
          <a:prstGeom prst="rect">
            <a:avLst/>
          </a:prstGeom>
          <a:solidFill>
            <a:srgbClr val="D8D8D8"/>
          </a:solidFill>
          <a:ln>
            <a:noFill/>
          </a:ln>
        </p:spPr>
      </p:sp>
      <p:sp>
        <p:nvSpPr>
          <p:cNvPr id="92" name="Google Shape;92;p28"/>
          <p:cNvSpPr txBox="1"/>
          <p:nvPr>
            <p:ph idx="1" type="body"/>
          </p:nvPr>
        </p:nvSpPr>
        <p:spPr>
          <a:xfrm>
            <a:off x="1450329"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3" name="Google Shape;93;p28"/>
          <p:cNvSpPr txBox="1"/>
          <p:nvPr>
            <p:ph idx="10" type="dt"/>
          </p:nvPr>
        </p:nvSpPr>
        <p:spPr>
          <a:xfrm>
            <a:off x="7236069" y="6332578"/>
            <a:ext cx="4315852" cy="32012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8"/>
          <p:cNvSpPr txBox="1"/>
          <p:nvPr>
            <p:ph idx="11" type="ftr"/>
          </p:nvPr>
        </p:nvSpPr>
        <p:spPr>
          <a:xfrm>
            <a:off x="1447382" y="6332578"/>
            <a:ext cx="5541004"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95" name="Google Shape;95;p28"/>
          <p:cNvCxnSpPr/>
          <p:nvPr/>
        </p:nvCxnSpPr>
        <p:spPr>
          <a:xfrm>
            <a:off x="1447382"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mt="45000"/>
          </a:blip>
          <a:stretch>
            <a:fillRect/>
          </a:stretch>
        </a:blipFill>
      </p:bgPr>
    </p:bg>
    <p:spTree>
      <p:nvGrpSpPr>
        <p:cNvPr id="9" name="Shape 9"/>
        <p:cNvGrpSpPr/>
        <p:nvPr/>
      </p:nvGrpSpPr>
      <p:grpSpPr>
        <a:xfrm>
          <a:off x="0" y="0"/>
          <a:ext cx="0" cy="0"/>
          <a:chOff x="0" y="0"/>
          <a:chExt cx="0" cy="0"/>
        </a:xfrm>
      </p:grpSpPr>
      <p:sp>
        <p:nvSpPr>
          <p:cNvPr id="10" name="Google Shape;10;p17"/>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 name="Google Shape;11;p17"/>
          <p:cNvPicPr preferRelativeResize="0"/>
          <p:nvPr/>
        </p:nvPicPr>
        <p:blipFill rotWithShape="1">
          <a:blip r:embed="rId2">
            <a:alphaModFix/>
          </a:blip>
          <a:srcRect b="-1562" l="0" r="0" t="0"/>
          <a:stretch/>
        </p:blipFill>
        <p:spPr>
          <a:xfrm>
            <a:off x="0" y="6126480"/>
            <a:ext cx="12192000" cy="742950"/>
          </a:xfrm>
          <a:prstGeom prst="rect">
            <a:avLst/>
          </a:prstGeom>
          <a:noFill/>
          <a:ln>
            <a:noFill/>
          </a:ln>
        </p:spPr>
      </p:pic>
      <p:sp>
        <p:nvSpPr>
          <p:cNvPr id="12" name="Google Shape;12;p17"/>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7"/>
          <p:cNvSpPr txBox="1"/>
          <p:nvPr>
            <p:ph idx="1" type="body"/>
          </p:nvPr>
        </p:nvSpPr>
        <p:spPr>
          <a:xfrm>
            <a:off x="1294363" y="2015732"/>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4" name="Google Shape;14;p17"/>
          <p:cNvSpPr txBox="1"/>
          <p:nvPr>
            <p:ph idx="10" type="dt"/>
          </p:nvPr>
        </p:nvSpPr>
        <p:spPr>
          <a:xfrm>
            <a:off x="7396923" y="6340793"/>
            <a:ext cx="3500715"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5" name="Google Shape;15;p17"/>
          <p:cNvSpPr txBox="1"/>
          <p:nvPr>
            <p:ph idx="11" type="ftr"/>
          </p:nvPr>
        </p:nvSpPr>
        <p:spPr>
          <a:xfrm>
            <a:off x="1294364" y="6339730"/>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cxnSp>
        <p:nvCxnSpPr>
          <p:cNvPr id="16" name="Google Shape;16;p17"/>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45000"/>
          </a:blip>
          <a:stretch>
            <a:fillRect/>
          </a:stretch>
        </a:blipFill>
      </p:bgPr>
    </p:bg>
    <p:spTree>
      <p:nvGrpSpPr>
        <p:cNvPr id="99" name="Shape 99"/>
        <p:cNvGrpSpPr/>
        <p:nvPr/>
      </p:nvGrpSpPr>
      <p:grpSpPr>
        <a:xfrm>
          <a:off x="0" y="0"/>
          <a:ext cx="0" cy="0"/>
          <a:chOff x="0" y="0"/>
          <a:chExt cx="0" cy="0"/>
        </a:xfrm>
      </p:grpSpPr>
      <p:sp>
        <p:nvSpPr>
          <p:cNvPr id="100" name="Google Shape;100;p1"/>
          <p:cNvSpPr txBox="1"/>
          <p:nvPr>
            <p:ph type="ctrTitle"/>
          </p:nvPr>
        </p:nvSpPr>
        <p:spPr>
          <a:xfrm>
            <a:off x="326571" y="365759"/>
            <a:ext cx="12997543" cy="600529"/>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rgbClr val="002060"/>
              </a:buClr>
              <a:buSzPts val="3600"/>
              <a:buFont typeface="Times New Roman"/>
              <a:buNone/>
            </a:pPr>
            <a:r>
              <a:rPr lang="en-US" sz="3600">
                <a:solidFill>
                  <a:srgbClr val="002060"/>
                </a:solidFill>
                <a:latin typeface="Times New Roman"/>
                <a:ea typeface="Times New Roman"/>
                <a:cs typeface="Times New Roman"/>
                <a:sym typeface="Times New Roman"/>
              </a:rPr>
              <a:t>INTERNATIONAL ISLAMIC UNIVERSITY CHITTAGONG</a:t>
            </a:r>
            <a:endParaRPr sz="3600">
              <a:solidFill>
                <a:srgbClr val="002060"/>
              </a:solidFill>
              <a:latin typeface="Times New Roman"/>
              <a:ea typeface="Times New Roman"/>
              <a:cs typeface="Times New Roman"/>
              <a:sym typeface="Times New Roman"/>
            </a:endParaRPr>
          </a:p>
        </p:txBody>
      </p:sp>
      <p:sp>
        <p:nvSpPr>
          <p:cNvPr id="101" name="Google Shape;101;p1"/>
          <p:cNvSpPr txBox="1"/>
          <p:nvPr/>
        </p:nvSpPr>
        <p:spPr>
          <a:xfrm>
            <a:off x="7744691" y="3976256"/>
            <a:ext cx="427313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C0C0C"/>
                </a:solidFill>
                <a:latin typeface="Gill Sans"/>
                <a:ea typeface="Gill Sans"/>
                <a:cs typeface="Gill Sans"/>
                <a:sym typeface="Gill Sans"/>
              </a:rPr>
              <a:t>Abu Raihan Anchari Miskat</a:t>
            </a:r>
            <a:endParaRPr/>
          </a:p>
          <a:p>
            <a:pPr indent="0" lvl="0" marL="0" marR="0" rtl="0" algn="l">
              <a:spcBef>
                <a:spcPts val="0"/>
              </a:spcBef>
              <a:spcAft>
                <a:spcPts val="0"/>
              </a:spcAft>
              <a:buNone/>
            </a:pPr>
            <a:r>
              <a:rPr lang="en-US" sz="2400">
                <a:solidFill>
                  <a:srgbClr val="0C0C0C"/>
                </a:solidFill>
                <a:latin typeface="Gill Sans"/>
                <a:ea typeface="Gill Sans"/>
                <a:cs typeface="Gill Sans"/>
                <a:sym typeface="Gill Sans"/>
              </a:rPr>
              <a:t>Adjunct Faculty</a:t>
            </a:r>
            <a:endParaRPr/>
          </a:p>
          <a:p>
            <a:pPr indent="0" lvl="0" marL="0" marR="0" rtl="0" algn="l">
              <a:spcBef>
                <a:spcPts val="0"/>
              </a:spcBef>
              <a:spcAft>
                <a:spcPts val="0"/>
              </a:spcAft>
              <a:buNone/>
            </a:pPr>
            <a:r>
              <a:rPr lang="en-US" sz="2400">
                <a:solidFill>
                  <a:srgbClr val="0C0C0C"/>
                </a:solidFill>
                <a:latin typeface="Gill Sans"/>
                <a:ea typeface="Gill Sans"/>
                <a:cs typeface="Gill Sans"/>
                <a:sym typeface="Gill Sans"/>
              </a:rPr>
              <a:t>Dept. of CCE, IIUC</a:t>
            </a:r>
            <a:endParaRPr sz="2400">
              <a:solidFill>
                <a:srgbClr val="0C0C0C"/>
              </a:solidFill>
              <a:latin typeface="Gill Sans"/>
              <a:ea typeface="Gill Sans"/>
              <a:cs typeface="Gill Sans"/>
              <a:sym typeface="Gill Sans"/>
            </a:endParaRPr>
          </a:p>
        </p:txBody>
      </p:sp>
      <p:sp>
        <p:nvSpPr>
          <p:cNvPr id="102" name="Google Shape;102;p1"/>
          <p:cNvSpPr txBox="1"/>
          <p:nvPr/>
        </p:nvSpPr>
        <p:spPr>
          <a:xfrm>
            <a:off x="1953887" y="1270347"/>
            <a:ext cx="876953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2060"/>
                </a:solidFill>
                <a:latin typeface="Gill Sans"/>
                <a:ea typeface="Gill Sans"/>
                <a:cs typeface="Gill Sans"/>
                <a:sym typeface="Gill Sans"/>
              </a:rPr>
              <a:t>Department of Computer and Communication Engineering</a:t>
            </a:r>
            <a:endParaRPr sz="2800">
              <a:solidFill>
                <a:srgbClr val="002060"/>
              </a:solidFill>
              <a:latin typeface="Gill Sans"/>
              <a:ea typeface="Gill Sans"/>
              <a:cs typeface="Gill Sans"/>
              <a:sym typeface="Gill Sans"/>
            </a:endParaRPr>
          </a:p>
        </p:txBody>
      </p:sp>
      <p:sp>
        <p:nvSpPr>
          <p:cNvPr id="103" name="Google Shape;103;p1"/>
          <p:cNvSpPr txBox="1"/>
          <p:nvPr/>
        </p:nvSpPr>
        <p:spPr>
          <a:xfrm>
            <a:off x="1953887" y="2293450"/>
            <a:ext cx="8769531"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2060"/>
                </a:solidFill>
                <a:latin typeface="Gill Sans"/>
                <a:ea typeface="Gill Sans"/>
                <a:cs typeface="Gill Sans"/>
                <a:sym typeface="Gill Sans"/>
              </a:rPr>
              <a:t>Course Code: CCE-3507</a:t>
            </a:r>
            <a:endParaRPr/>
          </a:p>
          <a:p>
            <a:pPr indent="0" lvl="0" marL="0" marR="0" rtl="0" algn="l">
              <a:spcBef>
                <a:spcPts val="0"/>
              </a:spcBef>
              <a:spcAft>
                <a:spcPts val="0"/>
              </a:spcAft>
              <a:buNone/>
            </a:pPr>
            <a:r>
              <a:rPr lang="en-US" sz="2800">
                <a:solidFill>
                  <a:srgbClr val="002060"/>
                </a:solidFill>
                <a:latin typeface="Gill Sans"/>
                <a:ea typeface="Gill Sans"/>
                <a:cs typeface="Gill Sans"/>
                <a:sym typeface="Gill Sans"/>
              </a:rPr>
              <a:t>Course Title: System Analysis, Design and Development</a:t>
            </a:r>
            <a:endParaRPr sz="2800">
              <a:solidFill>
                <a:srgbClr val="002060"/>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idx="1" type="body"/>
          </p:nvPr>
        </p:nvSpPr>
        <p:spPr>
          <a:xfrm>
            <a:off x="1294363" y="1718849"/>
            <a:ext cx="4322666"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latin typeface="Times New Roman"/>
                <a:ea typeface="Times New Roman"/>
                <a:cs typeface="Times New Roman"/>
                <a:sym typeface="Times New Roman"/>
              </a:rPr>
              <a:t>Credit Hour: 2</a:t>
            </a:r>
            <a:endParaRPr/>
          </a:p>
          <a:p>
            <a:pPr indent="-228600" lvl="0" marL="228600" rtl="0" algn="l">
              <a:lnSpc>
                <a:spcPct val="120000"/>
              </a:lnSpc>
              <a:spcBef>
                <a:spcPts val="1000"/>
              </a:spcBef>
              <a:spcAft>
                <a:spcPts val="0"/>
              </a:spcAft>
              <a:buSzPts val="2000"/>
              <a:buChar char="•"/>
            </a:pPr>
            <a:r>
              <a:rPr lang="en-US">
                <a:latin typeface="Times New Roman"/>
                <a:ea typeface="Times New Roman"/>
                <a:cs typeface="Times New Roman"/>
                <a:sym typeface="Times New Roman"/>
              </a:rPr>
              <a:t>Contact Hour: 2 period/week</a:t>
            </a:r>
            <a:endParaRPr/>
          </a:p>
          <a:p>
            <a:pPr indent="-228600" lvl="0" marL="228600" rtl="0" algn="l">
              <a:lnSpc>
                <a:spcPct val="120000"/>
              </a:lnSpc>
              <a:spcBef>
                <a:spcPts val="1000"/>
              </a:spcBef>
              <a:spcAft>
                <a:spcPts val="0"/>
              </a:spcAft>
              <a:buSzPts val="2000"/>
              <a:buChar char="•"/>
            </a:pPr>
            <a:r>
              <a:rPr lang="en-US">
                <a:latin typeface="Times New Roman"/>
                <a:ea typeface="Times New Roman"/>
                <a:cs typeface="Times New Roman"/>
                <a:sym typeface="Times New Roman"/>
              </a:rPr>
              <a:t>Mid: 30 marks</a:t>
            </a:r>
            <a:endParaRPr/>
          </a:p>
          <a:p>
            <a:pPr indent="-228600" lvl="0" marL="228600" rtl="0" algn="l">
              <a:lnSpc>
                <a:spcPct val="120000"/>
              </a:lnSpc>
              <a:spcBef>
                <a:spcPts val="1000"/>
              </a:spcBef>
              <a:spcAft>
                <a:spcPts val="0"/>
              </a:spcAft>
              <a:buSzPts val="2000"/>
              <a:buChar char="•"/>
            </a:pPr>
            <a:r>
              <a:rPr lang="en-US">
                <a:latin typeface="Times New Roman"/>
                <a:ea typeface="Times New Roman"/>
                <a:cs typeface="Times New Roman"/>
                <a:sym typeface="Times New Roman"/>
              </a:rPr>
              <a:t>Final: 50 marks</a:t>
            </a:r>
            <a:endParaRPr/>
          </a:p>
          <a:p>
            <a:pPr indent="-228600" lvl="0" marL="228600" rtl="0" algn="l">
              <a:lnSpc>
                <a:spcPct val="120000"/>
              </a:lnSpc>
              <a:spcBef>
                <a:spcPts val="1000"/>
              </a:spcBef>
              <a:spcAft>
                <a:spcPts val="0"/>
              </a:spcAft>
              <a:buSzPts val="2000"/>
              <a:buChar char="•"/>
            </a:pPr>
            <a:r>
              <a:rPr lang="en-US">
                <a:latin typeface="Times New Roman"/>
                <a:ea typeface="Times New Roman"/>
                <a:cs typeface="Times New Roman"/>
                <a:sym typeface="Times New Roman"/>
              </a:rPr>
              <a:t>Assignment: 10 marks</a:t>
            </a:r>
            <a:endParaRPr/>
          </a:p>
          <a:p>
            <a:pPr indent="-228600" lvl="0" marL="228600" rtl="0" algn="l">
              <a:lnSpc>
                <a:spcPct val="120000"/>
              </a:lnSpc>
              <a:spcBef>
                <a:spcPts val="1000"/>
              </a:spcBef>
              <a:spcAft>
                <a:spcPts val="0"/>
              </a:spcAft>
              <a:buSzPts val="2000"/>
              <a:buChar char="•"/>
            </a:pPr>
            <a:r>
              <a:rPr lang="en-US">
                <a:latin typeface="Times New Roman"/>
                <a:ea typeface="Times New Roman"/>
                <a:cs typeface="Times New Roman"/>
                <a:sym typeface="Times New Roman"/>
              </a:rPr>
              <a:t>Attendance: 10 marks</a:t>
            </a:r>
            <a:endParaRPr/>
          </a:p>
          <a:p>
            <a:pPr indent="-101600" lvl="0" marL="228600" rtl="0" algn="l">
              <a:lnSpc>
                <a:spcPct val="120000"/>
              </a:lnSpc>
              <a:spcBef>
                <a:spcPts val="1000"/>
              </a:spcBef>
              <a:spcAft>
                <a:spcPts val="0"/>
              </a:spcAft>
              <a:buSzPts val="2000"/>
              <a:buNone/>
            </a:pPr>
            <a:r>
              <a:t/>
            </a:r>
            <a:endParaRPr>
              <a:latin typeface="Times New Roman"/>
              <a:ea typeface="Times New Roman"/>
              <a:cs typeface="Times New Roman"/>
              <a:sym typeface="Times New Roman"/>
            </a:endParaRPr>
          </a:p>
        </p:txBody>
      </p:sp>
      <p:sp>
        <p:nvSpPr>
          <p:cNvPr id="109" name="Google Shape;109;p2"/>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COURSE OVERVIEW</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45000"/>
          </a:blip>
          <a:stretch>
            <a:fillRect/>
          </a:stretch>
        </a:blipFill>
      </p:bgPr>
    </p:bg>
    <p:spTree>
      <p:nvGrpSpPr>
        <p:cNvPr id="113" name="Shape 113"/>
        <p:cNvGrpSpPr/>
        <p:nvPr/>
      </p:nvGrpSpPr>
      <p:grpSpPr>
        <a:xfrm>
          <a:off x="0" y="0"/>
          <a:ext cx="0" cy="0"/>
          <a:chOff x="0" y="0"/>
          <a:chExt cx="0" cy="0"/>
        </a:xfrm>
      </p:grpSpPr>
      <p:sp>
        <p:nvSpPr>
          <p:cNvPr id="114" name="Google Shape;114;p3"/>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SYSTEM</a:t>
            </a:r>
            <a:endParaRPr>
              <a:latin typeface="Times New Roman"/>
              <a:ea typeface="Times New Roman"/>
              <a:cs typeface="Times New Roman"/>
              <a:sym typeface="Times New Roman"/>
            </a:endParaRPr>
          </a:p>
        </p:txBody>
      </p:sp>
      <p:sp>
        <p:nvSpPr>
          <p:cNvPr id="115" name="Google Shape;115;p3"/>
          <p:cNvSpPr txBox="1"/>
          <p:nvPr>
            <p:ph idx="1" type="body"/>
          </p:nvPr>
        </p:nvSpPr>
        <p:spPr>
          <a:xfrm>
            <a:off x="1294363" y="1754475"/>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solidFill>
                  <a:srgbClr val="000000"/>
                </a:solidFill>
                <a:latin typeface="Times New Roman"/>
                <a:ea typeface="Times New Roman"/>
                <a:cs typeface="Times New Roman"/>
                <a:sym typeface="Times New Roman"/>
              </a:rPr>
              <a:t>What is a system?</a:t>
            </a:r>
            <a:endParaRPr/>
          </a:p>
          <a:p>
            <a:pPr indent="-228600" lvl="0" marL="228600" rtl="0" algn="l">
              <a:lnSpc>
                <a:spcPct val="120000"/>
              </a:lnSpc>
              <a:spcBef>
                <a:spcPts val="1000"/>
              </a:spcBef>
              <a:spcAft>
                <a:spcPts val="0"/>
              </a:spcAft>
              <a:buSzPts val="2000"/>
              <a:buChar char="•"/>
            </a:pPr>
            <a:r>
              <a:rPr lang="en-US">
                <a:latin typeface="Times New Roman"/>
                <a:ea typeface="Times New Roman"/>
                <a:cs typeface="Times New Roman"/>
                <a:sym typeface="Times New Roman"/>
              </a:rPr>
              <a:t>A system is an orderly grouping of interdependent components linked together according to a plan to achieve a specific goal.</a:t>
            </a:r>
            <a:r>
              <a:rPr lang="en-US">
                <a:solidFill>
                  <a:srgbClr val="000000"/>
                </a:solidFill>
                <a:latin typeface="Times New Roman"/>
                <a:ea typeface="Times New Roman"/>
                <a:cs typeface="Times New Roman"/>
                <a:sym typeface="Times New Roman"/>
              </a:rPr>
              <a:t> </a:t>
            </a:r>
            <a:endParaRPr/>
          </a:p>
        </p:txBody>
      </p:sp>
      <p:pic>
        <p:nvPicPr>
          <p:cNvPr descr="System Elements" id="116" name="Google Shape;116;p3"/>
          <p:cNvPicPr preferRelativeResize="0"/>
          <p:nvPr/>
        </p:nvPicPr>
        <p:blipFill rotWithShape="1">
          <a:blip r:embed="rId4">
            <a:alphaModFix/>
          </a:blip>
          <a:srcRect b="0" l="0" r="0" t="0"/>
          <a:stretch/>
        </p:blipFill>
        <p:spPr>
          <a:xfrm>
            <a:off x="3021330" y="3050264"/>
            <a:ext cx="5715000" cy="29622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SYSTEM ANALYSIS AND DESIGN</a:t>
            </a:r>
            <a:endParaRPr/>
          </a:p>
        </p:txBody>
      </p:sp>
      <p:sp>
        <p:nvSpPr>
          <p:cNvPr id="122" name="Google Shape;122;p4"/>
          <p:cNvSpPr txBox="1"/>
          <p:nvPr>
            <p:ph idx="1" type="body"/>
          </p:nvPr>
        </p:nvSpPr>
        <p:spPr>
          <a:xfrm>
            <a:off x="1294362" y="1572386"/>
            <a:ext cx="9603275" cy="3450613"/>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SzPts val="2400"/>
              <a:buChar char="•"/>
            </a:pPr>
            <a:r>
              <a:rPr b="1" lang="en-US" sz="2400">
                <a:latin typeface="Times New Roman"/>
                <a:ea typeface="Times New Roman"/>
                <a:cs typeface="Times New Roman"/>
                <a:sym typeface="Times New Roman"/>
              </a:rPr>
              <a:t>System Analysis </a:t>
            </a:r>
            <a:r>
              <a:rPr lang="en-US" sz="2400">
                <a:latin typeface="Times New Roman"/>
                <a:ea typeface="Times New Roman"/>
                <a:cs typeface="Times New Roman"/>
                <a:sym typeface="Times New Roman"/>
              </a:rPr>
              <a:t>is a process of collecting and interpreting facts, identifying the problems, and decomposition of a system into its components.</a:t>
            </a:r>
            <a:endParaRPr/>
          </a:p>
          <a:p>
            <a:pPr indent="-228600" lvl="0" marL="228600" rtl="0" algn="l">
              <a:lnSpc>
                <a:spcPct val="120000"/>
              </a:lnSpc>
              <a:spcBef>
                <a:spcPts val="1000"/>
              </a:spcBef>
              <a:spcAft>
                <a:spcPts val="0"/>
              </a:spcAft>
              <a:buSzPts val="2400"/>
              <a:buChar char="•"/>
            </a:pPr>
            <a:r>
              <a:rPr b="1" lang="en-US" sz="2400">
                <a:latin typeface="Times New Roman"/>
                <a:ea typeface="Times New Roman"/>
                <a:cs typeface="Times New Roman"/>
                <a:sym typeface="Times New Roman"/>
              </a:rPr>
              <a:t>System Design </a:t>
            </a:r>
            <a:r>
              <a:rPr lang="en-US" sz="2400">
                <a:latin typeface="Times New Roman"/>
                <a:ea typeface="Times New Roman"/>
                <a:cs typeface="Times New Roman"/>
                <a:sym typeface="Times New Roman"/>
              </a:rPr>
              <a:t>is a process of planning a new business system or replacing an existing system by defining its components or modules to satisfy the specific requirements.</a:t>
            </a:r>
            <a:endParaRPr/>
          </a:p>
          <a:p>
            <a:pPr indent="-228600" lvl="0" marL="228600" rtl="0" algn="l">
              <a:lnSpc>
                <a:spcPct val="120000"/>
              </a:lnSpc>
              <a:spcBef>
                <a:spcPts val="1000"/>
              </a:spcBef>
              <a:spcAft>
                <a:spcPts val="0"/>
              </a:spcAft>
              <a:buSzPts val="2400"/>
              <a:buChar char="•"/>
            </a:pPr>
            <a:r>
              <a:rPr lang="en-US" sz="2400">
                <a:latin typeface="Times New Roman"/>
                <a:ea typeface="Times New Roman"/>
                <a:cs typeface="Times New Roman"/>
                <a:sym typeface="Times New Roman"/>
              </a:rPr>
              <a:t>Analysis specifies </a:t>
            </a:r>
            <a:r>
              <a:rPr b="1" lang="en-US" sz="2400">
                <a:latin typeface="Times New Roman"/>
                <a:ea typeface="Times New Roman"/>
                <a:cs typeface="Times New Roman"/>
                <a:sym typeface="Times New Roman"/>
              </a:rPr>
              <a:t>what the system should do</a:t>
            </a:r>
            <a:r>
              <a:rPr lang="en-US" sz="2400">
                <a:latin typeface="Times New Roman"/>
                <a:ea typeface="Times New Roman"/>
                <a:cs typeface="Times New Roman"/>
                <a:sym typeface="Times New Roman"/>
              </a:rPr>
              <a:t>.</a:t>
            </a:r>
            <a:endParaRPr/>
          </a:p>
          <a:p>
            <a:pPr indent="-228600" lvl="0" marL="228600" rtl="0" algn="l">
              <a:lnSpc>
                <a:spcPct val="120000"/>
              </a:lnSpc>
              <a:spcBef>
                <a:spcPts val="1000"/>
              </a:spcBef>
              <a:spcAft>
                <a:spcPts val="0"/>
              </a:spcAft>
              <a:buSzPts val="2400"/>
              <a:buChar char="•"/>
            </a:pPr>
            <a:r>
              <a:rPr lang="en-US" sz="2400">
                <a:latin typeface="Times New Roman"/>
                <a:ea typeface="Times New Roman"/>
                <a:cs typeface="Times New Roman"/>
                <a:sym typeface="Times New Roman"/>
              </a:rPr>
              <a:t>System Design focuses on </a:t>
            </a:r>
            <a:r>
              <a:rPr b="1" lang="en-US" sz="2400">
                <a:latin typeface="Times New Roman"/>
                <a:ea typeface="Times New Roman"/>
                <a:cs typeface="Times New Roman"/>
                <a:sym typeface="Times New Roman"/>
              </a:rPr>
              <a:t>how to accomplish the objective of the system</a:t>
            </a:r>
            <a:r>
              <a:rPr lang="en-US" sz="2400">
                <a:latin typeface="Times New Roman"/>
                <a:ea typeface="Times New Roman"/>
                <a:cs typeface="Times New Roman"/>
                <a:sym typeface="Times New Roman"/>
              </a:rPr>
              <a:t>.</a:t>
            </a:r>
            <a:endParaRPr/>
          </a:p>
          <a:p>
            <a:pPr indent="-228600" lvl="0" marL="228600" rtl="0" algn="l">
              <a:lnSpc>
                <a:spcPct val="120000"/>
              </a:lnSpc>
              <a:spcBef>
                <a:spcPts val="1000"/>
              </a:spcBef>
              <a:spcAft>
                <a:spcPts val="0"/>
              </a:spcAft>
              <a:buSzPts val="2400"/>
              <a:buChar char="•"/>
            </a:pPr>
            <a:br>
              <a:rPr lang="en-US" sz="2400">
                <a:latin typeface="Times New Roman"/>
                <a:ea typeface="Times New Roman"/>
                <a:cs typeface="Times New Roman"/>
                <a:sym typeface="Times New Roman"/>
              </a:rPr>
            </a:br>
            <a:endParaRPr sz="2400">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1294362" y="645863"/>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COMPONENTS OF A SYSTEM</a:t>
            </a:r>
            <a:endParaRPr>
              <a:latin typeface="Times New Roman"/>
              <a:ea typeface="Times New Roman"/>
              <a:cs typeface="Times New Roman"/>
              <a:sym typeface="Times New Roman"/>
            </a:endParaRPr>
          </a:p>
        </p:txBody>
      </p:sp>
      <p:grpSp>
        <p:nvGrpSpPr>
          <p:cNvPr id="128" name="Google Shape;128;p5"/>
          <p:cNvGrpSpPr/>
          <p:nvPr/>
        </p:nvGrpSpPr>
        <p:grpSpPr>
          <a:xfrm>
            <a:off x="1295097" y="1695097"/>
            <a:ext cx="9601807" cy="3450613"/>
            <a:chOff x="734" y="-1"/>
            <a:chExt cx="9601807" cy="3450613"/>
          </a:xfrm>
        </p:grpSpPr>
        <p:sp>
          <p:nvSpPr>
            <p:cNvPr id="129" name="Google Shape;129;p5"/>
            <p:cNvSpPr/>
            <p:nvPr/>
          </p:nvSpPr>
          <p:spPr>
            <a:xfrm rot="-5400000">
              <a:off x="-1076598" y="1077331"/>
              <a:ext cx="3450613" cy="1295949"/>
            </a:xfrm>
            <a:prstGeom prst="flowChartManualOperation">
              <a:avLst/>
            </a:prstGeom>
            <a:solidFill>
              <a:srgbClr val="B71B42"/>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txBox="1"/>
            <p:nvPr/>
          </p:nvSpPr>
          <p:spPr>
            <a:xfrm>
              <a:off x="734" y="690122"/>
              <a:ext cx="1295949" cy="2070367"/>
            </a:xfrm>
            <a:prstGeom prst="rect">
              <a:avLst/>
            </a:prstGeom>
            <a:noFill/>
            <a:ln>
              <a:noFill/>
            </a:ln>
          </p:spPr>
          <p:txBody>
            <a:bodyPr anchorCtr="0" anchor="ctr" bIns="0" lIns="101600" spcFirstLastPara="1" rIns="103175" wrap="square" tIns="0">
              <a:noAutofit/>
            </a:bodyPr>
            <a:lstStyle/>
            <a:p>
              <a:pPr indent="0" lvl="0" marL="0" marR="0" rtl="0" algn="ctr">
                <a:lnSpc>
                  <a:spcPct val="90000"/>
                </a:lnSpc>
                <a:spcBef>
                  <a:spcPts val="0"/>
                </a:spcBef>
                <a:spcAft>
                  <a:spcPts val="0"/>
                </a:spcAft>
                <a:buNone/>
              </a:pPr>
              <a:r>
                <a:rPr lang="en-US" sz="1600">
                  <a:solidFill>
                    <a:schemeClr val="lt1"/>
                  </a:solidFill>
                  <a:latin typeface="Gill Sans"/>
                  <a:ea typeface="Gill Sans"/>
                  <a:cs typeface="Gill Sans"/>
                  <a:sym typeface="Gill Sans"/>
                </a:rPr>
                <a:t>Boundary</a:t>
              </a:r>
              <a:endParaRPr sz="1600">
                <a:solidFill>
                  <a:schemeClr val="lt1"/>
                </a:solidFill>
                <a:latin typeface="Gill Sans"/>
                <a:ea typeface="Gill Sans"/>
                <a:cs typeface="Gill Sans"/>
                <a:sym typeface="Gill Sans"/>
              </a:endParaRPr>
            </a:p>
          </p:txBody>
        </p:sp>
        <p:sp>
          <p:nvSpPr>
            <p:cNvPr id="131" name="Google Shape;131;p5"/>
            <p:cNvSpPr/>
            <p:nvPr/>
          </p:nvSpPr>
          <p:spPr>
            <a:xfrm rot="-5400000">
              <a:off x="307711" y="1077331"/>
              <a:ext cx="3450613" cy="1295949"/>
            </a:xfrm>
            <a:prstGeom prst="flowChartManualOperation">
              <a:avLst/>
            </a:prstGeom>
            <a:solidFill>
              <a:srgbClr val="B71B42"/>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txBox="1"/>
            <p:nvPr/>
          </p:nvSpPr>
          <p:spPr>
            <a:xfrm>
              <a:off x="1385043" y="690122"/>
              <a:ext cx="1295949" cy="2070367"/>
            </a:xfrm>
            <a:prstGeom prst="rect">
              <a:avLst/>
            </a:prstGeom>
            <a:noFill/>
            <a:ln>
              <a:noFill/>
            </a:ln>
          </p:spPr>
          <p:txBody>
            <a:bodyPr anchorCtr="0" anchor="ctr" bIns="0" lIns="101600" spcFirstLastPara="1" rIns="103175" wrap="square" tIns="0">
              <a:noAutofit/>
            </a:bodyPr>
            <a:lstStyle/>
            <a:p>
              <a:pPr indent="0" lvl="0" marL="0" marR="0" rtl="0" algn="ctr">
                <a:lnSpc>
                  <a:spcPct val="90000"/>
                </a:lnSpc>
                <a:spcBef>
                  <a:spcPts val="0"/>
                </a:spcBef>
                <a:spcAft>
                  <a:spcPts val="0"/>
                </a:spcAft>
                <a:buNone/>
              </a:pPr>
              <a:r>
                <a:rPr lang="en-US" sz="1600">
                  <a:solidFill>
                    <a:schemeClr val="lt1"/>
                  </a:solidFill>
                  <a:latin typeface="Gill Sans"/>
                  <a:ea typeface="Gill Sans"/>
                  <a:cs typeface="Gill Sans"/>
                  <a:sym typeface="Gill Sans"/>
                </a:rPr>
                <a:t>Purpose</a:t>
              </a:r>
              <a:endParaRPr sz="1600">
                <a:solidFill>
                  <a:schemeClr val="lt1"/>
                </a:solidFill>
                <a:latin typeface="Gill Sans"/>
                <a:ea typeface="Gill Sans"/>
                <a:cs typeface="Gill Sans"/>
                <a:sym typeface="Gill Sans"/>
              </a:endParaRPr>
            </a:p>
          </p:txBody>
        </p:sp>
        <p:sp>
          <p:nvSpPr>
            <p:cNvPr id="133" name="Google Shape;133;p5"/>
            <p:cNvSpPr/>
            <p:nvPr/>
          </p:nvSpPr>
          <p:spPr>
            <a:xfrm rot="-5400000">
              <a:off x="1692021" y="1077331"/>
              <a:ext cx="3450613" cy="1295949"/>
            </a:xfrm>
            <a:prstGeom prst="flowChartManualOperation">
              <a:avLst/>
            </a:prstGeom>
            <a:solidFill>
              <a:srgbClr val="B71B42"/>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txBox="1"/>
            <p:nvPr/>
          </p:nvSpPr>
          <p:spPr>
            <a:xfrm>
              <a:off x="2769353" y="690122"/>
              <a:ext cx="1295949" cy="2070367"/>
            </a:xfrm>
            <a:prstGeom prst="rect">
              <a:avLst/>
            </a:prstGeom>
            <a:noFill/>
            <a:ln>
              <a:noFill/>
            </a:ln>
          </p:spPr>
          <p:txBody>
            <a:bodyPr anchorCtr="0" anchor="ctr" bIns="0" lIns="101600" spcFirstLastPara="1" rIns="103175" wrap="square" tIns="0">
              <a:noAutofit/>
            </a:bodyPr>
            <a:lstStyle/>
            <a:p>
              <a:pPr indent="0" lvl="0" marL="0" marR="0" rtl="0" algn="ctr">
                <a:lnSpc>
                  <a:spcPct val="90000"/>
                </a:lnSpc>
                <a:spcBef>
                  <a:spcPts val="0"/>
                </a:spcBef>
                <a:spcAft>
                  <a:spcPts val="0"/>
                </a:spcAft>
                <a:buNone/>
              </a:pPr>
              <a:r>
                <a:rPr lang="en-US" sz="1600">
                  <a:solidFill>
                    <a:schemeClr val="lt1"/>
                  </a:solidFill>
                  <a:latin typeface="Gill Sans"/>
                  <a:ea typeface="Gill Sans"/>
                  <a:cs typeface="Gill Sans"/>
                  <a:sym typeface="Gill Sans"/>
                </a:rPr>
                <a:t>Environment</a:t>
              </a:r>
              <a:endParaRPr sz="1600">
                <a:solidFill>
                  <a:schemeClr val="lt1"/>
                </a:solidFill>
                <a:latin typeface="Gill Sans"/>
                <a:ea typeface="Gill Sans"/>
                <a:cs typeface="Gill Sans"/>
                <a:sym typeface="Gill Sans"/>
              </a:endParaRPr>
            </a:p>
          </p:txBody>
        </p:sp>
        <p:sp>
          <p:nvSpPr>
            <p:cNvPr id="135" name="Google Shape;135;p5"/>
            <p:cNvSpPr/>
            <p:nvPr/>
          </p:nvSpPr>
          <p:spPr>
            <a:xfrm rot="-5400000">
              <a:off x="3076331" y="1077331"/>
              <a:ext cx="3450613" cy="1295949"/>
            </a:xfrm>
            <a:prstGeom prst="flowChartManualOperation">
              <a:avLst/>
            </a:prstGeom>
            <a:solidFill>
              <a:srgbClr val="B71B42"/>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txBox="1"/>
            <p:nvPr/>
          </p:nvSpPr>
          <p:spPr>
            <a:xfrm>
              <a:off x="4153663" y="690122"/>
              <a:ext cx="1295949" cy="2070367"/>
            </a:xfrm>
            <a:prstGeom prst="rect">
              <a:avLst/>
            </a:prstGeom>
            <a:noFill/>
            <a:ln>
              <a:noFill/>
            </a:ln>
          </p:spPr>
          <p:txBody>
            <a:bodyPr anchorCtr="0" anchor="ctr" bIns="0" lIns="101600" spcFirstLastPara="1" rIns="103175" wrap="square" tIns="0">
              <a:noAutofit/>
            </a:bodyPr>
            <a:lstStyle/>
            <a:p>
              <a:pPr indent="0" lvl="0" marL="0" marR="0" rtl="0" algn="ctr">
                <a:lnSpc>
                  <a:spcPct val="90000"/>
                </a:lnSpc>
                <a:spcBef>
                  <a:spcPts val="0"/>
                </a:spcBef>
                <a:spcAft>
                  <a:spcPts val="0"/>
                </a:spcAft>
                <a:buNone/>
              </a:pPr>
              <a:r>
                <a:rPr lang="en-US" sz="1600">
                  <a:solidFill>
                    <a:schemeClr val="lt1"/>
                  </a:solidFill>
                  <a:latin typeface="Gill Sans"/>
                  <a:ea typeface="Gill Sans"/>
                  <a:cs typeface="Gill Sans"/>
                  <a:sym typeface="Gill Sans"/>
                </a:rPr>
                <a:t>Interface</a:t>
              </a:r>
              <a:endParaRPr sz="1600">
                <a:solidFill>
                  <a:schemeClr val="lt1"/>
                </a:solidFill>
                <a:latin typeface="Gill Sans"/>
                <a:ea typeface="Gill Sans"/>
                <a:cs typeface="Gill Sans"/>
                <a:sym typeface="Gill Sans"/>
              </a:endParaRPr>
            </a:p>
          </p:txBody>
        </p:sp>
        <p:sp>
          <p:nvSpPr>
            <p:cNvPr id="137" name="Google Shape;137;p5"/>
            <p:cNvSpPr/>
            <p:nvPr/>
          </p:nvSpPr>
          <p:spPr>
            <a:xfrm rot="-5400000">
              <a:off x="4460640" y="1077331"/>
              <a:ext cx="3450613" cy="1295949"/>
            </a:xfrm>
            <a:prstGeom prst="flowChartManualOperation">
              <a:avLst/>
            </a:prstGeom>
            <a:solidFill>
              <a:srgbClr val="B71B42"/>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txBox="1"/>
            <p:nvPr/>
          </p:nvSpPr>
          <p:spPr>
            <a:xfrm>
              <a:off x="5537972" y="690122"/>
              <a:ext cx="1295949" cy="2070367"/>
            </a:xfrm>
            <a:prstGeom prst="rect">
              <a:avLst/>
            </a:prstGeom>
            <a:noFill/>
            <a:ln>
              <a:noFill/>
            </a:ln>
          </p:spPr>
          <p:txBody>
            <a:bodyPr anchorCtr="0" anchor="ctr" bIns="0" lIns="101600" spcFirstLastPara="1" rIns="103175" wrap="square" tIns="0">
              <a:noAutofit/>
            </a:bodyPr>
            <a:lstStyle/>
            <a:p>
              <a:pPr indent="0" lvl="0" marL="0" marR="0" rtl="0" algn="ctr">
                <a:lnSpc>
                  <a:spcPct val="90000"/>
                </a:lnSpc>
                <a:spcBef>
                  <a:spcPts val="0"/>
                </a:spcBef>
                <a:spcAft>
                  <a:spcPts val="0"/>
                </a:spcAft>
                <a:buNone/>
              </a:pPr>
              <a:r>
                <a:rPr lang="en-US" sz="1600">
                  <a:solidFill>
                    <a:schemeClr val="lt1"/>
                  </a:solidFill>
                  <a:latin typeface="Gill Sans"/>
                  <a:ea typeface="Gill Sans"/>
                  <a:cs typeface="Gill Sans"/>
                  <a:sym typeface="Gill Sans"/>
                </a:rPr>
                <a:t>Constraints</a:t>
              </a:r>
              <a:endParaRPr sz="1600">
                <a:solidFill>
                  <a:schemeClr val="lt1"/>
                </a:solidFill>
                <a:latin typeface="Gill Sans"/>
                <a:ea typeface="Gill Sans"/>
                <a:cs typeface="Gill Sans"/>
                <a:sym typeface="Gill Sans"/>
              </a:endParaRPr>
            </a:p>
          </p:txBody>
        </p:sp>
        <p:sp>
          <p:nvSpPr>
            <p:cNvPr id="139" name="Google Shape;139;p5"/>
            <p:cNvSpPr/>
            <p:nvPr/>
          </p:nvSpPr>
          <p:spPr>
            <a:xfrm rot="-5400000">
              <a:off x="5844950" y="1077331"/>
              <a:ext cx="3450613" cy="1295949"/>
            </a:xfrm>
            <a:prstGeom prst="flowChartManualOperation">
              <a:avLst/>
            </a:prstGeom>
            <a:solidFill>
              <a:srgbClr val="B71B42"/>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txBox="1"/>
            <p:nvPr/>
          </p:nvSpPr>
          <p:spPr>
            <a:xfrm>
              <a:off x="6922282" y="690122"/>
              <a:ext cx="1295949" cy="2070367"/>
            </a:xfrm>
            <a:prstGeom prst="rect">
              <a:avLst/>
            </a:prstGeom>
            <a:noFill/>
            <a:ln>
              <a:noFill/>
            </a:ln>
          </p:spPr>
          <p:txBody>
            <a:bodyPr anchorCtr="0" anchor="ctr" bIns="0" lIns="101600" spcFirstLastPara="1" rIns="103175" wrap="square" tIns="0">
              <a:noAutofit/>
            </a:bodyPr>
            <a:lstStyle/>
            <a:p>
              <a:pPr indent="0" lvl="0" marL="0" marR="0" rtl="0" algn="ctr">
                <a:lnSpc>
                  <a:spcPct val="90000"/>
                </a:lnSpc>
                <a:spcBef>
                  <a:spcPts val="0"/>
                </a:spcBef>
                <a:spcAft>
                  <a:spcPts val="0"/>
                </a:spcAft>
                <a:buNone/>
              </a:pPr>
              <a:r>
                <a:rPr lang="en-US" sz="1600">
                  <a:solidFill>
                    <a:schemeClr val="lt1"/>
                  </a:solidFill>
                  <a:latin typeface="Gill Sans"/>
                  <a:ea typeface="Gill Sans"/>
                  <a:cs typeface="Gill Sans"/>
                  <a:sym typeface="Gill Sans"/>
                </a:rPr>
                <a:t>Output</a:t>
              </a:r>
              <a:endParaRPr sz="1600">
                <a:solidFill>
                  <a:schemeClr val="lt1"/>
                </a:solidFill>
                <a:latin typeface="Gill Sans"/>
                <a:ea typeface="Gill Sans"/>
                <a:cs typeface="Gill Sans"/>
                <a:sym typeface="Gill Sans"/>
              </a:endParaRPr>
            </a:p>
          </p:txBody>
        </p:sp>
        <p:sp>
          <p:nvSpPr>
            <p:cNvPr id="141" name="Google Shape;141;p5"/>
            <p:cNvSpPr/>
            <p:nvPr/>
          </p:nvSpPr>
          <p:spPr>
            <a:xfrm rot="-5400000">
              <a:off x="7229260" y="1077331"/>
              <a:ext cx="3450613" cy="1295949"/>
            </a:xfrm>
            <a:prstGeom prst="flowChartManualOperation">
              <a:avLst/>
            </a:prstGeom>
            <a:solidFill>
              <a:srgbClr val="B71B42"/>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txBox="1"/>
            <p:nvPr/>
          </p:nvSpPr>
          <p:spPr>
            <a:xfrm>
              <a:off x="8306592" y="690122"/>
              <a:ext cx="1295949" cy="2070367"/>
            </a:xfrm>
            <a:prstGeom prst="rect">
              <a:avLst/>
            </a:prstGeom>
            <a:noFill/>
            <a:ln>
              <a:noFill/>
            </a:ln>
          </p:spPr>
          <p:txBody>
            <a:bodyPr anchorCtr="0" anchor="ctr" bIns="0" lIns="101600" spcFirstLastPara="1" rIns="103175" wrap="square" tIns="0">
              <a:noAutofit/>
            </a:bodyPr>
            <a:lstStyle/>
            <a:p>
              <a:pPr indent="0" lvl="0" marL="0" marR="0" rtl="0" algn="ctr">
                <a:lnSpc>
                  <a:spcPct val="90000"/>
                </a:lnSpc>
                <a:spcBef>
                  <a:spcPts val="0"/>
                </a:spcBef>
                <a:spcAft>
                  <a:spcPts val="0"/>
                </a:spcAft>
                <a:buNone/>
              </a:pPr>
              <a:r>
                <a:rPr lang="en-US" sz="1600">
                  <a:solidFill>
                    <a:schemeClr val="lt1"/>
                  </a:solidFill>
                  <a:latin typeface="Gill Sans"/>
                  <a:ea typeface="Gill Sans"/>
                  <a:cs typeface="Gill Sans"/>
                  <a:sym typeface="Gill Sans"/>
                </a:rPr>
                <a:t>Input</a:t>
              </a:r>
              <a:endParaRPr sz="1600">
                <a:solidFill>
                  <a:schemeClr val="lt1"/>
                </a:solidFill>
                <a:latin typeface="Gill Sans"/>
                <a:ea typeface="Gill Sans"/>
                <a:cs typeface="Gill Sans"/>
                <a:sym typeface="Gill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type="title"/>
          </p:nvPr>
        </p:nvSpPr>
        <p:spPr>
          <a:xfrm>
            <a:off x="1415600" y="757411"/>
            <a:ext cx="9610182" cy="60122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INFORMATION</a:t>
            </a:r>
            <a:endParaRPr>
              <a:latin typeface="Times New Roman"/>
              <a:ea typeface="Times New Roman"/>
              <a:cs typeface="Times New Roman"/>
              <a:sym typeface="Times New Roman"/>
            </a:endParaRPr>
          </a:p>
        </p:txBody>
      </p:sp>
      <p:sp>
        <p:nvSpPr>
          <p:cNvPr id="148" name="Google Shape;148;p6"/>
          <p:cNvSpPr txBox="1"/>
          <p:nvPr>
            <p:ph idx="2" type="body"/>
          </p:nvPr>
        </p:nvSpPr>
        <p:spPr>
          <a:xfrm>
            <a:off x="1415600" y="1603959"/>
            <a:ext cx="4735818" cy="3836725"/>
          </a:xfrm>
          <a:prstGeom prst="rect">
            <a:avLst/>
          </a:prstGeom>
          <a:noFill/>
          <a:ln>
            <a:noFill/>
          </a:ln>
        </p:spPr>
        <p:txBody>
          <a:bodyPr anchorCtr="0" anchor="t" bIns="45700" lIns="91425" spcFirstLastPara="1" rIns="91425" wrap="square" tIns="45700">
            <a:normAutofit fontScale="92500"/>
          </a:bodyPr>
          <a:lstStyle/>
          <a:p>
            <a:pPr indent="-285750" lvl="0" marL="285750" rtl="0" algn="l">
              <a:lnSpc>
                <a:spcPct val="120000"/>
              </a:lnSpc>
              <a:spcBef>
                <a:spcPts val="0"/>
              </a:spcBef>
              <a:spcAft>
                <a:spcPts val="0"/>
              </a:spcAft>
              <a:buSzPct val="100000"/>
              <a:buFont typeface="Arial"/>
              <a:buChar char="•"/>
            </a:pPr>
            <a:r>
              <a:rPr b="1" lang="en-US" sz="1800">
                <a:latin typeface="Times New Roman"/>
                <a:ea typeface="Times New Roman"/>
                <a:cs typeface="Times New Roman"/>
                <a:sym typeface="Times New Roman"/>
              </a:rPr>
              <a:t>What is Information?</a:t>
            </a:r>
            <a:endParaRPr/>
          </a:p>
          <a:p>
            <a:pPr indent="0" lvl="0" marL="0" rtl="0" algn="l">
              <a:lnSpc>
                <a:spcPct val="120000"/>
              </a:lnSpc>
              <a:spcBef>
                <a:spcPts val="1000"/>
              </a:spcBef>
              <a:spcAft>
                <a:spcPts val="0"/>
              </a:spcAft>
              <a:buSzPct val="100000"/>
              <a:buNone/>
            </a:pPr>
            <a:r>
              <a:rPr lang="en-US" sz="1800">
                <a:latin typeface="Times New Roman"/>
                <a:ea typeface="Times New Roman"/>
                <a:cs typeface="Times New Roman"/>
                <a:sym typeface="Times New Roman"/>
              </a:rPr>
              <a:t>Data that has been </a:t>
            </a:r>
            <a:r>
              <a:rPr b="1" lang="en-US" sz="1800">
                <a:latin typeface="Times New Roman"/>
                <a:ea typeface="Times New Roman"/>
                <a:cs typeface="Times New Roman"/>
                <a:sym typeface="Times New Roman"/>
              </a:rPr>
              <a:t>processed</a:t>
            </a:r>
            <a:r>
              <a:rPr lang="en-US" sz="1800">
                <a:latin typeface="Times New Roman"/>
                <a:ea typeface="Times New Roman"/>
                <a:cs typeface="Times New Roman"/>
                <a:sym typeface="Times New Roman"/>
              </a:rPr>
              <a:t> and given meaning.</a:t>
            </a:r>
            <a:endParaRPr/>
          </a:p>
          <a:p>
            <a:pPr indent="0" lvl="0" marL="0" rtl="0" algn="l">
              <a:lnSpc>
                <a:spcPct val="120000"/>
              </a:lnSpc>
              <a:spcBef>
                <a:spcPts val="1000"/>
              </a:spcBef>
              <a:spcAft>
                <a:spcPts val="0"/>
              </a:spcAft>
              <a:buSzPct val="100000"/>
              <a:buNone/>
            </a:pPr>
            <a:r>
              <a:rPr lang="en-US" sz="1800">
                <a:latin typeface="Times New Roman"/>
                <a:ea typeface="Times New Roman"/>
                <a:cs typeface="Times New Roman"/>
                <a:sym typeface="Times New Roman"/>
              </a:rPr>
              <a:t>Helps in </a:t>
            </a:r>
            <a:r>
              <a:rPr b="1" lang="en-US" sz="1800">
                <a:latin typeface="Times New Roman"/>
                <a:ea typeface="Times New Roman"/>
                <a:cs typeface="Times New Roman"/>
                <a:sym typeface="Times New Roman"/>
              </a:rPr>
              <a:t>decision-making</a:t>
            </a:r>
            <a:r>
              <a:rPr lang="en-US" sz="1800">
                <a:latin typeface="Times New Roman"/>
                <a:ea typeface="Times New Roman"/>
                <a:cs typeface="Times New Roman"/>
                <a:sym typeface="Times New Roman"/>
              </a:rPr>
              <a:t> and </a:t>
            </a:r>
            <a:r>
              <a:rPr b="1" lang="en-US" sz="1800">
                <a:latin typeface="Times New Roman"/>
                <a:ea typeface="Times New Roman"/>
                <a:cs typeface="Times New Roman"/>
                <a:sym typeface="Times New Roman"/>
              </a:rPr>
              <a:t>problem-solving</a:t>
            </a:r>
            <a:r>
              <a:rPr lang="en-US" sz="1800">
                <a:latin typeface="Times New Roman"/>
                <a:ea typeface="Times New Roman"/>
                <a:cs typeface="Times New Roman"/>
                <a:sym typeface="Times New Roman"/>
              </a:rPr>
              <a:t>.</a:t>
            </a:r>
            <a:endParaRPr/>
          </a:p>
          <a:p>
            <a:pPr indent="0" lvl="0" marL="0" rtl="0" algn="l">
              <a:lnSpc>
                <a:spcPct val="120000"/>
              </a:lnSpc>
              <a:spcBef>
                <a:spcPts val="1000"/>
              </a:spcBef>
              <a:spcAft>
                <a:spcPts val="0"/>
              </a:spcAft>
              <a:buSzPct val="100000"/>
              <a:buNone/>
            </a:pPr>
            <a:r>
              <a:rPr lang="en-US" sz="1800">
                <a:latin typeface="Times New Roman"/>
                <a:ea typeface="Times New Roman"/>
                <a:cs typeface="Times New Roman"/>
                <a:sym typeface="Times New Roman"/>
              </a:rPr>
              <a:t>Example:</a:t>
            </a:r>
            <a:endParaRPr/>
          </a:p>
          <a:p>
            <a:pPr indent="0" lvl="1" marL="457200" rtl="0" algn="l">
              <a:lnSpc>
                <a:spcPct val="120000"/>
              </a:lnSpc>
              <a:spcBef>
                <a:spcPts val="500"/>
              </a:spcBef>
              <a:spcAft>
                <a:spcPts val="0"/>
              </a:spcAft>
              <a:buSzPct val="100000"/>
              <a:buNone/>
            </a:pPr>
            <a:r>
              <a:rPr lang="en-US" sz="1600">
                <a:latin typeface="Times New Roman"/>
                <a:ea typeface="Times New Roman"/>
                <a:cs typeface="Times New Roman"/>
                <a:sym typeface="Times New Roman"/>
              </a:rPr>
              <a:t>Data: “50, 60, 70”</a:t>
            </a:r>
            <a:endParaRPr/>
          </a:p>
          <a:p>
            <a:pPr indent="0" lvl="1" marL="457200" rtl="0" algn="l">
              <a:lnSpc>
                <a:spcPct val="120000"/>
              </a:lnSpc>
              <a:spcBef>
                <a:spcPts val="500"/>
              </a:spcBef>
              <a:spcAft>
                <a:spcPts val="0"/>
              </a:spcAft>
              <a:buSzPct val="100000"/>
              <a:buNone/>
            </a:pPr>
            <a:r>
              <a:rPr lang="en-US" sz="1600">
                <a:latin typeface="Times New Roman"/>
                <a:ea typeface="Times New Roman"/>
                <a:cs typeface="Times New Roman"/>
                <a:sym typeface="Times New Roman"/>
              </a:rPr>
              <a:t>Information: “Average student mark is 60.”</a:t>
            </a:r>
            <a:endParaRPr/>
          </a:p>
          <a:p>
            <a:pPr indent="0" lvl="1" marL="457200" rtl="0" algn="l">
              <a:lnSpc>
                <a:spcPct val="120000"/>
              </a:lnSpc>
              <a:spcBef>
                <a:spcPts val="500"/>
              </a:spcBef>
              <a:spcAft>
                <a:spcPts val="0"/>
              </a:spcAft>
              <a:buSzPct val="100000"/>
              <a:buNone/>
            </a:pPr>
            <a:r>
              <a:t/>
            </a:r>
            <a:endParaRPr sz="1600">
              <a:latin typeface="Times New Roman"/>
              <a:ea typeface="Times New Roman"/>
              <a:cs typeface="Times New Roman"/>
              <a:sym typeface="Times New Roman"/>
            </a:endParaRPr>
          </a:p>
          <a:p>
            <a:pPr indent="0" lvl="0" marL="0" rtl="0" algn="l">
              <a:lnSpc>
                <a:spcPct val="120000"/>
              </a:lnSpc>
              <a:spcBef>
                <a:spcPts val="1000"/>
              </a:spcBef>
              <a:spcAft>
                <a:spcPts val="0"/>
              </a:spcAft>
              <a:buSzPct val="100000"/>
              <a:buNone/>
            </a:pPr>
            <a:r>
              <a:rPr b="1" lang="en-US" sz="1800">
                <a:latin typeface="Times New Roman"/>
                <a:ea typeface="Times New Roman"/>
                <a:cs typeface="Times New Roman"/>
                <a:sym typeface="Times New Roman"/>
              </a:rPr>
              <a:t>Knowledge: </a:t>
            </a:r>
            <a:r>
              <a:rPr lang="en-US" sz="1800">
                <a:latin typeface="Times New Roman"/>
                <a:ea typeface="Times New Roman"/>
                <a:cs typeface="Times New Roman"/>
                <a:sym typeface="Times New Roman"/>
              </a:rPr>
              <a:t> Data and information that is further refined based on the facts, truths, beliefs, judgments, experiences, and expertise of the recipient. </a:t>
            </a:r>
            <a:endParaRPr sz="1800">
              <a:latin typeface="Times New Roman"/>
              <a:ea typeface="Times New Roman"/>
              <a:cs typeface="Times New Roman"/>
              <a:sym typeface="Times New Roman"/>
            </a:endParaRPr>
          </a:p>
        </p:txBody>
      </p:sp>
      <p:pic>
        <p:nvPicPr>
          <p:cNvPr descr="https://www.researchgate.net/profile/Vittal-Anantatmula-2/publication/314456899/figure/fig1/AS:761539741114370@1558576631169/Relation-between-data-information-and-knowledge_W640.jpg" id="149" name="Google Shape;149;p6"/>
          <p:cNvPicPr preferRelativeResize="0"/>
          <p:nvPr>
            <p:ph idx="1" type="body"/>
          </p:nvPr>
        </p:nvPicPr>
        <p:blipFill rotWithShape="1">
          <a:blip r:embed="rId3">
            <a:alphaModFix/>
          </a:blip>
          <a:srcRect b="0" l="0" r="0" t="0"/>
          <a:stretch/>
        </p:blipFill>
        <p:spPr>
          <a:xfrm>
            <a:off x="6151418" y="1914323"/>
            <a:ext cx="4874364" cy="323956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pSp>
        <p:nvGrpSpPr>
          <p:cNvPr id="154" name="Google Shape;154;p7"/>
          <p:cNvGrpSpPr/>
          <p:nvPr/>
        </p:nvGrpSpPr>
        <p:grpSpPr>
          <a:xfrm>
            <a:off x="1297365" y="1663195"/>
            <a:ext cx="9602581" cy="3806247"/>
            <a:chOff x="3002" y="16957"/>
            <a:chExt cx="9602581" cy="3806247"/>
          </a:xfrm>
        </p:grpSpPr>
        <p:sp>
          <p:nvSpPr>
            <p:cNvPr id="155" name="Google Shape;155;p7"/>
            <p:cNvSpPr/>
            <p:nvPr/>
          </p:nvSpPr>
          <p:spPr>
            <a:xfrm>
              <a:off x="3002" y="16957"/>
              <a:ext cx="2927616" cy="1171046"/>
            </a:xfrm>
            <a:prstGeom prst="rect">
              <a:avLst/>
            </a:prstGeom>
            <a:solidFill>
              <a:srgbClr val="B71B42"/>
            </a:solidFill>
            <a:ln cap="flat" cmpd="sng" w="1587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txBox="1"/>
            <p:nvPr/>
          </p:nvSpPr>
          <p:spPr>
            <a:xfrm>
              <a:off x="3002" y="16957"/>
              <a:ext cx="2927616" cy="1171046"/>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None/>
              </a:pPr>
              <a:r>
                <a:rPr lang="en-US" sz="2400">
                  <a:solidFill>
                    <a:schemeClr val="lt1"/>
                  </a:solidFill>
                  <a:latin typeface="Times New Roman"/>
                  <a:ea typeface="Times New Roman"/>
                  <a:cs typeface="Times New Roman"/>
                  <a:sym typeface="Times New Roman"/>
                </a:rPr>
                <a:t>Strategic</a:t>
              </a:r>
              <a:endParaRPr sz="2400">
                <a:solidFill>
                  <a:schemeClr val="lt1"/>
                </a:solidFill>
                <a:latin typeface="Times New Roman"/>
                <a:ea typeface="Times New Roman"/>
                <a:cs typeface="Times New Roman"/>
                <a:sym typeface="Times New Roman"/>
              </a:endParaRPr>
            </a:p>
          </p:txBody>
        </p:sp>
        <p:sp>
          <p:nvSpPr>
            <p:cNvPr id="157" name="Google Shape;157;p7"/>
            <p:cNvSpPr/>
            <p:nvPr/>
          </p:nvSpPr>
          <p:spPr>
            <a:xfrm>
              <a:off x="3002" y="1188004"/>
              <a:ext cx="2927616" cy="2635200"/>
            </a:xfrm>
            <a:prstGeom prst="rect">
              <a:avLst/>
            </a:prstGeom>
            <a:solidFill>
              <a:srgbClr val="E5CBCD">
                <a:alpha val="90196"/>
              </a:srgbClr>
            </a:solidFill>
            <a:ln cap="flat" cmpd="sng" w="15875">
              <a:solidFill>
                <a:srgbClr val="E5CBCD">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txBox="1"/>
            <p:nvPr/>
          </p:nvSpPr>
          <p:spPr>
            <a:xfrm>
              <a:off x="3002" y="1188004"/>
              <a:ext cx="2927616" cy="2635200"/>
            </a:xfrm>
            <a:prstGeom prst="rect">
              <a:avLst/>
            </a:prstGeom>
            <a:noFill/>
            <a:ln>
              <a:noFill/>
            </a:ln>
          </p:spPr>
          <p:txBody>
            <a:bodyPr anchorCtr="0" anchor="t" bIns="192000" lIns="128000" spcFirstLastPara="1" rIns="170675" wrap="square" tIns="128000">
              <a:noAutofit/>
            </a:bodyPr>
            <a:lstStyle/>
            <a:p>
              <a:pPr indent="-228600" lvl="1" marL="228600" marR="0" rtl="0" algn="l">
                <a:lnSpc>
                  <a:spcPct val="9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Used by top level management</a:t>
              </a:r>
              <a:endParaRPr b="0" i="0" sz="24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6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Board based, mixture of primary and secondary source</a:t>
              </a:r>
              <a:endParaRPr b="0" i="0" sz="24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6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Longer timespan</a:t>
              </a:r>
              <a:endParaRPr b="0" i="0" sz="2400" u="none" cap="none" strike="noStrike">
                <a:solidFill>
                  <a:schemeClr val="dk1"/>
                </a:solidFill>
                <a:latin typeface="Times New Roman"/>
                <a:ea typeface="Times New Roman"/>
                <a:cs typeface="Times New Roman"/>
                <a:sym typeface="Times New Roman"/>
              </a:endParaRPr>
            </a:p>
          </p:txBody>
        </p:sp>
        <p:sp>
          <p:nvSpPr>
            <p:cNvPr id="159" name="Google Shape;159;p7"/>
            <p:cNvSpPr/>
            <p:nvPr/>
          </p:nvSpPr>
          <p:spPr>
            <a:xfrm>
              <a:off x="3340485" y="16957"/>
              <a:ext cx="2927616" cy="1171046"/>
            </a:xfrm>
            <a:prstGeom prst="rect">
              <a:avLst/>
            </a:prstGeom>
            <a:solidFill>
              <a:srgbClr val="B71B42"/>
            </a:solidFill>
            <a:ln cap="flat" cmpd="sng" w="1587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txBox="1"/>
            <p:nvPr/>
          </p:nvSpPr>
          <p:spPr>
            <a:xfrm>
              <a:off x="3340485" y="16957"/>
              <a:ext cx="2927616" cy="1171046"/>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None/>
              </a:pPr>
              <a:r>
                <a:rPr lang="en-US" sz="2400">
                  <a:solidFill>
                    <a:schemeClr val="lt1"/>
                  </a:solidFill>
                  <a:latin typeface="Times New Roman"/>
                  <a:ea typeface="Times New Roman"/>
                  <a:cs typeface="Times New Roman"/>
                  <a:sym typeface="Times New Roman"/>
                </a:rPr>
                <a:t>Tactical</a:t>
              </a:r>
              <a:endParaRPr sz="2400">
                <a:solidFill>
                  <a:schemeClr val="lt1"/>
                </a:solidFill>
                <a:latin typeface="Times New Roman"/>
                <a:ea typeface="Times New Roman"/>
                <a:cs typeface="Times New Roman"/>
                <a:sym typeface="Times New Roman"/>
              </a:endParaRPr>
            </a:p>
          </p:txBody>
        </p:sp>
        <p:sp>
          <p:nvSpPr>
            <p:cNvPr id="161" name="Google Shape;161;p7"/>
            <p:cNvSpPr/>
            <p:nvPr/>
          </p:nvSpPr>
          <p:spPr>
            <a:xfrm>
              <a:off x="3340485" y="1188004"/>
              <a:ext cx="2927616" cy="2635200"/>
            </a:xfrm>
            <a:prstGeom prst="rect">
              <a:avLst/>
            </a:prstGeom>
            <a:solidFill>
              <a:srgbClr val="E5CBCD">
                <a:alpha val="90196"/>
              </a:srgbClr>
            </a:solidFill>
            <a:ln cap="flat" cmpd="sng" w="15875">
              <a:solidFill>
                <a:srgbClr val="E5CBCD">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txBox="1"/>
            <p:nvPr/>
          </p:nvSpPr>
          <p:spPr>
            <a:xfrm>
              <a:off x="3340485" y="1188004"/>
              <a:ext cx="2927616" cy="2635200"/>
            </a:xfrm>
            <a:prstGeom prst="rect">
              <a:avLst/>
            </a:prstGeom>
            <a:noFill/>
            <a:ln>
              <a:noFill/>
            </a:ln>
          </p:spPr>
          <p:txBody>
            <a:bodyPr anchorCtr="0" anchor="t" bIns="192000" lIns="128000" spcFirstLastPara="1" rIns="170675" wrap="square" tIns="128000">
              <a:noAutofit/>
            </a:bodyPr>
            <a:lstStyle/>
            <a:p>
              <a:pPr indent="-228600" lvl="1" marL="228600" marR="0" rtl="0" algn="l">
                <a:lnSpc>
                  <a:spcPct val="9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Used by middle management</a:t>
              </a:r>
              <a:endParaRPr b="0" i="0" sz="24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6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Followed by strategic decisions</a:t>
              </a:r>
              <a:endParaRPr b="0" i="0" sz="24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6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Time span 6 month to 5 years</a:t>
              </a:r>
              <a:endParaRPr b="0" i="0" sz="2400" u="none" cap="none" strike="noStrike">
                <a:solidFill>
                  <a:schemeClr val="dk1"/>
                </a:solidFill>
                <a:latin typeface="Times New Roman"/>
                <a:ea typeface="Times New Roman"/>
                <a:cs typeface="Times New Roman"/>
                <a:sym typeface="Times New Roman"/>
              </a:endParaRPr>
            </a:p>
          </p:txBody>
        </p:sp>
        <p:sp>
          <p:nvSpPr>
            <p:cNvPr id="163" name="Google Shape;163;p7"/>
            <p:cNvSpPr/>
            <p:nvPr/>
          </p:nvSpPr>
          <p:spPr>
            <a:xfrm>
              <a:off x="6677967" y="16957"/>
              <a:ext cx="2927616" cy="1171046"/>
            </a:xfrm>
            <a:prstGeom prst="rect">
              <a:avLst/>
            </a:prstGeom>
            <a:solidFill>
              <a:srgbClr val="B71B42"/>
            </a:solidFill>
            <a:ln cap="flat" cmpd="sng" w="1587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txBox="1"/>
            <p:nvPr/>
          </p:nvSpPr>
          <p:spPr>
            <a:xfrm>
              <a:off x="6677967" y="16957"/>
              <a:ext cx="2927616" cy="1171046"/>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None/>
              </a:pPr>
              <a:r>
                <a:rPr lang="en-US" sz="2400">
                  <a:solidFill>
                    <a:schemeClr val="lt1"/>
                  </a:solidFill>
                  <a:latin typeface="Times New Roman"/>
                  <a:ea typeface="Times New Roman"/>
                  <a:cs typeface="Times New Roman"/>
                  <a:sym typeface="Times New Roman"/>
                </a:rPr>
                <a:t>Operational</a:t>
              </a:r>
              <a:endParaRPr sz="2400">
                <a:solidFill>
                  <a:schemeClr val="lt1"/>
                </a:solidFill>
                <a:latin typeface="Times New Roman"/>
                <a:ea typeface="Times New Roman"/>
                <a:cs typeface="Times New Roman"/>
                <a:sym typeface="Times New Roman"/>
              </a:endParaRPr>
            </a:p>
          </p:txBody>
        </p:sp>
        <p:sp>
          <p:nvSpPr>
            <p:cNvPr id="165" name="Google Shape;165;p7"/>
            <p:cNvSpPr/>
            <p:nvPr/>
          </p:nvSpPr>
          <p:spPr>
            <a:xfrm>
              <a:off x="6677967" y="1188004"/>
              <a:ext cx="2927616" cy="2635200"/>
            </a:xfrm>
            <a:prstGeom prst="rect">
              <a:avLst/>
            </a:prstGeom>
            <a:solidFill>
              <a:srgbClr val="E5CBCD">
                <a:alpha val="90196"/>
              </a:srgbClr>
            </a:solidFill>
            <a:ln cap="flat" cmpd="sng" w="15875">
              <a:solidFill>
                <a:srgbClr val="E5CBCD">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txBox="1"/>
            <p:nvPr/>
          </p:nvSpPr>
          <p:spPr>
            <a:xfrm>
              <a:off x="6677967" y="1188004"/>
              <a:ext cx="2927616" cy="2635200"/>
            </a:xfrm>
            <a:prstGeom prst="rect">
              <a:avLst/>
            </a:prstGeom>
            <a:noFill/>
            <a:ln>
              <a:noFill/>
            </a:ln>
          </p:spPr>
          <p:txBody>
            <a:bodyPr anchorCtr="0" anchor="t" bIns="192000" lIns="128000" spcFirstLastPara="1" rIns="170675" wrap="square" tIns="128000">
              <a:noAutofit/>
            </a:bodyPr>
            <a:lstStyle/>
            <a:p>
              <a:pPr indent="-228600" lvl="1" marL="228600" marR="0" rtl="0" algn="l">
                <a:lnSpc>
                  <a:spcPct val="9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Lowest level</a:t>
              </a:r>
              <a:endParaRPr b="0" i="0" sz="24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6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Followed by tactical decisions</a:t>
              </a:r>
              <a:endParaRPr b="0" i="0" sz="24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6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Short timespan</a:t>
              </a:r>
              <a:endParaRPr b="0" i="0" sz="24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6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Results will be evaluated upwards</a:t>
              </a:r>
              <a:endParaRPr b="0" i="0" sz="2400" u="none" cap="none" strike="noStrike">
                <a:solidFill>
                  <a:schemeClr val="dk1"/>
                </a:solidFill>
                <a:latin typeface="Times New Roman"/>
                <a:ea typeface="Times New Roman"/>
                <a:cs typeface="Times New Roman"/>
                <a:sym typeface="Times New Roman"/>
              </a:endParaRPr>
            </a:p>
          </p:txBody>
        </p:sp>
      </p:grpSp>
      <p:sp>
        <p:nvSpPr>
          <p:cNvPr id="167" name="Google Shape;167;p7"/>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TYPES OF INFORMATION</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txBox="1"/>
          <p:nvPr>
            <p:ph type="title"/>
          </p:nvPr>
        </p:nvSpPr>
        <p:spPr>
          <a:xfrm>
            <a:off x="1290909" y="798974"/>
            <a:ext cx="9610182" cy="60122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SOURCES OF INFORMATION</a:t>
            </a:r>
            <a:endParaRPr>
              <a:latin typeface="Times New Roman"/>
              <a:ea typeface="Times New Roman"/>
              <a:cs typeface="Times New Roman"/>
              <a:sym typeface="Times New Roman"/>
            </a:endParaRPr>
          </a:p>
        </p:txBody>
      </p:sp>
      <p:sp>
        <p:nvSpPr>
          <p:cNvPr id="173" name="Google Shape;173;p8"/>
          <p:cNvSpPr txBox="1"/>
          <p:nvPr>
            <p:ph idx="7" type="body"/>
          </p:nvPr>
        </p:nvSpPr>
        <p:spPr>
          <a:xfrm>
            <a:off x="1290908" y="1617663"/>
            <a:ext cx="9618391" cy="3924155"/>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SzPts val="1900"/>
              <a:buChar char="•"/>
            </a:pPr>
            <a:r>
              <a:rPr b="1" lang="en-US" sz="1900">
                <a:latin typeface="Times New Roman"/>
                <a:ea typeface="Times New Roman"/>
                <a:cs typeface="Times New Roman"/>
                <a:sym typeface="Times New Roman"/>
              </a:rPr>
              <a:t>Primary Information</a:t>
            </a:r>
            <a:r>
              <a:rPr lang="en-US" sz="1900">
                <a:latin typeface="Times New Roman"/>
                <a:ea typeface="Times New Roman"/>
                <a:cs typeface="Times New Roman"/>
                <a:sym typeface="Times New Roman"/>
              </a:rPr>
              <a:t>: First-hand data collected directly from the original source.</a:t>
            </a:r>
            <a:endParaRPr/>
          </a:p>
          <a:p>
            <a:pPr indent="0" lvl="1" marL="457200" rtl="0" algn="l">
              <a:lnSpc>
                <a:spcPct val="120000"/>
              </a:lnSpc>
              <a:spcBef>
                <a:spcPts val="500"/>
              </a:spcBef>
              <a:spcAft>
                <a:spcPts val="0"/>
              </a:spcAft>
              <a:buSzPts val="1900"/>
              <a:buNone/>
            </a:pPr>
            <a:r>
              <a:rPr lang="en-US" sz="1900">
                <a:latin typeface="Times New Roman"/>
                <a:ea typeface="Times New Roman"/>
                <a:cs typeface="Times New Roman"/>
                <a:sym typeface="Times New Roman"/>
              </a:rPr>
              <a:t>Example: surveys, interviews, experiments.</a:t>
            </a:r>
            <a:endParaRPr/>
          </a:p>
          <a:p>
            <a:pPr indent="-228600" lvl="0" marL="228600" rtl="0" algn="l">
              <a:lnSpc>
                <a:spcPct val="120000"/>
              </a:lnSpc>
              <a:spcBef>
                <a:spcPts val="1000"/>
              </a:spcBef>
              <a:spcAft>
                <a:spcPts val="0"/>
              </a:spcAft>
              <a:buSzPts val="1900"/>
              <a:buChar char="•"/>
            </a:pPr>
            <a:r>
              <a:rPr b="1" lang="en-US" sz="1900">
                <a:latin typeface="Times New Roman"/>
                <a:ea typeface="Times New Roman"/>
                <a:cs typeface="Times New Roman"/>
                <a:sym typeface="Times New Roman"/>
              </a:rPr>
              <a:t>Secondary Information</a:t>
            </a:r>
            <a:r>
              <a:rPr lang="en-US" sz="1900">
                <a:latin typeface="Times New Roman"/>
                <a:ea typeface="Times New Roman"/>
                <a:cs typeface="Times New Roman"/>
                <a:sym typeface="Times New Roman"/>
              </a:rPr>
              <a:t>: Information already collected, processed, or published by others. </a:t>
            </a:r>
            <a:endParaRPr/>
          </a:p>
          <a:p>
            <a:pPr indent="0" lvl="1" marL="457200" rtl="0" algn="l">
              <a:lnSpc>
                <a:spcPct val="120000"/>
              </a:lnSpc>
              <a:spcBef>
                <a:spcPts val="500"/>
              </a:spcBef>
              <a:spcAft>
                <a:spcPts val="0"/>
              </a:spcAft>
              <a:buSzPts val="1900"/>
              <a:buNone/>
            </a:pPr>
            <a:r>
              <a:rPr lang="en-US" sz="1900">
                <a:latin typeface="Times New Roman"/>
                <a:ea typeface="Times New Roman"/>
                <a:cs typeface="Times New Roman"/>
                <a:sym typeface="Times New Roman"/>
              </a:rPr>
              <a:t>Example: books, research articles, government reports.</a:t>
            </a:r>
            <a:endParaRPr/>
          </a:p>
          <a:p>
            <a:pPr indent="-228600" lvl="0" marL="228600" rtl="0" algn="l">
              <a:lnSpc>
                <a:spcPct val="120000"/>
              </a:lnSpc>
              <a:spcBef>
                <a:spcPts val="1000"/>
              </a:spcBef>
              <a:spcAft>
                <a:spcPts val="0"/>
              </a:spcAft>
              <a:buSzPts val="1900"/>
              <a:buChar char="•"/>
            </a:pPr>
            <a:r>
              <a:rPr b="1" lang="en-US" sz="1900">
                <a:latin typeface="Times New Roman"/>
                <a:ea typeface="Times New Roman"/>
                <a:cs typeface="Times New Roman"/>
                <a:sym typeface="Times New Roman"/>
              </a:rPr>
              <a:t>Internal Information</a:t>
            </a:r>
            <a:r>
              <a:rPr lang="en-US" sz="1900">
                <a:latin typeface="Times New Roman"/>
                <a:ea typeface="Times New Roman"/>
                <a:cs typeface="Times New Roman"/>
                <a:sym typeface="Times New Roman"/>
              </a:rPr>
              <a:t>: Generated within an organization for its own use.</a:t>
            </a:r>
            <a:endParaRPr/>
          </a:p>
          <a:p>
            <a:pPr indent="0" lvl="1" marL="457200" rtl="0" algn="l">
              <a:lnSpc>
                <a:spcPct val="120000"/>
              </a:lnSpc>
              <a:spcBef>
                <a:spcPts val="500"/>
              </a:spcBef>
              <a:spcAft>
                <a:spcPts val="0"/>
              </a:spcAft>
              <a:buSzPts val="1900"/>
              <a:buNone/>
            </a:pPr>
            <a:r>
              <a:rPr lang="en-US" sz="1900">
                <a:latin typeface="Times New Roman"/>
                <a:ea typeface="Times New Roman"/>
                <a:cs typeface="Times New Roman"/>
                <a:sym typeface="Times New Roman"/>
              </a:rPr>
              <a:t>Example: sales records, employee performance reports, financial statements.</a:t>
            </a:r>
            <a:endParaRPr/>
          </a:p>
          <a:p>
            <a:pPr indent="-228600" lvl="0" marL="228600" rtl="0" algn="l">
              <a:lnSpc>
                <a:spcPct val="120000"/>
              </a:lnSpc>
              <a:spcBef>
                <a:spcPts val="1000"/>
              </a:spcBef>
              <a:spcAft>
                <a:spcPts val="0"/>
              </a:spcAft>
              <a:buSzPts val="1900"/>
              <a:buChar char="•"/>
            </a:pPr>
            <a:r>
              <a:rPr b="1" lang="en-US" sz="1900">
                <a:latin typeface="Times New Roman"/>
                <a:ea typeface="Times New Roman"/>
                <a:cs typeface="Times New Roman"/>
                <a:sym typeface="Times New Roman"/>
              </a:rPr>
              <a:t>External Information</a:t>
            </a:r>
            <a:r>
              <a:rPr lang="en-US" sz="1900">
                <a:latin typeface="Times New Roman"/>
                <a:ea typeface="Times New Roman"/>
                <a:cs typeface="Times New Roman"/>
                <a:sym typeface="Times New Roman"/>
              </a:rPr>
              <a:t>: Obtained from outside the organization.</a:t>
            </a:r>
            <a:endParaRPr/>
          </a:p>
          <a:p>
            <a:pPr indent="0" lvl="1" marL="457200" rtl="0" algn="l">
              <a:lnSpc>
                <a:spcPct val="120000"/>
              </a:lnSpc>
              <a:spcBef>
                <a:spcPts val="500"/>
              </a:spcBef>
              <a:spcAft>
                <a:spcPts val="0"/>
              </a:spcAft>
              <a:buSzPts val="1900"/>
              <a:buNone/>
            </a:pPr>
            <a:r>
              <a:rPr lang="en-US" sz="1900">
                <a:latin typeface="Times New Roman"/>
                <a:ea typeface="Times New Roman"/>
                <a:cs typeface="Times New Roman"/>
                <a:sym typeface="Times New Roman"/>
              </a:rPr>
              <a:t>Example: competitor data, market trends, customer feedback, news reports.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9"/>
          <p:cNvSpPr txBox="1"/>
          <p:nvPr>
            <p:ph idx="1" type="body"/>
          </p:nvPr>
        </p:nvSpPr>
        <p:spPr>
          <a:xfrm>
            <a:off x="1294350" y="1718850"/>
            <a:ext cx="9603300" cy="24855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SzPts val="2000"/>
              <a:buNone/>
            </a:pPr>
            <a:r>
              <a:rPr lang="en-US">
                <a:latin typeface="Times New Roman"/>
                <a:ea typeface="Times New Roman"/>
                <a:cs typeface="Times New Roman"/>
                <a:sym typeface="Times New Roman"/>
              </a:rPr>
              <a:t>(a) Availability/accessibility</a:t>
            </a:r>
            <a:endParaRPr/>
          </a:p>
          <a:p>
            <a:pPr indent="0" lvl="0" marL="0" rtl="0" algn="l">
              <a:lnSpc>
                <a:spcPct val="120000"/>
              </a:lnSpc>
              <a:spcBef>
                <a:spcPts val="1000"/>
              </a:spcBef>
              <a:spcAft>
                <a:spcPts val="0"/>
              </a:spcAft>
              <a:buSzPts val="2000"/>
              <a:buNone/>
            </a:pPr>
            <a:r>
              <a:rPr lang="en-US">
                <a:latin typeface="Times New Roman"/>
                <a:ea typeface="Times New Roman"/>
                <a:cs typeface="Times New Roman"/>
                <a:sym typeface="Times New Roman"/>
              </a:rPr>
              <a:t>(b) Accuracy</a:t>
            </a:r>
            <a:endParaRPr/>
          </a:p>
          <a:p>
            <a:pPr indent="0" lvl="0" marL="0" rtl="0" algn="l">
              <a:lnSpc>
                <a:spcPct val="120000"/>
              </a:lnSpc>
              <a:spcBef>
                <a:spcPts val="1000"/>
              </a:spcBef>
              <a:spcAft>
                <a:spcPts val="0"/>
              </a:spcAft>
              <a:buSzPts val="2000"/>
              <a:buNone/>
            </a:pPr>
            <a:r>
              <a:rPr lang="en-US">
                <a:latin typeface="Times New Roman"/>
                <a:ea typeface="Times New Roman"/>
                <a:cs typeface="Times New Roman"/>
                <a:sym typeface="Times New Roman"/>
              </a:rPr>
              <a:t>(c) Reliability</a:t>
            </a:r>
            <a:endParaRPr>
              <a:latin typeface="Times New Roman"/>
              <a:ea typeface="Times New Roman"/>
              <a:cs typeface="Times New Roman"/>
              <a:sym typeface="Times New Roman"/>
            </a:endParaRPr>
          </a:p>
          <a:p>
            <a:pPr indent="0" lvl="0" marL="0" rtl="0" algn="l">
              <a:lnSpc>
                <a:spcPct val="120000"/>
              </a:lnSpc>
              <a:spcBef>
                <a:spcPts val="1000"/>
              </a:spcBef>
              <a:spcAft>
                <a:spcPts val="0"/>
              </a:spcAft>
              <a:buSzPts val="2000"/>
              <a:buNone/>
            </a:pPr>
            <a:r>
              <a:rPr lang="en-US">
                <a:latin typeface="Times New Roman"/>
                <a:ea typeface="Times New Roman"/>
                <a:cs typeface="Times New Roman"/>
                <a:sym typeface="Times New Roman"/>
              </a:rPr>
              <a:t>(d) Relevance/appropriateness </a:t>
            </a:r>
            <a:endParaRPr>
              <a:latin typeface="Times New Roman"/>
              <a:ea typeface="Times New Roman"/>
              <a:cs typeface="Times New Roman"/>
              <a:sym typeface="Times New Roman"/>
            </a:endParaRPr>
          </a:p>
          <a:p>
            <a:pPr indent="0" lvl="0" marL="0" rtl="0" algn="l">
              <a:lnSpc>
                <a:spcPct val="120000"/>
              </a:lnSpc>
              <a:spcBef>
                <a:spcPts val="1000"/>
              </a:spcBef>
              <a:spcAft>
                <a:spcPts val="0"/>
              </a:spcAft>
              <a:buSzPts val="2000"/>
              <a:buNone/>
            </a:pPr>
            <a:r>
              <a:rPr lang="en-US">
                <a:latin typeface="Times New Roman"/>
                <a:ea typeface="Times New Roman"/>
                <a:cs typeface="Times New Roman"/>
                <a:sym typeface="Times New Roman"/>
              </a:rPr>
              <a:t>(e) Completeness </a:t>
            </a:r>
            <a:endParaRPr>
              <a:latin typeface="Times New Roman"/>
              <a:ea typeface="Times New Roman"/>
              <a:cs typeface="Times New Roman"/>
              <a:sym typeface="Times New Roman"/>
            </a:endParaRPr>
          </a:p>
          <a:p>
            <a:pPr indent="0" lvl="0" marL="0" rtl="0" algn="l">
              <a:spcBef>
                <a:spcPts val="1000"/>
              </a:spcBef>
              <a:spcAft>
                <a:spcPts val="0"/>
              </a:spcAft>
              <a:buClr>
                <a:schemeClr val="dk1"/>
              </a:buClr>
              <a:buSzPts val="2000"/>
              <a:buFont typeface="Arial"/>
              <a:buNone/>
            </a:pPr>
            <a:r>
              <a:rPr lang="en-US">
                <a:latin typeface="Times New Roman"/>
                <a:ea typeface="Times New Roman"/>
                <a:cs typeface="Times New Roman"/>
                <a:sym typeface="Times New Roman"/>
              </a:rPr>
              <a:t>(f) Level of detail/conciseness </a:t>
            </a:r>
            <a:endParaRPr/>
          </a:p>
          <a:p>
            <a:pPr indent="0" lvl="0" marL="0" rtl="0" algn="l">
              <a:spcBef>
                <a:spcPts val="1000"/>
              </a:spcBef>
              <a:spcAft>
                <a:spcPts val="0"/>
              </a:spcAft>
              <a:buClr>
                <a:schemeClr val="dk1"/>
              </a:buClr>
              <a:buSzPts val="2000"/>
              <a:buFont typeface="Arial"/>
              <a:buNone/>
            </a:pPr>
            <a:r>
              <a:rPr lang="en-US">
                <a:latin typeface="Times New Roman"/>
                <a:ea typeface="Times New Roman"/>
                <a:cs typeface="Times New Roman"/>
                <a:sym typeface="Times New Roman"/>
              </a:rPr>
              <a:t>(g) Presentation </a:t>
            </a:r>
            <a:endParaRPr/>
          </a:p>
          <a:p>
            <a:pPr indent="0" lvl="0" marL="0" rtl="0" algn="l">
              <a:spcBef>
                <a:spcPts val="1000"/>
              </a:spcBef>
              <a:spcAft>
                <a:spcPts val="0"/>
              </a:spcAft>
              <a:buClr>
                <a:schemeClr val="dk1"/>
              </a:buClr>
              <a:buSzPts val="2000"/>
              <a:buFont typeface="Arial"/>
              <a:buNone/>
            </a:pPr>
            <a:r>
              <a:rPr lang="en-US">
                <a:latin typeface="Times New Roman"/>
                <a:ea typeface="Times New Roman"/>
                <a:cs typeface="Times New Roman"/>
                <a:sym typeface="Times New Roman"/>
              </a:rPr>
              <a:t>(h) Up-to-date</a:t>
            </a:r>
            <a:endParaRPr/>
          </a:p>
          <a:p>
            <a:pPr indent="0" lvl="0" marL="0" rtl="0" algn="l">
              <a:spcBef>
                <a:spcPts val="1000"/>
              </a:spcBef>
              <a:spcAft>
                <a:spcPts val="0"/>
              </a:spcAft>
              <a:buClr>
                <a:schemeClr val="dk1"/>
              </a:buClr>
              <a:buSzPts val="2000"/>
              <a:buFont typeface="Arial"/>
              <a:buNone/>
            </a:pPr>
            <a:r>
              <a:rPr lang="en-US">
                <a:latin typeface="Times New Roman"/>
                <a:ea typeface="Times New Roman"/>
                <a:cs typeface="Times New Roman"/>
                <a:sym typeface="Times New Roman"/>
              </a:rPr>
              <a:t>(i) Timing</a:t>
            </a:r>
            <a:endParaRPr>
              <a:latin typeface="Times New Roman"/>
              <a:ea typeface="Times New Roman"/>
              <a:cs typeface="Times New Roman"/>
              <a:sym typeface="Times New Roman"/>
            </a:endParaRPr>
          </a:p>
          <a:p>
            <a:pPr indent="0" lvl="0" marL="0" rtl="0" algn="l">
              <a:lnSpc>
                <a:spcPct val="120000"/>
              </a:lnSpc>
              <a:spcBef>
                <a:spcPts val="1000"/>
              </a:spcBef>
              <a:spcAft>
                <a:spcPts val="0"/>
              </a:spcAft>
              <a:buSzPts val="2000"/>
              <a:buNone/>
            </a:pPr>
            <a:r>
              <a:t/>
            </a:r>
            <a:endParaRPr>
              <a:latin typeface="Times New Roman"/>
              <a:ea typeface="Times New Roman"/>
              <a:cs typeface="Times New Roman"/>
              <a:sym typeface="Times New Roman"/>
            </a:endParaRPr>
          </a:p>
          <a:p>
            <a:pPr indent="0" lvl="0" marL="0" rtl="0" algn="l">
              <a:lnSpc>
                <a:spcPct val="120000"/>
              </a:lnSpc>
              <a:spcBef>
                <a:spcPts val="1000"/>
              </a:spcBef>
              <a:spcAft>
                <a:spcPts val="0"/>
              </a:spcAft>
              <a:buSzPts val="2000"/>
              <a:buNone/>
            </a:pPr>
            <a:r>
              <a:t/>
            </a:r>
            <a:endParaRPr>
              <a:latin typeface="Times New Roman"/>
              <a:ea typeface="Times New Roman"/>
              <a:cs typeface="Times New Roman"/>
              <a:sym typeface="Times New Roman"/>
            </a:endParaRPr>
          </a:p>
          <a:p>
            <a:pPr indent="0" lvl="0" marL="0" rtl="0" algn="l">
              <a:lnSpc>
                <a:spcPct val="120000"/>
              </a:lnSpc>
              <a:spcBef>
                <a:spcPts val="1000"/>
              </a:spcBef>
              <a:spcAft>
                <a:spcPts val="0"/>
              </a:spcAft>
              <a:buSzPts val="2000"/>
              <a:buNone/>
            </a:pPr>
            <a:r>
              <a:t/>
            </a:r>
            <a:endParaRPr>
              <a:latin typeface="Times New Roman"/>
              <a:ea typeface="Times New Roman"/>
              <a:cs typeface="Times New Roman"/>
              <a:sym typeface="Times New Roman"/>
            </a:endParaRPr>
          </a:p>
        </p:txBody>
      </p:sp>
      <p:sp>
        <p:nvSpPr>
          <p:cNvPr id="179" name="Google Shape;179;p9"/>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QUALITY OF INFORMATION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0"/>
          <p:cNvSpPr txBox="1"/>
          <p:nvPr>
            <p:ph type="title"/>
          </p:nvPr>
        </p:nvSpPr>
        <p:spPr>
          <a:xfrm>
            <a:off x="1294363" y="804519"/>
            <a:ext cx="9603275" cy="16121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INFORMATION SYSTEM </a:t>
            </a:r>
            <a:endParaRPr/>
          </a:p>
        </p:txBody>
      </p:sp>
      <p:sp>
        <p:nvSpPr>
          <p:cNvPr id="185" name="Google Shape;185;p10"/>
          <p:cNvSpPr/>
          <p:nvPr/>
        </p:nvSpPr>
        <p:spPr>
          <a:xfrm>
            <a:off x="1294363" y="1745673"/>
            <a:ext cx="9706146"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A set of devices, procedures and operating systems designed around user based criteria to produce information and communicate it to the users for planning, control and performance.</a:t>
            </a:r>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Why this is necessary: </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Foundation of doing business </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Capital Management </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Productivity </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Strategic Opportunity and Advantage</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1294363"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CONCEPTS ON INFORMATION SYSTEM</a:t>
            </a:r>
            <a:endParaRPr>
              <a:latin typeface="Times New Roman"/>
              <a:ea typeface="Times New Roman"/>
              <a:cs typeface="Times New Roman"/>
              <a:sym typeface="Times New Roman"/>
            </a:endParaRPr>
          </a:p>
        </p:txBody>
      </p:sp>
      <p:sp>
        <p:nvSpPr>
          <p:cNvPr id="191" name="Google Shape;191;p11"/>
          <p:cNvSpPr/>
          <p:nvPr/>
        </p:nvSpPr>
        <p:spPr>
          <a:xfrm>
            <a:off x="1294363" y="1745673"/>
            <a:ext cx="5452801" cy="40934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Decomposition: </a:t>
            </a:r>
            <a:r>
              <a:rPr lang="en-US" sz="2000">
                <a:solidFill>
                  <a:schemeClr val="dk1"/>
                </a:solidFill>
                <a:latin typeface="Times New Roman"/>
                <a:ea typeface="Times New Roman"/>
                <a:cs typeface="Times New Roman"/>
                <a:sym typeface="Times New Roman"/>
              </a:rPr>
              <a:t>Break a system into small, manageable, and understandable subsystems </a:t>
            </a:r>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Modularity:  </a:t>
            </a:r>
            <a:r>
              <a:rPr lang="en-US" sz="2000">
                <a:solidFill>
                  <a:schemeClr val="dk1"/>
                </a:solidFill>
                <a:latin typeface="Times New Roman"/>
                <a:ea typeface="Times New Roman"/>
                <a:cs typeface="Times New Roman"/>
                <a:sym typeface="Times New Roman"/>
              </a:rPr>
              <a:t>Modularity is a direct result of decomposition.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Coupling: </a:t>
            </a:r>
            <a:r>
              <a:rPr lang="en-US" sz="2000">
                <a:solidFill>
                  <a:schemeClr val="dk1"/>
                </a:solidFill>
                <a:latin typeface="Times New Roman"/>
                <a:ea typeface="Times New Roman"/>
                <a:cs typeface="Times New Roman"/>
                <a:sym typeface="Times New Roman"/>
              </a:rPr>
              <a:t>Coupling means that subsystems are dependent on each other.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Cohesion: </a:t>
            </a:r>
            <a:r>
              <a:rPr lang="en-US" sz="2000">
                <a:solidFill>
                  <a:schemeClr val="dk1"/>
                </a:solidFill>
                <a:latin typeface="Times New Roman"/>
                <a:ea typeface="Times New Roman"/>
                <a:cs typeface="Times New Roman"/>
                <a:sym typeface="Times New Roman"/>
              </a:rPr>
              <a:t>Cohesion is the extent to which a subsystem performs a single function.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pic>
        <p:nvPicPr>
          <p:cNvPr id="192" name="Google Shape;192;p11"/>
          <p:cNvPicPr preferRelativeResize="0"/>
          <p:nvPr/>
        </p:nvPicPr>
        <p:blipFill rotWithShape="1">
          <a:blip r:embed="rId3">
            <a:alphaModFix/>
          </a:blip>
          <a:srcRect b="0" l="0" r="0" t="0"/>
          <a:stretch/>
        </p:blipFill>
        <p:spPr>
          <a:xfrm>
            <a:off x="6454551" y="1745673"/>
            <a:ext cx="5268060" cy="3496163"/>
          </a:xfrm>
          <a:prstGeom prst="rect">
            <a:avLst/>
          </a:prstGeom>
          <a:noFill/>
          <a:ln>
            <a:noFill/>
          </a:ln>
        </p:spPr>
      </p:pic>
      <p:sp>
        <p:nvSpPr>
          <p:cNvPr id="193" name="Google Shape;193;p11"/>
          <p:cNvSpPr/>
          <p:nvPr/>
        </p:nvSpPr>
        <p:spPr>
          <a:xfrm>
            <a:off x="6454551" y="5168237"/>
            <a:ext cx="52680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Gill Sans"/>
                <a:ea typeface="Gill Sans"/>
                <a:cs typeface="Gill Sans"/>
                <a:sym typeface="Gill Sans"/>
              </a:rPr>
              <a:t>Fig:  An MP3 player is a system with power supply, storage, and control subsystems.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p:nvPr/>
        </p:nvSpPr>
        <p:spPr>
          <a:xfrm>
            <a:off x="1191649" y="792080"/>
            <a:ext cx="540885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Types of Information Systems</a:t>
            </a:r>
            <a:endParaRPr/>
          </a:p>
        </p:txBody>
      </p:sp>
      <p:sp>
        <p:nvSpPr>
          <p:cNvPr id="199" name="Google Shape;199;p12"/>
          <p:cNvSpPr/>
          <p:nvPr/>
        </p:nvSpPr>
        <p:spPr>
          <a:xfrm>
            <a:off x="1191649" y="1537855"/>
            <a:ext cx="9296242"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1. Transaction processing systems (TPS)</a:t>
            </a:r>
            <a:r>
              <a:rPr lang="en-US" sz="1800">
                <a:solidFill>
                  <a:schemeClr val="dk1"/>
                </a:solidFill>
                <a:latin typeface="Times New Roman"/>
                <a:ea typeface="Times New Roman"/>
                <a:cs typeface="Times New Roman"/>
                <a:sym typeface="Times New Roman"/>
              </a:rPr>
              <a:t>: TPS, form the foundation of many businesses. These systems handle routine, day-to-day activities like billing, order processing, payroll, or reservations.</a:t>
            </a:r>
            <a:endParaRPr b="0" i="0"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2. Management information systems (MIS)</a:t>
            </a:r>
            <a:r>
              <a:rPr lang="en-US" sz="1800">
                <a:solidFill>
                  <a:schemeClr val="dk1"/>
                </a:solidFill>
                <a:latin typeface="Times New Roman"/>
                <a:ea typeface="Times New Roman"/>
                <a:cs typeface="Times New Roman"/>
                <a:sym typeface="Times New Roman"/>
              </a:rPr>
              <a:t>: MIS take the raw data from TPS and organize it. Instead of showing every single sale, for example, an MIS might provide a daily sales report broken down by region or product type.</a:t>
            </a:r>
            <a:endParaRPr/>
          </a:p>
          <a:p>
            <a:pPr indent="0" lvl="0" marL="0" marR="0" rtl="0" algn="l">
              <a:spcBef>
                <a:spcPts val="0"/>
              </a:spcBef>
              <a:spcAft>
                <a:spcPts val="0"/>
              </a:spcAft>
              <a:buNone/>
            </a:pPr>
            <a:r>
              <a:t/>
            </a:r>
            <a:endParaRPr b="1" i="0" sz="1800">
              <a:solidFill>
                <a:schemeClr val="dk1"/>
              </a:solidFill>
              <a:latin typeface="Times New Roman"/>
              <a:ea typeface="Times New Roman"/>
              <a:cs typeface="Times New Roman"/>
              <a:sym typeface="Times New Roman"/>
            </a:endParaRPr>
          </a:p>
        </p:txBody>
      </p:sp>
      <p:pic>
        <p:nvPicPr>
          <p:cNvPr descr="Unlock Business Potential: The Power Of Management Information Systems" id="200" name="Google Shape;200;p12"/>
          <p:cNvPicPr preferRelativeResize="0"/>
          <p:nvPr/>
        </p:nvPicPr>
        <p:blipFill rotWithShape="1">
          <a:blip r:embed="rId3">
            <a:alphaModFix/>
          </a:blip>
          <a:srcRect b="0" l="0" r="0" t="0"/>
          <a:stretch/>
        </p:blipFill>
        <p:spPr>
          <a:xfrm>
            <a:off x="6095998" y="3428980"/>
            <a:ext cx="4274100" cy="2570400"/>
          </a:xfrm>
          <a:prstGeom prst="roundRect">
            <a:avLst>
              <a:gd fmla="val 8594" name="adj"/>
            </a:avLst>
          </a:prstGeom>
          <a:solidFill>
            <a:srgbClr val="ECECEC"/>
          </a:solidFill>
          <a:ln cap="flat" cmpd="sng" w="9525">
            <a:solidFill>
              <a:srgbClr val="181612"/>
            </a:solidFill>
            <a:prstDash val="solid"/>
            <a:round/>
            <a:headEnd len="sm" w="sm" type="none"/>
            <a:tailEnd len="sm" w="sm" type="none"/>
          </a:ln>
          <a:effectLst>
            <a:reflection blurRad="0" dir="5400000" dist="5000" endA="0" endPos="28000" kx="0" rotWithShape="0" algn="bl" stA="38000" stPos="0" sy="-100000" ky="0"/>
          </a:effectLst>
        </p:spPr>
      </p:pic>
      <p:pic>
        <p:nvPicPr>
          <p:cNvPr descr="What Is Transaction Processing System - A Definitive Guide in 2025" id="201" name="Google Shape;201;p12"/>
          <p:cNvPicPr preferRelativeResize="0"/>
          <p:nvPr/>
        </p:nvPicPr>
        <p:blipFill rotWithShape="1">
          <a:blip r:embed="rId4">
            <a:alphaModFix/>
          </a:blip>
          <a:srcRect b="0" l="0" r="0" t="0"/>
          <a:stretch/>
        </p:blipFill>
        <p:spPr>
          <a:xfrm>
            <a:off x="1392582" y="3429005"/>
            <a:ext cx="3893700" cy="2570400"/>
          </a:xfrm>
          <a:prstGeom prst="roundRect">
            <a:avLst>
              <a:gd fmla="val 8594" name="adj"/>
            </a:avLst>
          </a:prstGeom>
          <a:solidFill>
            <a:srgbClr val="ECECEC"/>
          </a:solidFill>
          <a:ln cap="flat" cmpd="sng" w="9525">
            <a:solidFill>
              <a:srgbClr val="181612"/>
            </a:solidFill>
            <a:prstDash val="solid"/>
            <a:round/>
            <a:headEnd len="sm" w="sm" type="none"/>
            <a:tailEnd len="sm" w="sm" type="none"/>
          </a:ln>
          <a:effectLst>
            <a:reflection blurRad="0" dir="5400000" dist="5000" endA="0" endPos="28000" kx="0" rotWithShape="0" algn="bl" stA="38000" stPos="0" sy="-100000" ky="0"/>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p:nvPr/>
        </p:nvSpPr>
        <p:spPr>
          <a:xfrm>
            <a:off x="1219199" y="1457742"/>
            <a:ext cx="9628909"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3. Decision support systems (DSS)</a:t>
            </a:r>
            <a:r>
              <a:rPr lang="en-US" sz="1800">
                <a:solidFill>
                  <a:schemeClr val="dk1"/>
                </a:solidFill>
                <a:latin typeface="Times New Roman"/>
                <a:ea typeface="Times New Roman"/>
                <a:cs typeface="Times New Roman"/>
                <a:sym typeface="Times New Roman"/>
              </a:rPr>
              <a:t>: When decisions are unclear or involve many moving parts, organizations use decision support systems (DSS) to help them think through the possibilities. Rather than offering a final answer, these systems bring together different types of data and offer tools to run comparisons, highlight risks, simulate changes, and identify potential advantages or setbacks.</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4. Executive Support Systems (ESS)</a:t>
            </a:r>
            <a:r>
              <a:rPr lang="en-US" sz="1800">
                <a:solidFill>
                  <a:schemeClr val="dk1"/>
                </a:solidFill>
                <a:latin typeface="Times New Roman"/>
                <a:ea typeface="Times New Roman"/>
                <a:cs typeface="Times New Roman"/>
                <a:sym typeface="Times New Roman"/>
              </a:rPr>
              <a:t>: ESS offer a much broader view of organizational performance. These systems are designed for senior executives who need to track long-term goals, monitor strategic outcomes, assess risks, and make decisions that guide the direction of the entire organization.</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07" name="Google Shape;207;p13"/>
          <p:cNvSpPr/>
          <p:nvPr/>
        </p:nvSpPr>
        <p:spPr>
          <a:xfrm>
            <a:off x="1191649" y="792080"/>
            <a:ext cx="540885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Types of Information Systems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4"/>
          <p:cNvSpPr/>
          <p:nvPr/>
        </p:nvSpPr>
        <p:spPr>
          <a:xfrm>
            <a:off x="1191649" y="792080"/>
            <a:ext cx="540885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Types of Information Systems</a:t>
            </a:r>
            <a:endParaRPr/>
          </a:p>
        </p:txBody>
      </p:sp>
      <p:sp>
        <p:nvSpPr>
          <p:cNvPr id="213" name="Google Shape;213;p14"/>
          <p:cNvSpPr/>
          <p:nvPr/>
        </p:nvSpPr>
        <p:spPr>
          <a:xfrm>
            <a:off x="1191649" y="1524000"/>
            <a:ext cx="10016678"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5. Enterprise resource planning (ERP)</a:t>
            </a:r>
            <a:r>
              <a:rPr lang="en-US" sz="1800">
                <a:solidFill>
                  <a:schemeClr val="dk1"/>
                </a:solidFill>
                <a:latin typeface="Times New Roman"/>
                <a:ea typeface="Times New Roman"/>
                <a:cs typeface="Times New Roman"/>
                <a:sym typeface="Times New Roman"/>
              </a:rPr>
              <a:t>:  These systems integrate core business functions like accounting, inventory, human resources, and procurement into one platform.</a:t>
            </a:r>
            <a:endParaRPr b="1" i="0"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i="0"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6. Customer relationship management (CRM): </a:t>
            </a:r>
            <a:r>
              <a:rPr lang="en-US" sz="1800">
                <a:solidFill>
                  <a:schemeClr val="dk1"/>
                </a:solidFill>
                <a:latin typeface="Times New Roman"/>
                <a:ea typeface="Times New Roman"/>
                <a:cs typeface="Times New Roman"/>
                <a:sym typeface="Times New Roman"/>
              </a:rPr>
              <a:t>Through such systems, they gather all kinds of customer information, such as purchase history, past questions, preferences, and feedback.</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descr="Enterprise Resource Diagram Stock Illustrations – 316 Enterprise ..." id="214" name="Google Shape;214;p14"/>
          <p:cNvPicPr preferRelativeResize="0"/>
          <p:nvPr/>
        </p:nvPicPr>
        <p:blipFill rotWithShape="1">
          <a:blip r:embed="rId3">
            <a:alphaModFix/>
          </a:blip>
          <a:srcRect b="0" l="0" r="0" t="0"/>
          <a:stretch/>
        </p:blipFill>
        <p:spPr>
          <a:xfrm>
            <a:off x="1191649" y="3020291"/>
            <a:ext cx="4412502" cy="3034145"/>
          </a:xfrm>
          <a:prstGeom prst="rect">
            <a:avLst/>
          </a:prstGeom>
          <a:noFill/>
          <a:ln>
            <a:noFill/>
          </a:ln>
        </p:spPr>
      </p:pic>
      <p:pic>
        <p:nvPicPr>
          <p:cNvPr id="215" name="Google Shape;215;p14"/>
          <p:cNvPicPr preferRelativeResize="0"/>
          <p:nvPr/>
        </p:nvPicPr>
        <p:blipFill rotWithShape="1">
          <a:blip r:embed="rId4">
            <a:alphaModFix/>
          </a:blip>
          <a:srcRect b="0" l="0" r="0" t="0"/>
          <a:stretch/>
        </p:blipFill>
        <p:spPr>
          <a:xfrm>
            <a:off x="6199988" y="3020291"/>
            <a:ext cx="4758957" cy="303414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5"/>
          <p:cNvSpPr/>
          <p:nvPr/>
        </p:nvSpPr>
        <p:spPr>
          <a:xfrm>
            <a:off x="1219200" y="1499076"/>
            <a:ext cx="5153891"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7. Supply chain management (SCM): </a:t>
            </a:r>
            <a:r>
              <a:rPr lang="en-US" sz="1800">
                <a:solidFill>
                  <a:schemeClr val="dk1"/>
                </a:solidFill>
                <a:latin typeface="Times New Roman"/>
                <a:ea typeface="Times New Roman"/>
                <a:cs typeface="Times New Roman"/>
                <a:sym typeface="Times New Roman"/>
              </a:rPr>
              <a:t>These systems help organizations manage their flow of goods, information, finances, scheduling, inventory, and vendor coordination.</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8. Knowledge management systems (KMS)</a:t>
            </a:r>
            <a:r>
              <a:rPr lang="en-US" sz="1800">
                <a:solidFill>
                  <a:schemeClr val="dk1"/>
                </a:solidFill>
                <a:latin typeface="Times New Roman"/>
                <a:ea typeface="Times New Roman"/>
                <a:cs typeface="Times New Roman"/>
                <a:sym typeface="Times New Roman"/>
              </a:rPr>
              <a:t>: These systems capture, store, organize, and share what employees know, making it easier for others to access useful insights, learn from past outcomes, apply proven solutions, and continue building upon existing work.</a:t>
            </a:r>
            <a:endParaRPr sz="1800">
              <a:solidFill>
                <a:schemeClr val="dk1"/>
              </a:solidFill>
              <a:latin typeface="Times New Roman"/>
              <a:ea typeface="Times New Roman"/>
              <a:cs typeface="Times New Roman"/>
              <a:sym typeface="Times New Roman"/>
            </a:endParaRPr>
          </a:p>
        </p:txBody>
      </p:sp>
      <p:sp>
        <p:nvSpPr>
          <p:cNvPr id="221" name="Google Shape;221;p15"/>
          <p:cNvSpPr/>
          <p:nvPr/>
        </p:nvSpPr>
        <p:spPr>
          <a:xfrm>
            <a:off x="1191649" y="792080"/>
            <a:ext cx="540885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Types of Information Systems</a:t>
            </a:r>
            <a:endParaRPr/>
          </a:p>
        </p:txBody>
      </p:sp>
      <p:pic>
        <p:nvPicPr>
          <p:cNvPr id="222" name="Google Shape;222;p15"/>
          <p:cNvPicPr preferRelativeResize="0"/>
          <p:nvPr/>
        </p:nvPicPr>
        <p:blipFill rotWithShape="1">
          <a:blip r:embed="rId3">
            <a:alphaModFix/>
          </a:blip>
          <a:srcRect b="0" l="0" r="0" t="0"/>
          <a:stretch/>
        </p:blipFill>
        <p:spPr>
          <a:xfrm>
            <a:off x="6373091" y="1789454"/>
            <a:ext cx="4527110" cy="301807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6"/>
          <p:cNvSpPr/>
          <p:nvPr/>
        </p:nvSpPr>
        <p:spPr>
          <a:xfrm>
            <a:off x="1219199" y="1515400"/>
            <a:ext cx="9518073" cy="92333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 systems analyst is an IT professional who analyzes an organization's current computer systems and procedures, then designs and implements new or improved systems to solve business problems and enhance efficiency.</a:t>
            </a:r>
            <a:endParaRPr/>
          </a:p>
        </p:txBody>
      </p:sp>
      <p:sp>
        <p:nvSpPr>
          <p:cNvPr id="228" name="Google Shape;228;p16"/>
          <p:cNvSpPr/>
          <p:nvPr/>
        </p:nvSpPr>
        <p:spPr>
          <a:xfrm>
            <a:off x="1219200" y="930625"/>
            <a:ext cx="516955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THE SYSTEMS ANALYST </a:t>
            </a:r>
            <a:endParaRPr b="1" sz="3200">
              <a:solidFill>
                <a:schemeClr val="dk1"/>
              </a:solidFill>
              <a:latin typeface="Times New Roman"/>
              <a:ea typeface="Times New Roman"/>
              <a:cs typeface="Times New Roman"/>
              <a:sym typeface="Times New Roman"/>
            </a:endParaRPr>
          </a:p>
        </p:txBody>
      </p:sp>
      <p:sp>
        <p:nvSpPr>
          <p:cNvPr id="229" name="Google Shape;229;p16"/>
          <p:cNvSpPr/>
          <p:nvPr/>
        </p:nvSpPr>
        <p:spPr>
          <a:xfrm>
            <a:off x="1509744" y="2438730"/>
            <a:ext cx="9532328" cy="4201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Qualities of a systems analyst: </a:t>
            </a:r>
            <a:endParaRPr/>
          </a:p>
          <a:p>
            <a:pPr indent="-285750" lvl="0" marL="285750" marR="0" rtl="0" algn="l">
              <a:spcBef>
                <a:spcPts val="10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Technical skills: </a:t>
            </a:r>
            <a:r>
              <a:rPr lang="en-US" sz="1800">
                <a:solidFill>
                  <a:schemeClr val="dk1"/>
                </a:solidFill>
                <a:latin typeface="Times New Roman"/>
                <a:ea typeface="Times New Roman"/>
                <a:cs typeface="Times New Roman"/>
                <a:sym typeface="Times New Roman"/>
              </a:rPr>
              <a:t>expertise in Analysis tools, quick adaptability with up-to-date technologies, etc.  </a:t>
            </a:r>
            <a:endParaRPr sz="1800">
              <a:solidFill>
                <a:schemeClr val="dk1"/>
              </a:solidFill>
              <a:latin typeface="Times New Roman"/>
              <a:ea typeface="Times New Roman"/>
              <a:cs typeface="Times New Roman"/>
              <a:sym typeface="Times New Roman"/>
            </a:endParaRPr>
          </a:p>
          <a:p>
            <a:pPr indent="-285750" lvl="0" marL="285750" marR="0" rtl="0" algn="l">
              <a:spcBef>
                <a:spcPts val="20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Communication skills: </a:t>
            </a:r>
            <a:r>
              <a:rPr lang="en-US" sz="1800">
                <a:solidFill>
                  <a:schemeClr val="dk1"/>
                </a:solidFill>
                <a:latin typeface="Times New Roman"/>
                <a:ea typeface="Times New Roman"/>
                <a:cs typeface="Times New Roman"/>
                <a:sym typeface="Times New Roman"/>
              </a:rPr>
              <a:t>strong oral and written communication skills, and the ability to interact with people at all levels</a:t>
            </a:r>
            <a:endParaRPr sz="1800">
              <a:solidFill>
                <a:schemeClr val="dk1"/>
              </a:solidFill>
              <a:latin typeface="Times New Roman"/>
              <a:ea typeface="Times New Roman"/>
              <a:cs typeface="Times New Roman"/>
              <a:sym typeface="Times New Roman"/>
            </a:endParaRPr>
          </a:p>
          <a:p>
            <a:pPr indent="-285750" lvl="0" marL="285750" marR="0" rtl="0" algn="l">
              <a:spcBef>
                <a:spcPts val="20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Business skill: </a:t>
            </a:r>
            <a:r>
              <a:rPr lang="en-US" sz="1800">
                <a:solidFill>
                  <a:schemeClr val="dk1"/>
                </a:solidFill>
                <a:latin typeface="Times New Roman"/>
                <a:ea typeface="Times New Roman"/>
                <a:cs typeface="Times New Roman"/>
                <a:sym typeface="Times New Roman"/>
              </a:rPr>
              <a:t>business-oriented, curious, comfortable with financial tools</a:t>
            </a:r>
            <a:endParaRPr sz="1800">
              <a:solidFill>
                <a:schemeClr val="dk1"/>
              </a:solidFill>
              <a:latin typeface="Times New Roman"/>
              <a:ea typeface="Times New Roman"/>
              <a:cs typeface="Times New Roman"/>
              <a:sym typeface="Times New Roman"/>
            </a:endParaRPr>
          </a:p>
          <a:p>
            <a:pPr indent="-285750" lvl="0" marL="285750" marR="0" rtl="0" algn="l">
              <a:spcBef>
                <a:spcPts val="20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Critical thinking ability: </a:t>
            </a:r>
            <a:r>
              <a:rPr lang="en-US" sz="1800">
                <a:solidFill>
                  <a:schemeClr val="dk1"/>
                </a:solidFill>
                <a:latin typeface="Times New Roman"/>
                <a:ea typeface="Times New Roman"/>
                <a:cs typeface="Times New Roman"/>
                <a:sym typeface="Times New Roman"/>
              </a:rPr>
              <a:t>the ability to compare, classify, evaluate, recognize patterns, analyze cause-and-effect, and apply logic.</a:t>
            </a:r>
            <a:endParaRPr sz="1800">
              <a:solidFill>
                <a:schemeClr val="dk1"/>
              </a:solidFill>
              <a:latin typeface="Times New Roman"/>
              <a:ea typeface="Times New Roman"/>
              <a:cs typeface="Times New Roman"/>
              <a:sym typeface="Times New Roman"/>
            </a:endParaRPr>
          </a:p>
          <a:p>
            <a:pPr indent="-285750" lvl="0" marL="285750" marR="0" rtl="0" algn="l">
              <a:spcBef>
                <a:spcPts val="20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Education: </a:t>
            </a:r>
            <a:r>
              <a:rPr lang="en-US" sz="1800">
                <a:solidFill>
                  <a:schemeClr val="dk1"/>
                </a:solidFill>
                <a:latin typeface="Times New Roman"/>
                <a:ea typeface="Times New Roman"/>
                <a:cs typeface="Times New Roman"/>
                <a:sym typeface="Times New Roman"/>
              </a:rPr>
              <a:t>a college degree in information systems, computer science, or management information system, and some IT experience usually is required. </a:t>
            </a:r>
            <a:endParaRPr/>
          </a:p>
          <a:p>
            <a:pPr indent="0" lvl="0" marL="0" marR="0" rtl="0" algn="l">
              <a:spcBef>
                <a:spcPts val="1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p:txBody>
      </p:sp>
      <p:sp>
        <p:nvSpPr>
          <p:cNvPr id="230" name="Google Shape;230;p16"/>
          <p:cNvSpPr txBox="1"/>
          <p:nvPr/>
        </p:nvSpPr>
        <p:spPr>
          <a:xfrm>
            <a:off x="1742904" y="3464843"/>
            <a:ext cx="473206" cy="369332"/>
          </a:xfrm>
          <a:prstGeom prst="rect">
            <a:avLst/>
          </a:prstGeom>
          <a:noFill/>
          <a:ln>
            <a:noFill/>
          </a:ln>
        </p:spPr>
        <p:txBody>
          <a:bodyPr anchorCtr="0" anchor="t" bIns="45700" lIns="91425" spcFirstLastPara="1" rIns="91425" wrap="square" tIns="45700">
            <a:spAutoFit/>
          </a:bodyPr>
          <a:lstStyle/>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2025-08-25T18:07:16Z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