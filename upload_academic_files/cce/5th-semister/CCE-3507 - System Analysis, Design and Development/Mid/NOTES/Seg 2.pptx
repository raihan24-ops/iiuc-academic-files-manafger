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7"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303" r:id="rId27"/>
    <p:sldId id="304" r:id="rId28"/>
    <p:sldId id="282" r:id="rId29"/>
    <p:sldId id="283" r:id="rId30"/>
    <p:sldId id="284" r:id="rId31"/>
    <p:sldId id="285" r:id="rId32"/>
    <p:sldId id="286" r:id="rId33"/>
    <p:sldId id="287" r:id="rId34"/>
    <p:sldId id="288" r:id="rId35"/>
    <p:sldId id="308" r:id="rId36"/>
    <p:sldId id="309" r:id="rId37"/>
    <p:sldId id="295" r:id="rId38"/>
    <p:sldId id="296" r:id="rId39"/>
    <p:sldId id="297" r:id="rId40"/>
    <p:sldId id="298" r:id="rId41"/>
    <p:sldId id="307" r:id="rId42"/>
    <p:sldId id="305" r:id="rId43"/>
    <p:sldId id="306" r:id="rId44"/>
    <p:sldId id="302"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7464" y="802298"/>
            <a:ext cx="8637073" cy="2541431"/>
          </a:xfrm>
        </p:spPr>
        <p:txBody>
          <a:bodyPr bIns="0" anchor="b">
            <a:normAutofit/>
          </a:bodyPr>
          <a:lstStyle>
            <a:lvl1pPr algn="l">
              <a:defRPr sz="6600"/>
            </a:lvl1pPr>
          </a:lstStyle>
          <a:p>
            <a:r>
              <a:rPr lang="en-US" noProof="0" smtClean="0"/>
              <a:t>Click to edit Master title style</a:t>
            </a:r>
            <a:endParaRPr lang="en-US" noProof="0"/>
          </a:p>
        </p:txBody>
      </p:sp>
      <p:sp>
        <p:nvSpPr>
          <p:cNvPr id="3" name="Subtitle 2"/>
          <p:cNvSpPr>
            <a:spLocks noGrp="1"/>
          </p:cNvSpPr>
          <p:nvPr>
            <p:ph type="subTitle" idx="1"/>
          </p:nvPr>
        </p:nvSpPr>
        <p:spPr>
          <a:xfrm>
            <a:off x="1777464"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6913821" y="6370429"/>
            <a:ext cx="3500715" cy="309201"/>
          </a:xfrm>
        </p:spPr>
        <p:txBody>
          <a:bodyPr/>
          <a:lstStyle/>
          <a:p>
            <a:fld id="{B61BEF0D-F0BB-DE4B-95CE-6DB70DBA9567}" type="datetimeFigureOut">
              <a:rPr lang="en-US" smtClean="0"/>
              <a:pPr/>
              <a:t>08-Nov-25</a:t>
            </a:fld>
            <a:endParaRPr lang="en-US" dirty="0"/>
          </a:p>
        </p:txBody>
      </p:sp>
      <p:sp>
        <p:nvSpPr>
          <p:cNvPr id="5" name="Footer Placeholder 4"/>
          <p:cNvSpPr>
            <a:spLocks noGrp="1"/>
          </p:cNvSpPr>
          <p:nvPr>
            <p:ph type="ftr" sz="quarter" idx="11"/>
          </p:nvPr>
        </p:nvSpPr>
        <p:spPr>
          <a:xfrm>
            <a:off x="1777464" y="6370430"/>
            <a:ext cx="4973915" cy="309201"/>
          </a:xfrm>
        </p:spPr>
        <p:txBody>
          <a:bodyPr/>
          <a:lstStyle/>
          <a:p>
            <a:endParaRPr lang="en-US" dirty="0"/>
          </a:p>
        </p:txBody>
      </p:sp>
      <p:cxnSp>
        <p:nvCxnSpPr>
          <p:cNvPr id="15" name="Straight Connector 14"/>
          <p:cNvCxnSpPr/>
          <p:nvPr/>
        </p:nvCxnSpPr>
        <p:spPr>
          <a:xfrm>
            <a:off x="1777464"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4778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42A54C80-263E-416B-A8E0-580EDEADCBDC}" type="datetimeFigureOut">
              <a:rPr lang="en-US" smtClean="0"/>
              <a:t>08-Nov-25</a:t>
            </a:fld>
            <a:endParaRPr lang="en-US" dirty="0"/>
          </a:p>
        </p:txBody>
      </p:sp>
      <p:sp>
        <p:nvSpPr>
          <p:cNvPr id="5" name="Footer Placeholder 4"/>
          <p:cNvSpPr>
            <a:spLocks noGrp="1"/>
          </p:cNvSpPr>
          <p:nvPr>
            <p:ph type="ftr" sz="quarter" idx="11"/>
          </p:nvPr>
        </p:nvSpPr>
        <p:spPr/>
        <p:txBody>
          <a:bodyPr/>
          <a:lstStyle/>
          <a:p>
            <a:endParaRPr lang="en-US" dirty="0"/>
          </a:p>
        </p:txBody>
      </p:sp>
      <p:cxnSp>
        <p:nvCxnSpPr>
          <p:cNvPr id="33" name="Straight Connector 32"/>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 name="Title 5">
            <a:extLst>
              <a:ext uri="{FF2B5EF4-FFF2-40B4-BE49-F238E27FC236}">
                <a16:creationId xmlns:a16="http://schemas.microsoft.com/office/drawing/2014/main" id="{C414FF1F-6558-4E39-87DB-276E44F5477C}"/>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2959937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887950"/>
          </a:xfrm>
        </p:spPr>
        <p:txBody>
          <a:bodyPr anchor="b">
            <a:normAutofit/>
          </a:bodyPr>
          <a:lstStyle>
            <a:lvl1pPr algn="l">
              <a:defRPr sz="3600"/>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780777"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08-Nov-25</a:t>
            </a:fld>
            <a:endParaRPr lang="en-US" dirty="0"/>
          </a:p>
        </p:txBody>
      </p:sp>
      <p:sp>
        <p:nvSpPr>
          <p:cNvPr id="5" name="Footer Placeholder 4"/>
          <p:cNvSpPr>
            <a:spLocks noGrp="1"/>
          </p:cNvSpPr>
          <p:nvPr>
            <p:ph type="ftr" sz="quarter" idx="11"/>
          </p:nvPr>
        </p:nvSpPr>
        <p:spPr/>
        <p:txBody>
          <a:bodyPr/>
          <a:lstStyle/>
          <a:p>
            <a:endParaRPr lang="en-US" dirty="0"/>
          </a:p>
        </p:txBody>
      </p:sp>
      <p:cxnSp>
        <p:nvCxnSpPr>
          <p:cNvPr id="15" name="Straight Connector 14"/>
          <p:cNvCxnSpPr/>
          <p:nvPr/>
        </p:nvCxnSpPr>
        <p:spPr>
          <a:xfrm>
            <a:off x="1780777"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91668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2239" y="2161853"/>
            <a:ext cx="4645152" cy="3448595"/>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258679" y="2168318"/>
            <a:ext cx="4645152" cy="344152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42A54C80-263E-416B-A8E0-580EDEADCBDC}" type="datetimeFigureOut">
              <a:rPr lang="en-US" smtClean="0"/>
              <a:t>08-Nov-25</a:t>
            </a:fld>
            <a:endParaRPr lang="en-US" dirty="0"/>
          </a:p>
        </p:txBody>
      </p:sp>
      <p:sp>
        <p:nvSpPr>
          <p:cNvPr id="6" name="Footer Placeholder 5"/>
          <p:cNvSpPr>
            <a:spLocks noGrp="1"/>
          </p:cNvSpPr>
          <p:nvPr>
            <p:ph type="ftr" sz="quarter" idx="11"/>
          </p:nvPr>
        </p:nvSpPr>
        <p:spPr/>
        <p:txBody>
          <a:bodyPr/>
          <a:lstStyle/>
          <a:p>
            <a:endParaRPr lang="en-US" dirty="0"/>
          </a:p>
        </p:txBody>
      </p:sp>
      <p:cxnSp>
        <p:nvCxnSpPr>
          <p:cNvPr id="9" name="Straight Connector 8">
            <a:extLst>
              <a:ext uri="{FF2B5EF4-FFF2-40B4-BE49-F238E27FC236}">
                <a16:creationId xmlns:a16="http://schemas.microsoft.com/office/drawing/2014/main" id="{4715607D-9DE2-4687-AAF8-EF2427252A90}"/>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2F96D46B-C1B8-46AB-87DF-61A8058B1F42}"/>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2481283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87315" y="1950795"/>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287315" y="2755515"/>
            <a:ext cx="4645152" cy="2644457"/>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252486" y="1954249"/>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252486" y="2752737"/>
            <a:ext cx="4645152" cy="2637371"/>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fld id="{B61BEF0D-F0BB-DE4B-95CE-6DB70DBA9567}" type="datetimeFigureOut">
              <a:rPr lang="en-US" smtClean="0"/>
              <a:pPr/>
              <a:t>08-Nov-25</a:t>
            </a:fld>
            <a:endParaRPr lang="en-US" dirty="0"/>
          </a:p>
        </p:txBody>
      </p:sp>
      <p:sp>
        <p:nvSpPr>
          <p:cNvPr id="8" name="Footer Placeholder 7"/>
          <p:cNvSpPr>
            <a:spLocks noGrp="1"/>
          </p:cNvSpPr>
          <p:nvPr>
            <p:ph type="ftr" sz="quarter" idx="11"/>
          </p:nvPr>
        </p:nvSpPr>
        <p:spPr/>
        <p:txBody>
          <a:bodyPr/>
          <a:lstStyle/>
          <a:p>
            <a:endParaRPr lang="en-US" dirty="0"/>
          </a:p>
        </p:txBody>
      </p:sp>
      <p:cxnSp>
        <p:nvCxnSpPr>
          <p:cNvPr id="11" name="Straight Connector 10">
            <a:extLst>
              <a:ext uri="{FF2B5EF4-FFF2-40B4-BE49-F238E27FC236}">
                <a16:creationId xmlns:a16="http://schemas.microsoft.com/office/drawing/2014/main" id="{C384AA55-1960-47F4-BA3C-E97A6F2D0B19}"/>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Title 8">
            <a:extLst>
              <a:ext uri="{FF2B5EF4-FFF2-40B4-BE49-F238E27FC236}">
                <a16:creationId xmlns:a16="http://schemas.microsoft.com/office/drawing/2014/main" id="{09471694-1220-4CFC-A31F-622E5D3DE2D5}"/>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3233303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08-Nov-25</a:t>
            </a:fld>
            <a:endParaRPr lang="en-US" dirty="0"/>
          </a:p>
        </p:txBody>
      </p:sp>
      <p:sp>
        <p:nvSpPr>
          <p:cNvPr id="4" name="Footer Placeholder 3"/>
          <p:cNvSpPr>
            <a:spLocks noGrp="1"/>
          </p:cNvSpPr>
          <p:nvPr>
            <p:ph type="ftr" sz="quarter" idx="11"/>
          </p:nvPr>
        </p:nvSpPr>
        <p:spPr/>
        <p:txBody>
          <a:bodyPr/>
          <a:lstStyle/>
          <a:p>
            <a:endParaRPr lang="en-US" dirty="0"/>
          </a:p>
        </p:txBody>
      </p:sp>
      <p:cxnSp>
        <p:nvCxnSpPr>
          <p:cNvPr id="7" name="Straight Connector 6">
            <a:extLst>
              <a:ext uri="{FF2B5EF4-FFF2-40B4-BE49-F238E27FC236}">
                <a16:creationId xmlns:a16="http://schemas.microsoft.com/office/drawing/2014/main" id="{FFB55B52-B62C-4800-AAC1-B15AF2FE1F45}"/>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2961730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Only">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08-Nov-25</a:t>
            </a:fld>
            <a:endParaRPr lang="en-US" dirty="0"/>
          </a:p>
        </p:txBody>
      </p:sp>
      <p:sp>
        <p:nvSpPr>
          <p:cNvPr id="4" name="Footer Placeholder 3"/>
          <p:cNvSpPr>
            <a:spLocks noGrp="1"/>
          </p:cNvSpPr>
          <p:nvPr>
            <p:ph type="ftr" sz="quarter" idx="11"/>
          </p:nvPr>
        </p:nvSpPr>
        <p:spPr/>
        <p:txBody>
          <a:bodyPr/>
          <a:lstStyle/>
          <a:p>
            <a:endParaRPr lang="en-US" dirty="0"/>
          </a:p>
        </p:txBody>
      </p:sp>
      <p:cxnSp>
        <p:nvCxnSpPr>
          <p:cNvPr id="7" name="Straight Connector 6">
            <a:extLst>
              <a:ext uri="{FF2B5EF4-FFF2-40B4-BE49-F238E27FC236}">
                <a16:creationId xmlns:a16="http://schemas.microsoft.com/office/drawing/2014/main" id="{FFB55B52-B62C-4800-AAC1-B15AF2FE1F45}"/>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a:extLst>
              <a:ext uri="{FF2B5EF4-FFF2-40B4-BE49-F238E27FC236}">
                <a16:creationId xmlns:a16="http://schemas.microsoft.com/office/drawing/2014/main" id="{3DF0054B-B64C-418E-A1B8-428EE4A1DB50}"/>
              </a:ext>
            </a:extLst>
          </p:cNvPr>
          <p:cNvSpPr>
            <a:spLocks noGrp="1"/>
          </p:cNvSpPr>
          <p:nvPr>
            <p:ph type="title"/>
          </p:nvPr>
        </p:nvSpPr>
        <p:spPr/>
        <p:txBody>
          <a:bodyPr/>
          <a:lstStyle/>
          <a:p>
            <a:r>
              <a:rPr lang="en-US" noProof="0" smtClean="0"/>
              <a:t>Click to edit Master title style</a:t>
            </a:r>
            <a:endParaRPr lang="en-US" noProof="0"/>
          </a:p>
        </p:txBody>
      </p:sp>
      <p:sp>
        <p:nvSpPr>
          <p:cNvPr id="6" name="Text Placeholder 5">
            <a:extLst>
              <a:ext uri="{FF2B5EF4-FFF2-40B4-BE49-F238E27FC236}">
                <a16:creationId xmlns:a16="http://schemas.microsoft.com/office/drawing/2014/main" id="{A5A680F6-C147-410B-94DF-19850752D7DF}"/>
              </a:ext>
            </a:extLst>
          </p:cNvPr>
          <p:cNvSpPr>
            <a:spLocks noGrp="1"/>
          </p:cNvSpPr>
          <p:nvPr>
            <p:ph type="body" sz="quarter" idx="12"/>
          </p:nvPr>
        </p:nvSpPr>
        <p:spPr>
          <a:xfrm>
            <a:off x="1694656" y="1865037"/>
            <a:ext cx="8802688" cy="3127927"/>
          </a:xfrm>
        </p:spPr>
        <p:txBody>
          <a:bodyPr anchor="ctr">
            <a:normAutofit/>
          </a:bodyPr>
          <a:lstStyle>
            <a:lvl1pPr marL="0" indent="0" algn="ctr">
              <a:buNone/>
              <a:defRPr sz="6000"/>
            </a:lvl1pPr>
            <a:lvl2pPr marL="457200" indent="0">
              <a:buNone/>
              <a:defRPr/>
            </a:lvl2pPr>
          </a:lstStyle>
          <a:p>
            <a:pPr lvl="0"/>
            <a:r>
              <a:rPr lang="en-US" noProof="0" smtClean="0"/>
              <a:t>Edit Master text styles</a:t>
            </a:r>
          </a:p>
        </p:txBody>
      </p:sp>
    </p:spTree>
    <p:extLst>
      <p:ext uri="{BB962C8B-B14F-4D97-AF65-F5344CB8AC3E}">
        <p14:creationId xmlns:p14="http://schemas.microsoft.com/office/powerpoint/2010/main" val="3771383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08-Nov-25</a:t>
            </a:fld>
            <a:endParaRPr lang="en-US" dirty="0"/>
          </a:p>
        </p:txBody>
      </p:sp>
      <p:sp>
        <p:nvSpPr>
          <p:cNvPr id="3" name="Footer Placeholder 2"/>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71213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5246" y="1645522"/>
            <a:ext cx="5807176" cy="3840852"/>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1290909" y="1645522"/>
            <a:ext cx="3600000" cy="383672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08-Nov-25</a:t>
            </a:fld>
            <a:endParaRPr lang="en-US" dirty="0"/>
          </a:p>
        </p:txBody>
      </p:sp>
      <p:sp>
        <p:nvSpPr>
          <p:cNvPr id="6" name="Footer Placeholder 5"/>
          <p:cNvSpPr>
            <a:spLocks noGrp="1"/>
          </p:cNvSpPr>
          <p:nvPr>
            <p:ph type="ftr" sz="quarter" idx="11"/>
          </p:nvPr>
        </p:nvSpPr>
        <p:spPr/>
        <p:txBody>
          <a:bodyPr/>
          <a:lstStyle/>
          <a:p>
            <a:endParaRPr lang="en-US" dirty="0"/>
          </a:p>
        </p:txBody>
      </p:sp>
      <p:cxnSp>
        <p:nvCxnSpPr>
          <p:cNvPr id="9" name="Straight Connector 8">
            <a:extLst>
              <a:ext uri="{FF2B5EF4-FFF2-40B4-BE49-F238E27FC236}">
                <a16:creationId xmlns:a16="http://schemas.microsoft.com/office/drawing/2014/main" id="{6CC09F73-0AD6-4A1E-A331-75A00B808982}"/>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Title 6">
            <a:extLst>
              <a:ext uri="{FF2B5EF4-FFF2-40B4-BE49-F238E27FC236}">
                <a16:creationId xmlns:a16="http://schemas.microsoft.com/office/drawing/2014/main" id="{1B74F78C-6D32-47C3-ABB2-6E7092A9C4A3}"/>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568904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and Gallery ">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0394"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Text Placeholder 3"/>
          <p:cNvSpPr>
            <a:spLocks noGrp="1"/>
          </p:cNvSpPr>
          <p:nvPr>
            <p:ph type="body" sz="half" idx="2"/>
          </p:nvPr>
        </p:nvSpPr>
        <p:spPr>
          <a:xfrm>
            <a:off x="7873638" y="5144980"/>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08-Nov-25</a:t>
            </a:fld>
            <a:endParaRPr lang="en-US" dirty="0"/>
          </a:p>
        </p:txBody>
      </p:sp>
      <p:sp>
        <p:nvSpPr>
          <p:cNvPr id="6" name="Footer Placeholder 5"/>
          <p:cNvSpPr>
            <a:spLocks noGrp="1"/>
          </p:cNvSpPr>
          <p:nvPr>
            <p:ph type="ftr" sz="quarter" idx="11"/>
          </p:nvPr>
        </p:nvSpPr>
        <p:spPr/>
        <p:txBody>
          <a:bodyPr/>
          <a:lstStyle/>
          <a:p>
            <a:endParaRPr lang="en-US" dirty="0"/>
          </a:p>
        </p:txBody>
      </p:sp>
      <p:cxnSp>
        <p:nvCxnSpPr>
          <p:cNvPr id="9" name="Straight Connector 8">
            <a:extLst>
              <a:ext uri="{FF2B5EF4-FFF2-40B4-BE49-F238E27FC236}">
                <a16:creationId xmlns:a16="http://schemas.microsoft.com/office/drawing/2014/main" id="{6CC09F73-0AD6-4A1E-A331-75A00B808982}"/>
              </a:ext>
            </a:extLst>
          </p:cNvPr>
          <p:cNvCxnSpPr/>
          <p:nvPr/>
        </p:nvCxnSpPr>
        <p:spPr>
          <a:xfrm>
            <a:off x="1292239" y="148660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Content Placeholder 2">
            <a:extLst>
              <a:ext uri="{FF2B5EF4-FFF2-40B4-BE49-F238E27FC236}">
                <a16:creationId xmlns:a16="http://schemas.microsoft.com/office/drawing/2014/main" id="{9DE9A20D-024F-4A17-9B20-526AA4037253}"/>
              </a:ext>
            </a:extLst>
          </p:cNvPr>
          <p:cNvSpPr>
            <a:spLocks noGrp="1"/>
          </p:cNvSpPr>
          <p:nvPr>
            <p:ph idx="12"/>
          </p:nvPr>
        </p:nvSpPr>
        <p:spPr>
          <a:xfrm>
            <a:off x="4602108"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Content Placeholder 2">
            <a:extLst>
              <a:ext uri="{FF2B5EF4-FFF2-40B4-BE49-F238E27FC236}">
                <a16:creationId xmlns:a16="http://schemas.microsoft.com/office/drawing/2014/main" id="{37D8F60F-F9DD-4AAC-BF28-C004CCDF2D69}"/>
              </a:ext>
            </a:extLst>
          </p:cNvPr>
          <p:cNvSpPr>
            <a:spLocks noGrp="1"/>
          </p:cNvSpPr>
          <p:nvPr>
            <p:ph idx="13"/>
          </p:nvPr>
        </p:nvSpPr>
        <p:spPr>
          <a:xfrm>
            <a:off x="7873638" y="3128470"/>
            <a:ext cx="3024000" cy="1906565"/>
          </a:xfrm>
        </p:spPr>
        <p:txBody>
          <a:bodyPr anchor="ct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Text Placeholder 3">
            <a:extLst>
              <a:ext uri="{FF2B5EF4-FFF2-40B4-BE49-F238E27FC236}">
                <a16:creationId xmlns:a16="http://schemas.microsoft.com/office/drawing/2014/main" id="{8F09FDD8-5B1C-4AAA-8EEC-0A77C9E477D1}"/>
              </a:ext>
            </a:extLst>
          </p:cNvPr>
          <p:cNvSpPr>
            <a:spLocks noGrp="1"/>
          </p:cNvSpPr>
          <p:nvPr>
            <p:ph type="body" sz="half" idx="14"/>
          </p:nvPr>
        </p:nvSpPr>
        <p:spPr>
          <a:xfrm>
            <a:off x="4595889" y="5144979"/>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12" name="Text Placeholder 3">
            <a:extLst>
              <a:ext uri="{FF2B5EF4-FFF2-40B4-BE49-F238E27FC236}">
                <a16:creationId xmlns:a16="http://schemas.microsoft.com/office/drawing/2014/main" id="{E6DF0B7E-E17E-4875-966D-4DE67F755B71}"/>
              </a:ext>
            </a:extLst>
          </p:cNvPr>
          <p:cNvSpPr>
            <a:spLocks noGrp="1"/>
          </p:cNvSpPr>
          <p:nvPr>
            <p:ph type="body" sz="half" idx="15"/>
          </p:nvPr>
        </p:nvSpPr>
        <p:spPr>
          <a:xfrm>
            <a:off x="1306587" y="5144978"/>
            <a:ext cx="3036438" cy="807405"/>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cxnSp>
        <p:nvCxnSpPr>
          <p:cNvPr id="13" name="Straight Connector 12">
            <a:extLst>
              <a:ext uri="{FF2B5EF4-FFF2-40B4-BE49-F238E27FC236}">
                <a16:creationId xmlns:a16="http://schemas.microsoft.com/office/drawing/2014/main" id="{5685D963-B130-47E9-AFCC-AEBED2B1155B}"/>
              </a:ext>
            </a:extLst>
          </p:cNvPr>
          <p:cNvCxnSpPr>
            <a:cxnSpLocks/>
          </p:cNvCxnSpPr>
          <p:nvPr/>
        </p:nvCxnSpPr>
        <p:spPr>
          <a:xfrm>
            <a:off x="448407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2FA9B6CF-713A-4942-BE35-A61AFCDDFD3D}"/>
              </a:ext>
            </a:extLst>
          </p:cNvPr>
          <p:cNvCxnSpPr>
            <a:cxnSpLocks/>
          </p:cNvCxnSpPr>
          <p:nvPr/>
        </p:nvCxnSpPr>
        <p:spPr>
          <a:xfrm>
            <a:off x="7757747" y="5144978"/>
            <a:ext cx="0" cy="807405"/>
          </a:xfrm>
          <a:prstGeom prst="line">
            <a:avLst/>
          </a:prstGeom>
          <a:ln w="19050">
            <a:solidFill>
              <a:schemeClr val="bg2">
                <a:lumMod val="75000"/>
              </a:schemeClr>
            </a:solidFill>
          </a:ln>
        </p:spPr>
        <p:style>
          <a:lnRef idx="3">
            <a:schemeClr val="accent1"/>
          </a:lnRef>
          <a:fillRef idx="0">
            <a:schemeClr val="accent1"/>
          </a:fillRef>
          <a:effectRef idx="2">
            <a:schemeClr val="accent1"/>
          </a:effectRef>
          <a:fontRef idx="minor">
            <a:schemeClr val="tx1"/>
          </a:fontRef>
        </p:style>
      </p:cxnSp>
      <p:sp>
        <p:nvSpPr>
          <p:cNvPr id="19" name="Text Placeholder 18">
            <a:extLst>
              <a:ext uri="{FF2B5EF4-FFF2-40B4-BE49-F238E27FC236}">
                <a16:creationId xmlns:a16="http://schemas.microsoft.com/office/drawing/2014/main" id="{93809A32-C7A4-4739-994B-BE492F855ACC}"/>
              </a:ext>
            </a:extLst>
          </p:cNvPr>
          <p:cNvSpPr>
            <a:spLocks noGrp="1"/>
          </p:cNvSpPr>
          <p:nvPr>
            <p:ph type="body" sz="quarter" idx="16"/>
          </p:nvPr>
        </p:nvSpPr>
        <p:spPr>
          <a:xfrm>
            <a:off x="1290908" y="1617663"/>
            <a:ext cx="9618391" cy="1336675"/>
          </a:xfrm>
        </p:spPr>
        <p:txBody>
          <a:bodyPr>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Title 6">
            <a:extLst>
              <a:ext uri="{FF2B5EF4-FFF2-40B4-BE49-F238E27FC236}">
                <a16:creationId xmlns:a16="http://schemas.microsoft.com/office/drawing/2014/main" id="{2C1ABD52-D5FE-4FC2-8449-5DA0E52853E1}"/>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782789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bwMode="ltGray">
      <p:bgPr>
        <a:blipFill dpi="0" rotWithShape="1">
          <a:blip r:embed="rId2"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noProof="0" smtClean="0"/>
              <a:t>Click to edit Master title style</a:t>
            </a:r>
            <a:endParaRPr lang="en-US" noProof="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7236069" y="6332578"/>
            <a:ext cx="4315852" cy="320123"/>
          </a:xfrm>
        </p:spPr>
        <p:txBody>
          <a:bodyPr/>
          <a:lstStyle>
            <a:lvl1pPr algn="r">
              <a:defRPr/>
            </a:lvl1pPr>
          </a:lstStyle>
          <a:p>
            <a:fld id="{B61BEF0D-F0BB-DE4B-95CE-6DB70DBA9567}" type="datetimeFigureOut">
              <a:rPr lang="en-US" smtClean="0"/>
              <a:pPr/>
              <a:t>08-Nov-25</a:t>
            </a:fld>
            <a:endParaRPr lang="en-US" dirty="0"/>
          </a:p>
        </p:txBody>
      </p:sp>
      <p:sp>
        <p:nvSpPr>
          <p:cNvPr id="6" name="Footer Placeholder 5"/>
          <p:cNvSpPr>
            <a:spLocks noGrp="1"/>
          </p:cNvSpPr>
          <p:nvPr>
            <p:ph type="ftr" sz="quarter" idx="11"/>
          </p:nvPr>
        </p:nvSpPr>
        <p:spPr>
          <a:xfrm>
            <a:off x="1447382" y="6332578"/>
            <a:ext cx="5541004" cy="320931"/>
          </a:xfrm>
        </p:spPr>
        <p:txBody>
          <a:bodyPr/>
          <a:lstStyle/>
          <a:p>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03732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cstate="screen">
            <a:alphaModFix amt="4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cstate="screen">
            <a:extLst>
              <a:ext uri="{BEBA8EAE-BF5A-486C-A8C5-ECC9F3942E4B}">
                <a14:imgProps xmlns:a14="http://schemas.microsoft.com/office/drawing/2010/main">
                  <a14:imgLayer r:embed="rId15">
                    <a14:imgEffect>
                      <a14:brightnessContrast contrast="40000"/>
                    </a14:imgEffect>
                  </a14:imgLayer>
                </a14:imgProps>
              </a:ex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sp>
        <p:nvSpPr>
          <p:cNvPr id="2" name="Title Placeholder 1"/>
          <p:cNvSpPr>
            <a:spLocks noGrp="1"/>
          </p:cNvSpPr>
          <p:nvPr>
            <p:ph type="title"/>
          </p:nvPr>
        </p:nvSpPr>
        <p:spPr>
          <a:xfrm>
            <a:off x="1294363" y="804519"/>
            <a:ext cx="9603275" cy="1049235"/>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294363" y="2015732"/>
            <a:ext cx="9603275" cy="3450613"/>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7396923" y="6340793"/>
            <a:ext cx="3500715" cy="309201"/>
          </a:xfrm>
          <a:prstGeom prst="rect">
            <a:avLst/>
          </a:prstGeom>
        </p:spPr>
        <p:txBody>
          <a:bodyPr vert="horz" lIns="91440" tIns="45720" rIns="91440" bIns="45720" rtlCol="0" anchor="ctr"/>
          <a:lstStyle>
            <a:lvl1pPr algn="r">
              <a:defRPr sz="1000">
                <a:solidFill>
                  <a:schemeClr val="bg1"/>
                </a:solidFill>
              </a:defRPr>
            </a:lvl1pPr>
          </a:lstStyle>
          <a:p>
            <a:fld id="{B61BEF0D-F0BB-DE4B-95CE-6DB70DBA9567}" type="datetimeFigureOut">
              <a:rPr lang="en-US" smtClean="0"/>
              <a:pPr/>
              <a:t>08-Nov-25</a:t>
            </a:fld>
            <a:endParaRPr lang="en-US" dirty="0"/>
          </a:p>
        </p:txBody>
      </p:sp>
      <p:sp>
        <p:nvSpPr>
          <p:cNvPr id="5" name="Footer Placeholder 4"/>
          <p:cNvSpPr>
            <a:spLocks noGrp="1"/>
          </p:cNvSpPr>
          <p:nvPr>
            <p:ph type="ftr" sz="quarter" idx="3"/>
          </p:nvPr>
        </p:nvSpPr>
        <p:spPr>
          <a:xfrm>
            <a:off x="1294364" y="6339730"/>
            <a:ext cx="5938836" cy="309201"/>
          </a:xfrm>
          <a:prstGeom prst="rect">
            <a:avLst/>
          </a:prstGeom>
        </p:spPr>
        <p:txBody>
          <a:bodyPr vert="horz" lIns="91440" tIns="45720" rIns="91440" bIns="45720" rtlCol="0" anchor="ctr"/>
          <a:lstStyle>
            <a:lvl1pPr algn="l">
              <a:defRPr sz="1000">
                <a:solidFill>
                  <a:schemeClr val="bg1"/>
                </a:solidFill>
              </a:defRPr>
            </a:lvl1pPr>
          </a:lstStyle>
          <a:p>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003563"/>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0DCA56C-7A25-4BD4-AA72-5256E68BE4CB}"/>
              </a:ext>
            </a:extLst>
          </p:cNvPr>
          <p:cNvSpPr>
            <a:spLocks noGrp="1"/>
          </p:cNvSpPr>
          <p:nvPr>
            <p:ph type="ctrTitle"/>
          </p:nvPr>
        </p:nvSpPr>
        <p:spPr>
          <a:xfrm>
            <a:off x="326571" y="365759"/>
            <a:ext cx="12997543" cy="600529"/>
          </a:xfrm>
        </p:spPr>
        <p:txBody>
          <a:bodyPr>
            <a:normAutofit/>
          </a:bodyPr>
          <a:lstStyle/>
          <a:p>
            <a:r>
              <a:rPr lang="en-US" sz="3600" dirty="0" smtClean="0">
                <a:solidFill>
                  <a:srgbClr val="002060"/>
                </a:solidFill>
                <a:latin typeface="Times New Roman" panose="02020603050405020304" pitchFamily="18" charset="0"/>
                <a:cs typeface="Times New Roman" panose="02020603050405020304" pitchFamily="18" charset="0"/>
              </a:rPr>
              <a:t>International Islamic University Chittagong</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7744691" y="3976256"/>
            <a:ext cx="4273138" cy="1200329"/>
          </a:xfrm>
          <a:prstGeom prst="rect">
            <a:avLst/>
          </a:prstGeom>
          <a:noFill/>
        </p:spPr>
        <p:txBody>
          <a:bodyPr wrap="square" rtlCol="0">
            <a:spAutoFit/>
          </a:bodyPr>
          <a:lstStyle/>
          <a:p>
            <a:r>
              <a:rPr lang="en-US" sz="2400" dirty="0" smtClean="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Abu Raihan Anchari Miskat</a:t>
            </a:r>
          </a:p>
          <a:p>
            <a:r>
              <a:rPr lang="en-US" sz="2400" dirty="0" smtClean="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Adjunct Faculty</a:t>
            </a:r>
          </a:p>
          <a:p>
            <a:r>
              <a:rPr lang="en-US" sz="2400" dirty="0" smtClean="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Dept. of CCE, IIUC</a:t>
            </a:r>
            <a:endParaRPr lang="en-US" sz="2400" dirty="0">
              <a:solidFill>
                <a:schemeClr val="tx1">
                  <a:lumMod val="95000"/>
                  <a:lumOff val="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TextBox 12"/>
          <p:cNvSpPr txBox="1"/>
          <p:nvPr/>
        </p:nvSpPr>
        <p:spPr>
          <a:xfrm>
            <a:off x="1953887" y="1270347"/>
            <a:ext cx="8769531" cy="523220"/>
          </a:xfrm>
          <a:prstGeom prst="rect">
            <a:avLst/>
          </a:prstGeom>
          <a:noFill/>
        </p:spPr>
        <p:txBody>
          <a:bodyPr wrap="square" rtlCol="0">
            <a:spAutoFit/>
          </a:bodyPr>
          <a:lstStyle/>
          <a:p>
            <a:r>
              <a:rPr lang="en-US" sz="2800" dirty="0" smtClean="0">
                <a:solidFill>
                  <a:srgbClr val="002060"/>
                </a:solidFill>
                <a:latin typeface="Times New Roman" panose="02020603050405020304" pitchFamily="18" charset="0"/>
                <a:cs typeface="Times New Roman" panose="02020603050405020304" pitchFamily="18" charset="0"/>
              </a:rPr>
              <a:t>Department of Computer and Communication Engineering</a:t>
            </a:r>
            <a:endParaRPr lang="en-US" sz="2800" dirty="0">
              <a:solidFill>
                <a:srgbClr val="00206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1953887" y="2293450"/>
            <a:ext cx="8769531" cy="954107"/>
          </a:xfrm>
          <a:prstGeom prst="rect">
            <a:avLst/>
          </a:prstGeom>
          <a:noFill/>
        </p:spPr>
        <p:txBody>
          <a:bodyPr wrap="square" rtlCol="0">
            <a:spAutoFit/>
          </a:bodyPr>
          <a:lstStyle/>
          <a:p>
            <a:r>
              <a:rPr lang="en-US" sz="2800" dirty="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Code: CCE-3507</a:t>
            </a:r>
          </a:p>
          <a:p>
            <a:r>
              <a:rPr lang="en-US" sz="2800" dirty="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Title: System Analysis, Design and Development</a:t>
            </a:r>
            <a:endParaRPr lang="en-US" sz="2800"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320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A148B4-A576-4CA3-8BEA-F8EF7D64EB01}"/>
              </a:ext>
            </a:extLst>
          </p:cNvPr>
          <p:cNvSpPr>
            <a:spLocks noGrp="1"/>
          </p:cNvSpPr>
          <p:nvPr>
            <p:ph idx="1"/>
          </p:nvPr>
        </p:nvSpPr>
        <p:spPr>
          <a:xfrm>
            <a:off x="1294363" y="1853754"/>
            <a:ext cx="9487598" cy="3880773"/>
          </a:xfrm>
        </p:spPr>
        <p:txBody>
          <a:bodyPr>
            <a:normAutofit/>
          </a:bodyPr>
          <a:lstStyle/>
          <a:p>
            <a:pPr marL="0" lvl="0" indent="0">
              <a:buNone/>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software engineering process is the model chosen for managing the creation of software </a:t>
            </a:r>
          </a:p>
          <a:p>
            <a:pPr marL="0" lvl="0" indent="0">
              <a:buNone/>
            </a:pPr>
            <a:r>
              <a:rPr lang="en-US" dirty="0">
                <a:latin typeface="Times New Roman" panose="02020603050405020304" pitchFamily="18" charset="0"/>
                <a:cs typeface="Times New Roman" panose="02020603050405020304" pitchFamily="18" charset="0"/>
              </a:rPr>
              <a:t>from initial customer inception to the release of the finished product. </a:t>
            </a:r>
          </a:p>
          <a:p>
            <a:pPr marL="0" lvl="0" indent="0">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chosen process usually involves techniques such as:  </a:t>
            </a:r>
          </a:p>
          <a:p>
            <a:pPr lvl="1"/>
            <a:r>
              <a:rPr lang="en-US" dirty="0" smtClean="0">
                <a:latin typeface="Times New Roman" panose="02020603050405020304" pitchFamily="18" charset="0"/>
                <a:cs typeface="Times New Roman" panose="02020603050405020304" pitchFamily="18" charset="0"/>
              </a:rPr>
              <a:t>Analysis</a:t>
            </a:r>
            <a:r>
              <a:rPr lang="en-US" dirty="0">
                <a:latin typeface="Times New Roman" panose="02020603050405020304" pitchFamily="18" charset="0"/>
                <a:cs typeface="Times New Roman" panose="02020603050405020304" pitchFamily="18" charset="0"/>
              </a:rPr>
              <a:t>,  </a:t>
            </a:r>
          </a:p>
          <a:p>
            <a:pPr lvl="1"/>
            <a:r>
              <a:rPr lang="en-US" dirty="0" smtClean="0">
                <a:latin typeface="Times New Roman" panose="02020603050405020304" pitchFamily="18" charset="0"/>
                <a:cs typeface="Times New Roman" panose="02020603050405020304" pitchFamily="18" charset="0"/>
              </a:rPr>
              <a:t>Design</a:t>
            </a:r>
            <a:r>
              <a:rPr lang="en-US" dirty="0">
                <a:latin typeface="Times New Roman" panose="02020603050405020304" pitchFamily="18" charset="0"/>
                <a:cs typeface="Times New Roman" panose="02020603050405020304" pitchFamily="18" charset="0"/>
              </a:rPr>
              <a:t>,  </a:t>
            </a:r>
          </a:p>
          <a:p>
            <a:pPr lvl="1"/>
            <a:r>
              <a:rPr lang="en-US" dirty="0" smtClean="0">
                <a:latin typeface="Times New Roman" panose="02020603050405020304" pitchFamily="18" charset="0"/>
                <a:cs typeface="Times New Roman" panose="02020603050405020304" pitchFamily="18" charset="0"/>
              </a:rPr>
              <a:t>Coding</a:t>
            </a:r>
            <a:r>
              <a:rPr lang="en-US" dirty="0">
                <a:latin typeface="Times New Roman" panose="02020603050405020304" pitchFamily="18" charset="0"/>
                <a:cs typeface="Times New Roman" panose="02020603050405020304" pitchFamily="18" charset="0"/>
              </a:rPr>
              <a:t>,  </a:t>
            </a:r>
          </a:p>
          <a:p>
            <a:pPr lvl="1"/>
            <a:r>
              <a:rPr lang="en-US" dirty="0" smtClean="0">
                <a:latin typeface="Times New Roman" panose="02020603050405020304" pitchFamily="18" charset="0"/>
                <a:cs typeface="Times New Roman" panose="02020603050405020304" pitchFamily="18" charset="0"/>
              </a:rPr>
              <a:t>Testing </a:t>
            </a:r>
            <a:r>
              <a:rPr lang="en-US" dirty="0">
                <a:latin typeface="Times New Roman" panose="02020603050405020304" pitchFamily="18" charset="0"/>
                <a:cs typeface="Times New Roman" panose="02020603050405020304" pitchFamily="18" charset="0"/>
              </a:rPr>
              <a:t>and  </a:t>
            </a:r>
            <a:endParaRPr lang="en-US" dirty="0" smtClean="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 Maintenance</a:t>
            </a:r>
            <a:endParaRPr lang="en-US" dirty="0"/>
          </a:p>
        </p:txBody>
      </p:sp>
      <p:sp>
        <p:nvSpPr>
          <p:cNvPr id="2" name="Title 1">
            <a:extLst>
              <a:ext uri="{FF2B5EF4-FFF2-40B4-BE49-F238E27FC236}">
                <a16:creationId xmlns:a16="http://schemas.microsoft.com/office/drawing/2014/main" id="{C66B8DD2-6C1A-4D9E-98EE-F364E6731B66}"/>
              </a:ext>
            </a:extLst>
          </p:cNvPr>
          <p:cNvSpPr>
            <a:spLocks noGrp="1"/>
          </p:cNvSpPr>
          <p:nvPr>
            <p:ph type="title"/>
          </p:nvPr>
        </p:nvSpPr>
        <p:spPr/>
        <p:txBody>
          <a:bodyPr/>
          <a:lstStyle/>
          <a:p>
            <a:r>
              <a:rPr lang="en-US" b="1" dirty="0"/>
              <a:t>SOFTWARE ENGINEERING PROCESSES </a:t>
            </a:r>
          </a:p>
        </p:txBody>
      </p:sp>
    </p:spTree>
    <p:extLst>
      <p:ext uri="{BB962C8B-B14F-4D97-AF65-F5344CB8AC3E}">
        <p14:creationId xmlns:p14="http://schemas.microsoft.com/office/powerpoint/2010/main" val="4000325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C63BE6B-8280-4162-9C43-48B9B3C00397}"/>
              </a:ext>
            </a:extLst>
          </p:cNvPr>
          <p:cNvPicPr>
            <a:picLocks noGrp="1" noChangeAspect="1"/>
          </p:cNvPicPr>
          <p:nvPr>
            <p:ph idx="1"/>
          </p:nvPr>
        </p:nvPicPr>
        <p:blipFill>
          <a:blip r:embed="rId2"/>
          <a:stretch>
            <a:fillRect/>
          </a:stretch>
        </p:blipFill>
        <p:spPr>
          <a:xfrm>
            <a:off x="113898" y="1827096"/>
            <a:ext cx="1800866" cy="1574674"/>
          </a:xfrm>
          <a:prstGeom prst="rect">
            <a:avLst/>
          </a:prstGeom>
        </p:spPr>
      </p:pic>
      <p:sp>
        <p:nvSpPr>
          <p:cNvPr id="2" name="Title 1">
            <a:extLst>
              <a:ext uri="{FF2B5EF4-FFF2-40B4-BE49-F238E27FC236}">
                <a16:creationId xmlns:a16="http://schemas.microsoft.com/office/drawing/2014/main" id="{1BBFB8F5-D1B4-4B4E-9E5E-257CA92D15D1}"/>
              </a:ext>
            </a:extLst>
          </p:cNvPr>
          <p:cNvSpPr>
            <a:spLocks noGrp="1"/>
          </p:cNvSpPr>
          <p:nvPr>
            <p:ph type="title"/>
          </p:nvPr>
        </p:nvSpPr>
        <p:spPr/>
        <p:txBody>
          <a:bodyPr/>
          <a:lstStyle/>
          <a:p>
            <a:r>
              <a:rPr lang="en-US" b="1" dirty="0"/>
              <a:t>Importance of Software Processes</a:t>
            </a:r>
          </a:p>
        </p:txBody>
      </p:sp>
      <p:sp>
        <p:nvSpPr>
          <p:cNvPr id="5" name="TextBox 4">
            <a:extLst>
              <a:ext uri="{FF2B5EF4-FFF2-40B4-BE49-F238E27FC236}">
                <a16:creationId xmlns:a16="http://schemas.microsoft.com/office/drawing/2014/main" id="{27DAA973-C9B5-46E7-A915-0FBE3956BAA6}"/>
              </a:ext>
            </a:extLst>
          </p:cNvPr>
          <p:cNvSpPr txBox="1"/>
          <p:nvPr/>
        </p:nvSpPr>
        <p:spPr>
          <a:xfrm>
            <a:off x="113898" y="3560064"/>
            <a:ext cx="2219417" cy="2031325"/>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Stability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structured approach organizes tasks effectively, leading to predictable outcomes.</a:t>
            </a:r>
          </a:p>
          <a:p>
            <a:endParaRPr lang="en-US" dirty="0"/>
          </a:p>
        </p:txBody>
      </p:sp>
      <p:pic>
        <p:nvPicPr>
          <p:cNvPr id="1028" name="Picture 4" descr="Agility PNG Transparent Images Free Download | Vector Files | Pngtree">
            <a:extLst>
              <a:ext uri="{FF2B5EF4-FFF2-40B4-BE49-F238E27FC236}">
                <a16:creationId xmlns:a16="http://schemas.microsoft.com/office/drawing/2014/main" id="{1FEEFA70-CFC5-42C8-A304-B1A7FCAE2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3756" y="1800438"/>
            <a:ext cx="1627990" cy="16279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C2E9899-AFB0-4E1A-81A3-5C71DC0D1F92}"/>
              </a:ext>
            </a:extLst>
          </p:cNvPr>
          <p:cNvSpPr txBox="1"/>
          <p:nvPr/>
        </p:nvSpPr>
        <p:spPr>
          <a:xfrm>
            <a:off x="4806206" y="3559130"/>
            <a:ext cx="2476869"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Agility</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Processes can be tailored to meet specific project requirements, enhancing flexibility.</a:t>
            </a:r>
          </a:p>
          <a:p>
            <a:endParaRPr lang="en-US" dirty="0"/>
          </a:p>
        </p:txBody>
      </p:sp>
      <p:pic>
        <p:nvPicPr>
          <p:cNvPr id="1030" name="Picture 6" descr="Quality Assurance - Al-Nwassy">
            <a:extLst>
              <a:ext uri="{FF2B5EF4-FFF2-40B4-BE49-F238E27FC236}">
                <a16:creationId xmlns:a16="http://schemas.microsoft.com/office/drawing/2014/main" id="{D6299820-182B-4E07-A8B7-223FE6A5AA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9921" y="1800437"/>
            <a:ext cx="1628563" cy="1628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0847612-F374-4079-AB59-011A37670FA9}"/>
              </a:ext>
            </a:extLst>
          </p:cNvPr>
          <p:cNvSpPr txBox="1"/>
          <p:nvPr/>
        </p:nvSpPr>
        <p:spPr>
          <a:xfrm>
            <a:off x="7356909" y="3537793"/>
            <a:ext cx="2277350"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Quality Assurance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Systematic processes lead to the production of high-quality software, reducing defects.</a:t>
            </a:r>
          </a:p>
          <a:p>
            <a:endParaRPr lang="en-US" dirty="0"/>
          </a:p>
        </p:txBody>
      </p:sp>
      <p:pic>
        <p:nvPicPr>
          <p:cNvPr id="1042" name="Picture 18" descr="Premium Vector | Vector transparent sand hourglass">
            <a:extLst>
              <a:ext uri="{FF2B5EF4-FFF2-40B4-BE49-F238E27FC236}">
                <a16:creationId xmlns:a16="http://schemas.microsoft.com/office/drawing/2014/main" id="{FA570FA5-0F0C-43BC-A912-A639900714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29524" y="1800437"/>
            <a:ext cx="1266950" cy="162856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1FCA367-14E6-418C-B8BA-7F2D25FC01D8}"/>
              </a:ext>
            </a:extLst>
          </p:cNvPr>
          <p:cNvSpPr txBox="1"/>
          <p:nvPr/>
        </p:nvSpPr>
        <p:spPr>
          <a:xfrm>
            <a:off x="9687050" y="3537793"/>
            <a:ext cx="2391052"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Timeliness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Structured processes facilitate timely project delivery, meeting deadlines effectively.</a:t>
            </a:r>
          </a:p>
          <a:p>
            <a:endParaRPr lang="en-US" dirty="0"/>
          </a:p>
        </p:txBody>
      </p:sp>
      <p:sp>
        <p:nvSpPr>
          <p:cNvPr id="11" name="TextBox 10">
            <a:extLst>
              <a:ext uri="{FF2B5EF4-FFF2-40B4-BE49-F238E27FC236}">
                <a16:creationId xmlns:a16="http://schemas.microsoft.com/office/drawing/2014/main" id="{0E7FC962-950F-4951-A26A-89679EFCCBCB}"/>
              </a:ext>
            </a:extLst>
          </p:cNvPr>
          <p:cNvSpPr txBox="1"/>
          <p:nvPr/>
        </p:nvSpPr>
        <p:spPr>
          <a:xfrm>
            <a:off x="2425441" y="3537793"/>
            <a:ext cx="2155761"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Control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Ensures adherence to each development step, minimizing the risk of errors and omissions.</a:t>
            </a:r>
          </a:p>
          <a:p>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F22710F-0BE0-4679-9807-1A3B7B4724E8}"/>
              </a:ext>
            </a:extLst>
          </p:cNvPr>
          <p:cNvPicPr>
            <a:picLocks noChangeAspect="1"/>
          </p:cNvPicPr>
          <p:nvPr/>
        </p:nvPicPr>
        <p:blipFill>
          <a:blip r:embed="rId6"/>
          <a:stretch>
            <a:fillRect/>
          </a:stretch>
        </p:blipFill>
        <p:spPr>
          <a:xfrm>
            <a:off x="2452397" y="1855786"/>
            <a:ext cx="1790319" cy="1572642"/>
          </a:xfrm>
          <a:prstGeom prst="rect">
            <a:avLst/>
          </a:prstGeom>
        </p:spPr>
      </p:pic>
    </p:spTree>
    <p:extLst>
      <p:ext uri="{BB962C8B-B14F-4D97-AF65-F5344CB8AC3E}">
        <p14:creationId xmlns:p14="http://schemas.microsoft.com/office/powerpoint/2010/main" val="3715070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B8CF4D-93BC-4877-966D-FA4B0542BA95}"/>
              </a:ext>
            </a:extLst>
          </p:cNvPr>
          <p:cNvSpPr>
            <a:spLocks noGrp="1"/>
          </p:cNvSpPr>
          <p:nvPr>
            <p:ph idx="1"/>
          </p:nvPr>
        </p:nvSpPr>
        <p:spPr>
          <a:xfrm>
            <a:off x="1112503" y="1502468"/>
            <a:ext cx="9966992" cy="3880773"/>
          </a:xfrm>
        </p:spPr>
        <p:txBody>
          <a:bodyPr/>
          <a:lstStyle/>
          <a:p>
            <a:r>
              <a:rPr lang="en-US" sz="2000" dirty="0">
                <a:solidFill>
                  <a:schemeClr val="tx1"/>
                </a:solidFill>
                <a:latin typeface="Times New Roman" panose="02020603050405020304" pitchFamily="18" charset="0"/>
                <a:cs typeface="Times New Roman" panose="02020603050405020304" pitchFamily="18" charset="0"/>
              </a:rPr>
              <a:t>The SDLC is the process of determining how an information system (IS) can support business needs, designing the system, building it, and delivering it to users.</a:t>
            </a:r>
          </a:p>
          <a:p>
            <a:endParaRPr lang="en-US" dirty="0"/>
          </a:p>
        </p:txBody>
      </p:sp>
      <p:sp>
        <p:nvSpPr>
          <p:cNvPr id="2" name="Title 1">
            <a:extLst>
              <a:ext uri="{FF2B5EF4-FFF2-40B4-BE49-F238E27FC236}">
                <a16:creationId xmlns:a16="http://schemas.microsoft.com/office/drawing/2014/main" id="{FD95131D-7630-4F08-A5A5-BD50A7929CDB}"/>
              </a:ext>
            </a:extLst>
          </p:cNvPr>
          <p:cNvSpPr>
            <a:spLocks noGrp="1"/>
          </p:cNvSpPr>
          <p:nvPr>
            <p:ph type="title"/>
          </p:nvPr>
        </p:nvSpPr>
        <p:spPr/>
        <p:txBody>
          <a:bodyPr>
            <a:normAutofit fontScale="90000"/>
          </a:bodyPr>
          <a:lstStyle/>
          <a:p>
            <a:r>
              <a:rPr lang="en-US" dirty="0"/>
              <a:t> </a:t>
            </a:r>
            <a:r>
              <a:rPr lang="en-US" b="1" dirty="0"/>
              <a:t>Systems Development Life Cycle (SDLC)</a:t>
            </a:r>
            <a:br>
              <a:rPr lang="en-US" b="1" dirty="0"/>
            </a:br>
            <a:endParaRPr lang="en-US" dirty="0"/>
          </a:p>
        </p:txBody>
      </p:sp>
      <p:pic>
        <p:nvPicPr>
          <p:cNvPr id="2050" name="Picture 2" descr="Understanding the Software Development Life Cycle | Datarob">
            <a:extLst>
              <a:ext uri="{FF2B5EF4-FFF2-40B4-BE49-F238E27FC236}">
                <a16:creationId xmlns:a16="http://schemas.microsoft.com/office/drawing/2014/main" id="{C2FE7B46-F407-4573-9476-7A0B15972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258" y="2297399"/>
            <a:ext cx="4321483" cy="3756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3175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1.jpeg">
            <a:extLst>
              <a:ext uri="{FF2B5EF4-FFF2-40B4-BE49-F238E27FC236}">
                <a16:creationId xmlns:a16="http://schemas.microsoft.com/office/drawing/2014/main" id="{5E5EA0AA-4330-4671-A382-BB20A1DE78FE}"/>
              </a:ext>
            </a:extLst>
          </p:cNvPr>
          <p:cNvPicPr>
            <a:picLocks noGrp="1"/>
          </p:cNvPicPr>
          <p:nvPr>
            <p:ph idx="1"/>
          </p:nvPr>
        </p:nvPicPr>
        <p:blipFill>
          <a:blip r:embed="rId2" cstate="print"/>
          <a:stretch>
            <a:fillRect/>
          </a:stretch>
        </p:blipFill>
        <p:spPr>
          <a:xfrm>
            <a:off x="1915400" y="1518574"/>
            <a:ext cx="7527214" cy="4500485"/>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FD95131D-7630-4F08-A5A5-BD50A7929CDB}"/>
              </a:ext>
            </a:extLst>
          </p:cNvPr>
          <p:cNvSpPr>
            <a:spLocks noGrp="1"/>
          </p:cNvSpPr>
          <p:nvPr>
            <p:ph type="title"/>
          </p:nvPr>
        </p:nvSpPr>
        <p:spPr>
          <a:xfrm>
            <a:off x="1294363" y="804519"/>
            <a:ext cx="10163346" cy="1049235"/>
          </a:xfrm>
        </p:spPr>
        <p:txBody>
          <a:bodyPr>
            <a:normAutofit/>
          </a:bodyPr>
          <a:lstStyle/>
          <a:p>
            <a:r>
              <a:rPr lang="en-US" dirty="0"/>
              <a:t> </a:t>
            </a:r>
            <a:r>
              <a:rPr lang="en-US" sz="3100" b="1" dirty="0"/>
              <a:t>Systems Development Life Cycle (SDLC) </a:t>
            </a:r>
            <a:r>
              <a:rPr lang="en-US" b="1" dirty="0"/>
              <a:t/>
            </a:r>
            <a:br>
              <a:rPr lang="en-US" b="1" dirty="0"/>
            </a:br>
            <a:endParaRPr lang="en-US" dirty="0"/>
          </a:p>
        </p:txBody>
      </p:sp>
    </p:spTree>
    <p:extLst>
      <p:ext uri="{BB962C8B-B14F-4D97-AF65-F5344CB8AC3E}">
        <p14:creationId xmlns:p14="http://schemas.microsoft.com/office/powerpoint/2010/main" val="2663545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6EBD9F2-05EF-4C74-862B-E418D31FEA70}"/>
              </a:ext>
            </a:extLst>
          </p:cNvPr>
          <p:cNvSpPr>
            <a:spLocks noGrp="1"/>
          </p:cNvSpPr>
          <p:nvPr>
            <p:ph idx="1"/>
          </p:nvPr>
        </p:nvSpPr>
        <p:spPr>
          <a:xfrm>
            <a:off x="1252833" y="1535972"/>
            <a:ext cx="9407700" cy="5273336"/>
          </a:xfrm>
        </p:spPr>
        <p:txBody>
          <a:bodyPr>
            <a:normAutofit/>
          </a:bodyPr>
          <a:lstStyle/>
          <a:p>
            <a:pPr>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Planning and analysis:</a:t>
            </a:r>
          </a:p>
          <a:p>
            <a:pPr marL="400050" lvl="1" indent="0">
              <a:buNone/>
            </a:pPr>
            <a:r>
              <a:rPr lang="en-US" sz="1800" dirty="0">
                <a:solidFill>
                  <a:schemeClr val="tx1"/>
                </a:solidFill>
                <a:latin typeface="Times New Roman" panose="02020603050405020304" pitchFamily="18" charset="0"/>
                <a:cs typeface="Times New Roman" panose="02020603050405020304" pitchFamily="18" charset="0"/>
              </a:rPr>
              <a:t>Feasibility Study+ JAD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800" dirty="0">
                <a:solidFill>
                  <a:schemeClr val="tx1"/>
                </a:solidFill>
                <a:latin typeface="Times New Roman" panose="02020603050405020304" pitchFamily="18" charset="0"/>
                <a:cs typeface="Times New Roman" panose="02020603050405020304" pitchFamily="18" charset="0"/>
              </a:rPr>
              <a:t>SRS (Software Requirement Specification)</a:t>
            </a:r>
          </a:p>
          <a:p>
            <a:pPr>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Design:</a:t>
            </a:r>
          </a:p>
          <a:p>
            <a:pPr marL="685800"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Specify the hardware, system requirement and design the application architecture and database design.</a:t>
            </a:r>
          </a:p>
          <a:p>
            <a:pPr marL="685800"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Design: high-level design and low-level design. </a:t>
            </a:r>
          </a:p>
          <a:p>
            <a:pPr marL="685800"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In high-level design, we design the different blocks of the application. </a:t>
            </a:r>
          </a:p>
          <a:p>
            <a:pPr marL="685800"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In low-level design, we write the pseudo-code.</a:t>
            </a:r>
            <a:endParaRPr lang="en-US" sz="18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Implementation / Coding:</a:t>
            </a:r>
          </a:p>
          <a:p>
            <a:pPr marL="685800"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work is divided in modules/units and actual coding is started. </a:t>
            </a:r>
          </a:p>
          <a:p>
            <a:pPr marL="685800"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This is the longest phase of the software development life cycle.</a:t>
            </a:r>
          </a:p>
          <a:p>
            <a:pPr marL="685800" lvl="1">
              <a:buFont typeface="Wingdings" panose="05000000000000000000" pitchFamily="2" charset="2"/>
              <a:buChar char="ü"/>
            </a:pPr>
            <a:endParaRPr lang="en-US" sz="1800" b="1" dirty="0">
              <a:solidFill>
                <a:schemeClr val="tx1"/>
              </a:solidFill>
              <a:latin typeface="Times New Roman" panose="02020603050405020304" pitchFamily="18" charset="0"/>
              <a:cs typeface="Times New Roman" panose="02020603050405020304" pitchFamily="18" charset="0"/>
            </a:endParaRPr>
          </a:p>
          <a:p>
            <a:pPr marL="685800" lvl="1">
              <a:buFont typeface="Wingdings" panose="05000000000000000000" pitchFamily="2" charset="2"/>
              <a:buChar char="ü"/>
            </a:pPr>
            <a:endParaRPr lang="en-US" sz="18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FD95131D-7630-4F08-A5A5-BD50A7929CDB}"/>
              </a:ext>
            </a:extLst>
          </p:cNvPr>
          <p:cNvSpPr>
            <a:spLocks noGrp="1"/>
          </p:cNvSpPr>
          <p:nvPr>
            <p:ph type="title"/>
          </p:nvPr>
        </p:nvSpPr>
        <p:spPr>
          <a:xfrm>
            <a:off x="1092968" y="848804"/>
            <a:ext cx="9727431" cy="1320800"/>
          </a:xfrm>
        </p:spPr>
        <p:txBody>
          <a:bodyPr>
            <a:normAutofit/>
          </a:bodyPr>
          <a:lstStyle/>
          <a:p>
            <a:r>
              <a:rPr lang="en-US" dirty="0"/>
              <a:t> </a:t>
            </a:r>
            <a:r>
              <a:rPr lang="en-US" sz="3100" b="1" dirty="0"/>
              <a:t>Systems Development Life Cycle (</a:t>
            </a:r>
            <a:r>
              <a:rPr lang="en-US" sz="3100" b="1" dirty="0" smtClean="0"/>
              <a:t>SDLC)</a:t>
            </a:r>
            <a:endParaRPr lang="en-US" dirty="0"/>
          </a:p>
        </p:txBody>
      </p:sp>
    </p:spTree>
    <p:extLst>
      <p:ext uri="{BB962C8B-B14F-4D97-AF65-F5344CB8AC3E}">
        <p14:creationId xmlns:p14="http://schemas.microsoft.com/office/powerpoint/2010/main" val="3713714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6EBD9F2-05EF-4C74-862B-E418D31FEA70}"/>
              </a:ext>
            </a:extLst>
          </p:cNvPr>
          <p:cNvSpPr>
            <a:spLocks noGrp="1"/>
          </p:cNvSpPr>
          <p:nvPr>
            <p:ph idx="1"/>
          </p:nvPr>
        </p:nvSpPr>
        <p:spPr>
          <a:xfrm>
            <a:off x="1189951" y="1440402"/>
            <a:ext cx="9949104" cy="5417598"/>
          </a:xfrm>
        </p:spPr>
        <p:txBody>
          <a:bodyPr>
            <a:noAutofit/>
          </a:bodyPr>
          <a:lstStyle/>
          <a:p>
            <a:pPr marL="457200" indent="-457200">
              <a:buFont typeface="+mj-lt"/>
              <a:buAutoNum type="arabicPeriod" startAt="4"/>
            </a:pPr>
            <a:r>
              <a:rPr lang="en-US" sz="2000" b="1" dirty="0">
                <a:solidFill>
                  <a:schemeClr val="tx1"/>
                </a:solidFill>
                <a:latin typeface="Times New Roman" panose="02020603050405020304" pitchFamily="18" charset="0"/>
                <a:cs typeface="Times New Roman" panose="02020603050405020304" pitchFamily="18" charset="0"/>
              </a:rPr>
              <a:t>Testing:</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After the code is developed it is tested against the requirements </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Functional testing like unit testing, integration testing, system testing, acceptance testing is done </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Non-functional testing is also done.</a:t>
            </a:r>
            <a:endParaRPr lang="en-US" sz="1800" b="1" dirty="0">
              <a:solidFill>
                <a:schemeClr val="tx1"/>
              </a:solidFill>
              <a:latin typeface="Times New Roman" panose="02020603050405020304" pitchFamily="18" charset="0"/>
              <a:cs typeface="Times New Roman" panose="02020603050405020304" pitchFamily="18" charset="0"/>
            </a:endParaRPr>
          </a:p>
          <a:p>
            <a:pPr marL="457200" indent="-457200">
              <a:buFont typeface="+mj-lt"/>
              <a:buAutoNum type="arabicPeriod" startAt="4"/>
            </a:pPr>
            <a:r>
              <a:rPr lang="en-US" sz="2000" b="1" dirty="0">
                <a:solidFill>
                  <a:schemeClr val="tx1"/>
                </a:solidFill>
                <a:latin typeface="Times New Roman" panose="02020603050405020304" pitchFamily="18" charset="0"/>
                <a:cs typeface="Times New Roman" panose="02020603050405020304" pitchFamily="18" charset="0"/>
              </a:rPr>
              <a:t>Deployment:</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After successful testing the product is delivered / deployed to the customer for their use.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During deployment, there are four widely used strategies i.e., Parallel, Direct, Phased and Pilot.</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Parallel: Old and new systems are used at the same time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Direct: Old is replaced by new one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Phased: Parts of the new system are implemented over time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Pilot (Single Location): Entire System used, is used in one location</a:t>
            </a:r>
          </a:p>
          <a:p>
            <a:pPr marL="685800" lvl="1">
              <a:buFont typeface="Wingdings" panose="05000000000000000000" pitchFamily="2" charset="2"/>
              <a:buChar char="ü"/>
            </a:pPr>
            <a:endParaRPr lang="en-US" sz="2000" b="1" dirty="0">
              <a:solidFill>
                <a:schemeClr val="tx1"/>
              </a:solidFill>
              <a:latin typeface="Times New Roman" panose="02020603050405020304" pitchFamily="18" charset="0"/>
              <a:cs typeface="Times New Roman" panose="02020603050405020304" pitchFamily="18" charset="0"/>
            </a:endParaRPr>
          </a:p>
          <a:p>
            <a:pPr marL="685800" lvl="1">
              <a:buFont typeface="Wingdings" panose="05000000000000000000" pitchFamily="2" charset="2"/>
              <a:buChar char="ü"/>
            </a:pPr>
            <a:endParaRPr lang="en-US" sz="2000" b="1" dirty="0">
              <a:solidFill>
                <a:schemeClr val="tx1"/>
              </a:solidFill>
              <a:latin typeface="Times New Roman" panose="02020603050405020304" pitchFamily="18" charset="0"/>
              <a:cs typeface="Times New Roman" panose="02020603050405020304" pitchFamily="18" charset="0"/>
            </a:endParaRPr>
          </a:p>
          <a:p>
            <a:pPr marL="685800" lvl="1">
              <a:buFont typeface="Wingdings" panose="05000000000000000000" pitchFamily="2" charset="2"/>
              <a:buChar char="ü"/>
            </a:pPr>
            <a:endParaRPr lang="en-US" sz="2000" b="1" dirty="0">
              <a:solidFill>
                <a:schemeClr val="tx1"/>
              </a:solidFill>
              <a:latin typeface="Times New Roman" panose="02020603050405020304" pitchFamily="18" charset="0"/>
              <a:cs typeface="Times New Roman" panose="02020603050405020304" pitchFamily="18" charset="0"/>
            </a:endParaRPr>
          </a:p>
          <a:p>
            <a:pPr marL="685800" lvl="1">
              <a:buFont typeface="Wingdings" panose="05000000000000000000" pitchFamily="2" charset="2"/>
              <a:buChar char="ü"/>
            </a:pPr>
            <a:endParaRPr lang="en-US" sz="20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startAt="4"/>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FD95131D-7630-4F08-A5A5-BD50A7929CDB}"/>
              </a:ext>
            </a:extLst>
          </p:cNvPr>
          <p:cNvSpPr>
            <a:spLocks noGrp="1"/>
          </p:cNvSpPr>
          <p:nvPr>
            <p:ph type="title"/>
          </p:nvPr>
        </p:nvSpPr>
        <p:spPr>
          <a:xfrm>
            <a:off x="1189951" y="780002"/>
            <a:ext cx="8596668" cy="1320800"/>
          </a:xfrm>
        </p:spPr>
        <p:txBody>
          <a:bodyPr>
            <a:normAutofit fontScale="90000"/>
          </a:bodyPr>
          <a:lstStyle/>
          <a:p>
            <a:r>
              <a:rPr lang="en-US" dirty="0"/>
              <a:t> </a:t>
            </a:r>
            <a:r>
              <a:rPr lang="en-US" sz="3100" b="1" dirty="0"/>
              <a:t>Systems Development Life Cycle (SDLC</a:t>
            </a:r>
            <a:r>
              <a:rPr lang="en-US" sz="3100" b="1" dirty="0" smtClean="0"/>
              <a:t>)</a:t>
            </a:r>
            <a:r>
              <a:rPr lang="en-US" b="1" dirty="0"/>
              <a:t/>
            </a:r>
            <a:br>
              <a:rPr lang="en-US" b="1" dirty="0"/>
            </a:br>
            <a:endParaRPr lang="en-US" dirty="0"/>
          </a:p>
        </p:txBody>
      </p:sp>
    </p:spTree>
    <p:extLst>
      <p:ext uri="{BB962C8B-B14F-4D97-AF65-F5344CB8AC3E}">
        <p14:creationId xmlns:p14="http://schemas.microsoft.com/office/powerpoint/2010/main" val="4059135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6EBD9F2-05EF-4C74-862B-E418D31FEA70}"/>
              </a:ext>
            </a:extLst>
          </p:cNvPr>
          <p:cNvSpPr>
            <a:spLocks noGrp="1"/>
          </p:cNvSpPr>
          <p:nvPr>
            <p:ph idx="1"/>
          </p:nvPr>
        </p:nvSpPr>
        <p:spPr>
          <a:xfrm>
            <a:off x="829734" y="1696240"/>
            <a:ext cx="9247902" cy="3366856"/>
          </a:xfrm>
        </p:spPr>
        <p:txBody>
          <a:bodyPr>
            <a:noAutofit/>
          </a:bodyPr>
          <a:lstStyle/>
          <a:p>
            <a:pPr lvl="1" indent="-342900">
              <a:buFont typeface="+mj-lt"/>
              <a:buAutoNum type="arabicPeriod" startAt="6"/>
            </a:pPr>
            <a:r>
              <a:rPr lang="en-US" sz="2000" b="1" dirty="0">
                <a:solidFill>
                  <a:schemeClr val="tx1"/>
                </a:solidFill>
                <a:latin typeface="Times New Roman" panose="02020603050405020304" pitchFamily="18" charset="0"/>
                <a:cs typeface="Times New Roman" panose="02020603050405020304" pitchFamily="18" charset="0"/>
              </a:rPr>
              <a:t>Maintenance: </a:t>
            </a:r>
          </a:p>
          <a:p>
            <a:pPr marL="1085850" lvl="2">
              <a:buFont typeface="Wingdings" panose="05000000000000000000" pitchFamily="2" charset="2"/>
              <a:buChar char="ü"/>
            </a:pPr>
            <a:r>
              <a:rPr lang="en-US" sz="1800" b="1" dirty="0">
                <a:solidFill>
                  <a:schemeClr val="tx1"/>
                </a:solidFill>
                <a:latin typeface="Times New Roman" panose="02020603050405020304" pitchFamily="18" charset="0"/>
                <a:cs typeface="Times New Roman" panose="02020603050405020304" pitchFamily="18" charset="0"/>
              </a:rPr>
              <a:t>Corrective Maintenance: </a:t>
            </a:r>
            <a:r>
              <a:rPr lang="en-US" sz="1800" dirty="0">
                <a:solidFill>
                  <a:schemeClr val="tx1"/>
                </a:solidFill>
                <a:latin typeface="Times New Roman" panose="02020603050405020304" pitchFamily="18" charset="0"/>
                <a:cs typeface="Times New Roman" panose="02020603050405020304" pitchFamily="18" charset="0"/>
              </a:rPr>
              <a:t>to correct errors </a:t>
            </a:r>
          </a:p>
          <a:p>
            <a:pPr marL="1085850" lvl="2">
              <a:buFont typeface="Wingdings" panose="05000000000000000000" pitchFamily="2" charset="2"/>
              <a:buChar char="ü"/>
            </a:pPr>
            <a:r>
              <a:rPr lang="en-US" sz="1800" b="1" dirty="0">
                <a:solidFill>
                  <a:schemeClr val="tx1"/>
                </a:solidFill>
                <a:latin typeface="Times New Roman" panose="02020603050405020304" pitchFamily="18" charset="0"/>
                <a:cs typeface="Times New Roman" panose="02020603050405020304" pitchFamily="18" charset="0"/>
              </a:rPr>
              <a:t>Perfective Maintenance: </a:t>
            </a:r>
            <a:r>
              <a:rPr lang="en-US" sz="1800" dirty="0">
                <a:solidFill>
                  <a:schemeClr val="tx1"/>
                </a:solidFill>
                <a:latin typeface="Times New Roman" panose="02020603050405020304" pitchFamily="18" charset="0"/>
                <a:cs typeface="Times New Roman" panose="02020603050405020304" pitchFamily="18" charset="0"/>
              </a:rPr>
              <a:t>to enhance the functionalities of the system </a:t>
            </a:r>
          </a:p>
          <a:p>
            <a:pPr marL="1085850" lvl="2">
              <a:buFont typeface="Wingdings" panose="05000000000000000000" pitchFamily="2" charset="2"/>
              <a:buChar char="ü"/>
            </a:pPr>
            <a:r>
              <a:rPr lang="en-US" sz="1800" b="1" dirty="0">
                <a:solidFill>
                  <a:schemeClr val="tx1"/>
                </a:solidFill>
                <a:latin typeface="Times New Roman" panose="02020603050405020304" pitchFamily="18" charset="0"/>
                <a:cs typeface="Times New Roman" panose="02020603050405020304" pitchFamily="18" charset="0"/>
              </a:rPr>
              <a:t>Adaptive Maintenance: </a:t>
            </a:r>
            <a:r>
              <a:rPr lang="en-US" sz="1800" dirty="0">
                <a:solidFill>
                  <a:schemeClr val="tx1"/>
                </a:solidFill>
                <a:latin typeface="Times New Roman" panose="02020603050405020304" pitchFamily="18" charset="0"/>
                <a:cs typeface="Times New Roman" panose="02020603050405020304" pitchFamily="18" charset="0"/>
              </a:rPr>
              <a:t>for porting the software to work in a new environment </a:t>
            </a:r>
          </a:p>
          <a:p>
            <a:pPr marL="1085850" lvl="2">
              <a:buFont typeface="Wingdings" panose="05000000000000000000" pitchFamily="2" charset="2"/>
              <a:buChar char="ü"/>
            </a:pPr>
            <a:endParaRPr lang="en-US" sz="1800" b="1" dirty="0">
              <a:solidFill>
                <a:schemeClr val="tx1"/>
              </a:solidFill>
              <a:latin typeface="Times New Roman" panose="02020603050405020304" pitchFamily="18" charset="0"/>
              <a:cs typeface="Times New Roman" panose="02020603050405020304" pitchFamily="18" charset="0"/>
            </a:endParaRPr>
          </a:p>
          <a:p>
            <a:pPr marL="685800" lvl="1">
              <a:buFont typeface="Wingdings" panose="05000000000000000000" pitchFamily="2" charset="2"/>
              <a:buChar char="ü"/>
            </a:pPr>
            <a:endParaRPr lang="en-US" sz="2000" b="1" dirty="0">
              <a:solidFill>
                <a:schemeClr val="tx1"/>
              </a:solidFill>
              <a:latin typeface="Times New Roman" panose="02020603050405020304" pitchFamily="18" charset="0"/>
              <a:cs typeface="Times New Roman" panose="02020603050405020304" pitchFamily="18" charset="0"/>
            </a:endParaRPr>
          </a:p>
          <a:p>
            <a:pPr marL="685800" lvl="1">
              <a:buFont typeface="Wingdings" panose="05000000000000000000" pitchFamily="2" charset="2"/>
              <a:buChar char="ü"/>
            </a:pPr>
            <a:endParaRPr lang="en-US" sz="20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startAt="4"/>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FD95131D-7630-4F08-A5A5-BD50A7929CDB}"/>
              </a:ext>
            </a:extLst>
          </p:cNvPr>
          <p:cNvSpPr>
            <a:spLocks noGrp="1"/>
          </p:cNvSpPr>
          <p:nvPr>
            <p:ph type="title"/>
          </p:nvPr>
        </p:nvSpPr>
        <p:spPr>
          <a:xfrm>
            <a:off x="1155351" y="865663"/>
            <a:ext cx="8596668" cy="1320800"/>
          </a:xfrm>
        </p:spPr>
        <p:txBody>
          <a:bodyPr>
            <a:normAutofit fontScale="90000"/>
          </a:bodyPr>
          <a:lstStyle/>
          <a:p>
            <a:r>
              <a:rPr lang="en-US" dirty="0"/>
              <a:t> </a:t>
            </a:r>
            <a:r>
              <a:rPr lang="en-US" sz="3100" b="1" dirty="0"/>
              <a:t>Systems Development Life Cycle (SDLC</a:t>
            </a:r>
            <a:r>
              <a:rPr lang="en-US" sz="3100" b="1" dirty="0" smtClean="0"/>
              <a:t>)</a:t>
            </a:r>
            <a:r>
              <a:rPr lang="en-US" b="1" dirty="0"/>
              <a:t/>
            </a:r>
            <a:br>
              <a:rPr lang="en-US" b="1" dirty="0"/>
            </a:br>
            <a:endParaRPr lang="en-US" dirty="0"/>
          </a:p>
        </p:txBody>
      </p:sp>
    </p:spTree>
    <p:extLst>
      <p:ext uri="{BB962C8B-B14F-4D97-AF65-F5344CB8AC3E}">
        <p14:creationId xmlns:p14="http://schemas.microsoft.com/office/powerpoint/2010/main" val="802408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5FB0BC-695C-46BF-852B-39E1693E0BEC}"/>
              </a:ext>
            </a:extLst>
          </p:cNvPr>
          <p:cNvSpPr>
            <a:spLocks noGrp="1"/>
          </p:cNvSpPr>
          <p:nvPr>
            <p:ph idx="1"/>
          </p:nvPr>
        </p:nvSpPr>
        <p:spPr>
          <a:xfrm>
            <a:off x="1261210" y="1518513"/>
            <a:ext cx="9789439" cy="3880773"/>
          </a:xfrm>
        </p:spPr>
        <p:txBody>
          <a:bodyPr/>
          <a:lstStyle/>
          <a:p>
            <a:pPr lvl="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Joint application development (JAD) is a structured process in which users, managers, and analysts work together for several days in a series of intensive meetings to specify or review system requirements.</a:t>
            </a:r>
          </a:p>
          <a:p>
            <a:pPr lvl="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It was developed by IBM in the late 1970s.</a:t>
            </a:r>
          </a:p>
          <a:p>
            <a:pPr lvl="0">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dirty="0"/>
          </a:p>
        </p:txBody>
      </p:sp>
      <p:sp>
        <p:nvSpPr>
          <p:cNvPr id="2" name="Title 1">
            <a:extLst>
              <a:ext uri="{FF2B5EF4-FFF2-40B4-BE49-F238E27FC236}">
                <a16:creationId xmlns:a16="http://schemas.microsoft.com/office/drawing/2014/main" id="{9F614140-D25A-47FA-9CD4-621ED2DCCE87}"/>
              </a:ext>
            </a:extLst>
          </p:cNvPr>
          <p:cNvSpPr>
            <a:spLocks noGrp="1"/>
          </p:cNvSpPr>
          <p:nvPr>
            <p:ph type="title"/>
          </p:nvPr>
        </p:nvSpPr>
        <p:spPr>
          <a:xfrm>
            <a:off x="1273719" y="724408"/>
            <a:ext cx="8596668" cy="1320800"/>
          </a:xfrm>
        </p:spPr>
        <p:txBody>
          <a:bodyPr/>
          <a:lstStyle/>
          <a:p>
            <a:r>
              <a:rPr lang="en-US" b="1" dirty="0"/>
              <a:t>Joint Application Design (JAD)</a:t>
            </a:r>
            <a:br>
              <a:rPr lang="en-US" b="1" dirty="0"/>
            </a:br>
            <a:endParaRPr lang="en-US" dirty="0"/>
          </a:p>
        </p:txBody>
      </p:sp>
      <p:pic>
        <p:nvPicPr>
          <p:cNvPr id="10" name="image3.jpeg">
            <a:extLst>
              <a:ext uri="{FF2B5EF4-FFF2-40B4-BE49-F238E27FC236}">
                <a16:creationId xmlns:a16="http://schemas.microsoft.com/office/drawing/2014/main" id="{2D467AF9-FF60-49D8-A196-F5DF6E38555C}"/>
              </a:ext>
            </a:extLst>
          </p:cNvPr>
          <p:cNvPicPr/>
          <p:nvPr/>
        </p:nvPicPr>
        <p:blipFill>
          <a:blip r:embed="rId2" cstate="print"/>
          <a:stretch>
            <a:fillRect/>
          </a:stretch>
        </p:blipFill>
        <p:spPr>
          <a:xfrm>
            <a:off x="6074147" y="2425490"/>
            <a:ext cx="4808220" cy="3227070"/>
          </a:xfrm>
          <a:prstGeom prst="rect">
            <a:avLst/>
          </a:prstGeom>
          <a:ln>
            <a:noFill/>
          </a:ln>
          <a:effectLst>
            <a:softEdge rad="112500"/>
          </a:effectLst>
        </p:spPr>
      </p:pic>
      <p:sp>
        <p:nvSpPr>
          <p:cNvPr id="11" name="TextBox 10">
            <a:extLst>
              <a:ext uri="{FF2B5EF4-FFF2-40B4-BE49-F238E27FC236}">
                <a16:creationId xmlns:a16="http://schemas.microsoft.com/office/drawing/2014/main" id="{1173F01D-1A80-4223-9DAA-9BB0D4378233}"/>
              </a:ext>
            </a:extLst>
          </p:cNvPr>
          <p:cNvSpPr txBox="1"/>
          <p:nvPr/>
        </p:nvSpPr>
        <p:spPr>
          <a:xfrm>
            <a:off x="5572053" y="5639393"/>
            <a:ext cx="5442012" cy="553998"/>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Figure: </a:t>
            </a:r>
            <a:r>
              <a:rPr lang="en-US" sz="1200" b="1" dirty="0">
                <a:latin typeface="Times New Roman" panose="02020603050405020304" pitchFamily="18" charset="0"/>
                <a:cs typeface="Times New Roman" panose="02020603050405020304" pitchFamily="18" charset="0"/>
              </a:rPr>
              <a:t>A typical room layout for a JAD session</a:t>
            </a:r>
          </a:p>
          <a:p>
            <a:endParaRPr lang="en-US" dirty="0"/>
          </a:p>
        </p:txBody>
      </p:sp>
    </p:spTree>
    <p:extLst>
      <p:ext uri="{BB962C8B-B14F-4D97-AF65-F5344CB8AC3E}">
        <p14:creationId xmlns:p14="http://schemas.microsoft.com/office/powerpoint/2010/main" val="1860073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14140-D25A-47FA-9CD4-621ED2DCCE87}"/>
              </a:ext>
            </a:extLst>
          </p:cNvPr>
          <p:cNvSpPr>
            <a:spLocks noGrp="1"/>
          </p:cNvSpPr>
          <p:nvPr>
            <p:ph type="title"/>
          </p:nvPr>
        </p:nvSpPr>
        <p:spPr>
          <a:xfrm>
            <a:off x="1286933" y="858083"/>
            <a:ext cx="8596668" cy="1320800"/>
          </a:xfrm>
        </p:spPr>
        <p:txBody>
          <a:bodyPr/>
          <a:lstStyle/>
          <a:p>
            <a:r>
              <a:rPr lang="en-US" b="1" dirty="0"/>
              <a:t>Joint Application Design (JAD)</a:t>
            </a:r>
            <a:br>
              <a:rPr lang="en-US" b="1" dirty="0"/>
            </a:br>
            <a:endParaRPr lang="en-US" dirty="0"/>
          </a:p>
        </p:txBody>
      </p:sp>
      <p:graphicFrame>
        <p:nvGraphicFramePr>
          <p:cNvPr id="9" name="Table 8">
            <a:extLst>
              <a:ext uri="{FF2B5EF4-FFF2-40B4-BE49-F238E27FC236}">
                <a16:creationId xmlns:a16="http://schemas.microsoft.com/office/drawing/2014/main" id="{F80C8D89-F4BE-4771-A57F-4888AF92569F}"/>
              </a:ext>
            </a:extLst>
          </p:cNvPr>
          <p:cNvGraphicFramePr>
            <a:graphicFrameLocks noGrp="1"/>
          </p:cNvGraphicFramePr>
          <p:nvPr>
            <p:extLst>
              <p:ext uri="{D42A27DB-BD31-4B8C-83A1-F6EECF244321}">
                <p14:modId xmlns:p14="http://schemas.microsoft.com/office/powerpoint/2010/main" val="4142076071"/>
              </p:ext>
            </p:extLst>
          </p:nvPr>
        </p:nvGraphicFramePr>
        <p:xfrm>
          <a:off x="1286933" y="1518483"/>
          <a:ext cx="9718417" cy="4533307"/>
        </p:xfrm>
        <a:graphic>
          <a:graphicData uri="http://schemas.openxmlformats.org/drawingml/2006/table">
            <a:tbl>
              <a:tblPr firstRow="1" firstCol="1" lastRow="1" lastCol="1" bandRow="1" bandCol="1"/>
              <a:tblGrid>
                <a:gridCol w="2380387">
                  <a:extLst>
                    <a:ext uri="{9D8B030D-6E8A-4147-A177-3AD203B41FA5}">
                      <a16:colId xmlns:a16="http://schemas.microsoft.com/office/drawing/2014/main" val="1640062925"/>
                    </a:ext>
                  </a:extLst>
                </a:gridCol>
                <a:gridCol w="7338030">
                  <a:extLst>
                    <a:ext uri="{9D8B030D-6E8A-4147-A177-3AD203B41FA5}">
                      <a16:colId xmlns:a16="http://schemas.microsoft.com/office/drawing/2014/main" val="811273065"/>
                    </a:ext>
                  </a:extLst>
                </a:gridCol>
              </a:tblGrid>
              <a:tr h="359793">
                <a:tc>
                  <a:txBody>
                    <a:bodyPr/>
                    <a:lstStyle/>
                    <a:p>
                      <a:pPr marL="180975" marR="0" algn="l">
                        <a:lnSpc>
                          <a:spcPts val="1280"/>
                        </a:lnSpc>
                        <a:spcBef>
                          <a:spcPts val="0"/>
                        </a:spcBef>
                        <a:spcAft>
                          <a:spcPts val="0"/>
                        </a:spcAft>
                      </a:pPr>
                      <a:endParaRPr lang="en-US" sz="17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80975" marR="0" algn="l">
                        <a:lnSpc>
                          <a:spcPts val="1280"/>
                        </a:lnSpc>
                        <a:spcBef>
                          <a:spcPts val="0"/>
                        </a:spcBef>
                        <a:spcAft>
                          <a:spcPts val="0"/>
                        </a:spcAft>
                      </a:pPr>
                      <a:r>
                        <a:rPr lang="en-US" sz="1700" b="1" dirty="0">
                          <a:effectLst/>
                          <a:latin typeface="Times New Roman" panose="02020603050405020304" pitchFamily="18" charset="0"/>
                          <a:ea typeface="Times New Roman" panose="02020603050405020304" pitchFamily="18" charset="0"/>
                          <a:cs typeface="Times New Roman" panose="02020603050405020304" pitchFamily="18" charset="0"/>
                        </a:rPr>
                        <a:t>JAD</a:t>
                      </a:r>
                      <a:r>
                        <a:rPr lang="en-US" sz="17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b="1" dirty="0">
                          <a:effectLst/>
                          <a:latin typeface="Times New Roman" panose="02020603050405020304" pitchFamily="18" charset="0"/>
                          <a:ea typeface="Times New Roman" panose="02020603050405020304" pitchFamily="18" charset="0"/>
                          <a:cs typeface="Times New Roman" panose="02020603050405020304" pitchFamily="18" charset="0"/>
                        </a:rPr>
                        <a:t>participant</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038350" marR="2035175" algn="l">
                        <a:lnSpc>
                          <a:spcPts val="1280"/>
                        </a:lnSpc>
                        <a:spcBef>
                          <a:spcPts val="0"/>
                        </a:spcBef>
                        <a:spcAft>
                          <a:spcPts val="0"/>
                        </a:spcAft>
                      </a:pPr>
                      <a:endParaRPr lang="en-US" sz="17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38350" marR="2035175" algn="l">
                        <a:lnSpc>
                          <a:spcPts val="1280"/>
                        </a:lnSpc>
                        <a:spcBef>
                          <a:spcPts val="0"/>
                        </a:spcBef>
                        <a:spcAft>
                          <a:spcPts val="0"/>
                        </a:spcAft>
                      </a:pPr>
                      <a:r>
                        <a:rPr lang="en-US" sz="1700" b="1" dirty="0">
                          <a:effectLst/>
                          <a:latin typeface="Times New Roman" panose="02020603050405020304" pitchFamily="18" charset="0"/>
                          <a:ea typeface="Times New Roman" panose="02020603050405020304" pitchFamily="18" charset="0"/>
                          <a:cs typeface="Times New Roman" panose="02020603050405020304" pitchFamily="18" charset="0"/>
                        </a:rPr>
                        <a:t>Role</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326394"/>
                  </a:ext>
                </a:extLst>
              </a:tr>
              <a:tr h="427987">
                <a:tc>
                  <a:txBody>
                    <a:bodyPr/>
                    <a:lstStyle/>
                    <a:p>
                      <a:pPr marL="66675" marR="0" algn="l">
                        <a:spcBef>
                          <a:spcPts val="100"/>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JAD</a:t>
                      </a:r>
                      <a:r>
                        <a:rPr lang="en-US" sz="17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leader</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l">
                        <a:spcBef>
                          <a:spcPts val="100"/>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Develops</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agenda,</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acts</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as</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facilitator,</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leads</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JAD</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session</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427011"/>
                  </a:ext>
                </a:extLst>
              </a:tr>
              <a:tr h="427987">
                <a:tc>
                  <a:txBody>
                    <a:bodyPr/>
                    <a:lstStyle/>
                    <a:p>
                      <a:pPr marL="66675" marR="0" algn="l">
                        <a:spcBef>
                          <a:spcPts val="160"/>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Top</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management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l">
                        <a:spcBef>
                          <a:spcPts val="160"/>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Provides</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enterprise-level</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authorization</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support</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project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2715179"/>
                  </a:ext>
                </a:extLst>
              </a:tr>
              <a:tr h="841736">
                <a:tc>
                  <a:txBody>
                    <a:bodyPr/>
                    <a:lstStyle/>
                    <a:p>
                      <a:pPr marL="66675" marR="0" algn="l">
                        <a:spcBef>
                          <a:spcPts val="1050"/>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Managers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32715" algn="l">
                        <a:lnSpc>
                          <a:spcPct val="98000"/>
                        </a:lnSpc>
                        <a:spcBef>
                          <a:spcPts val="37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Provide department-level support for the project and understanding</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7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7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must</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support</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business</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functions</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requirements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9974019"/>
                  </a:ext>
                </a:extLst>
              </a:tr>
              <a:tr h="899032">
                <a:tc>
                  <a:txBody>
                    <a:bodyPr/>
                    <a:lstStyle/>
                    <a:p>
                      <a:pPr marL="0" marR="0" algn="l">
                        <a:spcBef>
                          <a:spcPts val="55"/>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 </a:t>
                      </a:r>
                    </a:p>
                    <a:p>
                      <a:pPr marL="66675" marR="0" algn="l">
                        <a:spcBef>
                          <a:spcPts val="0"/>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Users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64770" algn="l">
                        <a:spcBef>
                          <a:spcPts val="340"/>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Provide</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operational-level</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input</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on</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current</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operations,</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desired</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changes,</a:t>
                      </a:r>
                      <a:r>
                        <a:rPr lang="en-US" sz="1700" spc="2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input</a:t>
                      </a:r>
                      <a:r>
                        <a:rPr lang="en-US" sz="1700" spc="2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2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output</a:t>
                      </a:r>
                      <a:r>
                        <a:rPr lang="en-US" sz="1700" spc="2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requirements,</a:t>
                      </a:r>
                      <a:r>
                        <a:rPr lang="en-US" sz="1700" spc="2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user</a:t>
                      </a:r>
                      <a:r>
                        <a:rPr lang="en-US" sz="1700" spc="2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interface</a:t>
                      </a:r>
                      <a:r>
                        <a:rPr lang="en-US" sz="1700" spc="2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issues,</a:t>
                      </a:r>
                      <a:r>
                        <a:rPr lang="en-US" sz="1700" spc="2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project will support day-to-day</a:t>
                      </a:r>
                      <a:r>
                        <a:rPr lang="en-US" sz="17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tasks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5338929"/>
                  </a:ext>
                </a:extLst>
              </a:tr>
              <a:tr h="920242">
                <a:tc>
                  <a:txBody>
                    <a:bodyPr/>
                    <a:lstStyle/>
                    <a:p>
                      <a:pPr marL="66675" marR="292100" algn="l">
                        <a:spcBef>
                          <a:spcPts val="340"/>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Systems analysts</a:t>
                      </a:r>
                      <a:r>
                        <a:rPr lang="en-US" sz="1700" spc="-28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and other IT staff</a:t>
                      </a:r>
                      <a:r>
                        <a:rPr lang="en-US" sz="1700" spc="-29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members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62230" algn="l">
                        <a:spcBef>
                          <a:spcPts val="340"/>
                        </a:spcBef>
                        <a:spcAft>
                          <a:spcPts val="0"/>
                        </a:spcAft>
                      </a:pP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Provide</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technical</a:t>
                      </a:r>
                      <a:r>
                        <a:rPr lang="en-US" sz="17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assistance</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resources</a:t>
                      </a:r>
                      <a:r>
                        <a:rPr lang="en-US" sz="17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JAD</a:t>
                      </a:r>
                      <a:r>
                        <a:rPr lang="en-US" sz="17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team</a:t>
                      </a:r>
                      <a:r>
                        <a:rPr lang="en-US" sz="17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members</a:t>
                      </a:r>
                      <a:r>
                        <a:rPr lang="en-US" sz="17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on</a:t>
                      </a:r>
                      <a:r>
                        <a:rPr lang="en-US" sz="1700" spc="-28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issues such as security, backup, hardware, software, and network</a:t>
                      </a:r>
                      <a:r>
                        <a:rPr lang="en-US" sz="17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a:effectLst/>
                          <a:latin typeface="Times New Roman" panose="02020603050405020304" pitchFamily="18" charset="0"/>
                          <a:ea typeface="Times New Roman" panose="02020603050405020304" pitchFamily="18" charset="0"/>
                          <a:cs typeface="Times New Roman" panose="02020603050405020304" pitchFamily="18" charset="0"/>
                        </a:rPr>
                        <a:t>capability</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5395288"/>
                  </a:ext>
                </a:extLst>
              </a:tr>
              <a:tr h="656530">
                <a:tc>
                  <a:txBody>
                    <a:bodyPr/>
                    <a:lstStyle/>
                    <a:p>
                      <a:pPr marL="66675" marR="0" algn="l">
                        <a:spcBef>
                          <a:spcPts val="655"/>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Recorder</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0" algn="l">
                        <a:lnSpc>
                          <a:spcPts val="1350"/>
                        </a:lnSpc>
                        <a:spcBef>
                          <a:spcPts val="0"/>
                        </a:spcBef>
                        <a:spcAft>
                          <a:spcPts val="0"/>
                        </a:spcAft>
                      </a:pP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marR="0" algn="l">
                        <a:lnSpc>
                          <a:spcPts val="1350"/>
                        </a:lnSpc>
                        <a:spcBef>
                          <a:spcPts val="0"/>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Documents</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results</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JAD</a:t>
                      </a:r>
                      <a:r>
                        <a:rPr lang="en-US" sz="17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sessions</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works</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with</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systems</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analysts</a:t>
                      </a:r>
                    </a:p>
                    <a:p>
                      <a:pPr marL="68580" marR="0" algn="l">
                        <a:lnSpc>
                          <a:spcPts val="1320"/>
                        </a:lnSpc>
                        <a:spcBef>
                          <a:spcPts val="0"/>
                        </a:spcBef>
                        <a:spcAft>
                          <a:spcPts val="0"/>
                        </a:spcAf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build</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models</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develop</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tool</a:t>
                      </a:r>
                      <a:r>
                        <a:rPr lang="en-US" sz="17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documentation</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2301476"/>
                  </a:ext>
                </a:extLst>
              </a:tr>
            </a:tbl>
          </a:graphicData>
        </a:graphic>
      </p:graphicFrame>
    </p:spTree>
    <p:extLst>
      <p:ext uri="{BB962C8B-B14F-4D97-AF65-F5344CB8AC3E}">
        <p14:creationId xmlns:p14="http://schemas.microsoft.com/office/powerpoint/2010/main" val="3290736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338240-6155-4358-8A29-E8A3262A3582}"/>
              </a:ext>
            </a:extLst>
          </p:cNvPr>
          <p:cNvSpPr>
            <a:spLocks noGrp="1"/>
          </p:cNvSpPr>
          <p:nvPr>
            <p:ph idx="1"/>
          </p:nvPr>
        </p:nvSpPr>
        <p:spPr>
          <a:xfrm>
            <a:off x="1199667" y="1574161"/>
            <a:ext cx="9709540" cy="4477181"/>
          </a:xfrm>
        </p:spPr>
        <p:txBody>
          <a:bodyPr>
            <a:normAutofit fontScale="92500" lnSpcReduction="10000"/>
          </a:bodyPr>
          <a:lstStyle/>
          <a:p>
            <a:pPr>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Define Session: </a:t>
            </a:r>
            <a:r>
              <a:rPr lang="en-US" dirty="0">
                <a:solidFill>
                  <a:schemeClr val="tx1"/>
                </a:solidFill>
                <a:latin typeface="Times New Roman" panose="02020603050405020304" pitchFamily="18" charset="0"/>
                <a:cs typeface="Times New Roman" panose="02020603050405020304" pitchFamily="18" charset="0"/>
              </a:rPr>
              <a:t>Define the purpose, scope, and objectives of the JAD session, selecting the JAD team, invite and obtain commitment to attend sessions from the appropriate stakeholders, and schedule the session. </a:t>
            </a:r>
          </a:p>
          <a:p>
            <a:pPr>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Research Product: </a:t>
            </a:r>
            <a:r>
              <a:rPr lang="en-US" dirty="0">
                <a:solidFill>
                  <a:schemeClr val="tx1"/>
                </a:solidFill>
                <a:latin typeface="Times New Roman" panose="02020603050405020304" pitchFamily="18" charset="0"/>
                <a:cs typeface="Times New Roman" panose="02020603050405020304" pitchFamily="18" charset="0"/>
              </a:rPr>
              <a:t>Become more familiar with the product or service, gather preliminary information, obtaining any models.</a:t>
            </a:r>
          </a:p>
          <a:p>
            <a:pPr>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Prepare: </a:t>
            </a:r>
            <a:r>
              <a:rPr lang="en-US" dirty="0">
                <a:solidFill>
                  <a:schemeClr val="tx1"/>
                </a:solidFill>
                <a:latin typeface="Times New Roman" panose="02020603050405020304" pitchFamily="18" charset="0"/>
                <a:cs typeface="Times New Roman" panose="02020603050405020304" pitchFamily="18" charset="0"/>
              </a:rPr>
              <a:t>Prepare any visual aids, developing a realistic agenda, training the recorder, and preparing the meeting room.</a:t>
            </a:r>
          </a:p>
          <a:p>
            <a:pPr>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Conduct Session:</a:t>
            </a:r>
            <a:r>
              <a:rPr lang="en-US" sz="2000"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Follow agenda to gather and document the project needs and requirements. It is important to ensure all participants are given equal treatment during the process.</a:t>
            </a:r>
          </a:p>
          <a:p>
            <a:pPr>
              <a:buFont typeface="Wingdings" panose="05000000000000000000" pitchFamily="2" charset="2"/>
              <a:buChar char="ü"/>
            </a:pPr>
            <a:r>
              <a:rPr lang="en-US" sz="2000" b="1" dirty="0">
                <a:solidFill>
                  <a:schemeClr val="tx1"/>
                </a:solidFill>
                <a:latin typeface="Times New Roman" panose="02020603050405020304" pitchFamily="18" charset="0"/>
                <a:cs typeface="Times New Roman" panose="02020603050405020304" pitchFamily="18" charset="0"/>
              </a:rPr>
              <a:t>Draft the Documents: </a:t>
            </a:r>
            <a:r>
              <a:rPr lang="en-US" dirty="0">
                <a:solidFill>
                  <a:schemeClr val="tx1"/>
                </a:solidFill>
                <a:latin typeface="Times New Roman" panose="02020603050405020304" pitchFamily="18" charset="0"/>
                <a:cs typeface="Times New Roman" panose="02020603050405020304" pitchFamily="18" charset="0"/>
              </a:rPr>
              <a:t>Prepare the formal documents. The JAD session's information is refined through analysis, open questions or issues are resolved, and the final document is returned to stakeholders for review and validation.</a:t>
            </a:r>
          </a:p>
        </p:txBody>
      </p:sp>
      <p:sp>
        <p:nvSpPr>
          <p:cNvPr id="2" name="Title 1">
            <a:extLst>
              <a:ext uri="{FF2B5EF4-FFF2-40B4-BE49-F238E27FC236}">
                <a16:creationId xmlns:a16="http://schemas.microsoft.com/office/drawing/2014/main" id="{EE45735B-A999-4E62-8ACB-496CD1A8632D}"/>
              </a:ext>
            </a:extLst>
          </p:cNvPr>
          <p:cNvSpPr>
            <a:spLocks noGrp="1"/>
          </p:cNvSpPr>
          <p:nvPr>
            <p:ph type="title"/>
          </p:nvPr>
        </p:nvSpPr>
        <p:spPr>
          <a:xfrm>
            <a:off x="1252800" y="804519"/>
            <a:ext cx="9603275" cy="1049235"/>
          </a:xfrm>
        </p:spPr>
        <p:txBody>
          <a:bodyPr/>
          <a:lstStyle/>
          <a:p>
            <a:r>
              <a:rPr lang="en-US" b="1" dirty="0"/>
              <a:t>JAD Process Steps</a:t>
            </a:r>
            <a:br>
              <a:rPr lang="en-US" b="1" dirty="0"/>
            </a:br>
            <a:endParaRPr lang="en-US" dirty="0"/>
          </a:p>
        </p:txBody>
      </p:sp>
    </p:spTree>
    <p:extLst>
      <p:ext uri="{BB962C8B-B14F-4D97-AF65-F5344CB8AC3E}">
        <p14:creationId xmlns:p14="http://schemas.microsoft.com/office/powerpoint/2010/main" val="2253901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BBD80A-1207-4960-9C52-FCAF3BF7343F}"/>
              </a:ext>
            </a:extLst>
          </p:cNvPr>
          <p:cNvSpPr>
            <a:spLocks noGrp="1"/>
          </p:cNvSpPr>
          <p:nvPr>
            <p:ph idx="1"/>
          </p:nvPr>
        </p:nvSpPr>
        <p:spPr>
          <a:xfrm>
            <a:off x="1294363" y="1605197"/>
            <a:ext cx="9389944" cy="4629349"/>
          </a:xfrm>
        </p:spPr>
        <p:txBody>
          <a:bodyPr>
            <a:normAutofit lnSpcReduction="10000"/>
          </a:bodyPr>
          <a:lstStyle/>
          <a:p>
            <a:pPr marL="0" lvl="0" indent="0">
              <a:buNone/>
            </a:pPr>
            <a:r>
              <a:rPr lang="en-US" sz="2000" b="1" dirty="0">
                <a:solidFill>
                  <a:schemeClr val="tx1"/>
                </a:solidFill>
                <a:latin typeface="Times New Roman" panose="02020603050405020304" pitchFamily="18" charset="0"/>
                <a:cs typeface="Times New Roman" panose="02020603050405020304" pitchFamily="18" charset="0"/>
              </a:rPr>
              <a:t>Advantages:</a:t>
            </a:r>
          </a:p>
          <a:p>
            <a:pPr lvl="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This technique allows for the simultaneous gathering and consolidating of large amounts of information.</a:t>
            </a:r>
          </a:p>
          <a:p>
            <a:pPr lvl="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This technique provides a forum to explore multiple points of view regarding a topic.</a:t>
            </a:r>
          </a:p>
          <a:p>
            <a:pPr lvl="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This technique produces relatively large amounts of high-quality information in a short period of time.</a:t>
            </a:r>
          </a:p>
          <a:p>
            <a:pPr marL="0" indent="0">
              <a:buNone/>
            </a:pPr>
            <a:endParaRPr lang="en-US" dirty="0"/>
          </a:p>
          <a:p>
            <a:pPr marL="0" indent="0">
              <a:buNone/>
            </a:pPr>
            <a:r>
              <a:rPr lang="en-US" sz="2000" b="1" dirty="0">
                <a:solidFill>
                  <a:schemeClr val="tx1"/>
                </a:solidFill>
                <a:latin typeface="Times New Roman" panose="02020603050405020304" pitchFamily="18" charset="0"/>
                <a:cs typeface="Times New Roman" panose="02020603050405020304" pitchFamily="18" charset="0"/>
              </a:rPr>
              <a:t>Disadvantages:</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Requires significant planning and scheduling effort.</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Requires trained and experienced personnel for facilitation and recording.</a:t>
            </a:r>
          </a:p>
          <a:p>
            <a:pPr>
              <a:buFont typeface="Wingdings" panose="05000000000000000000" pitchFamily="2" charset="2"/>
              <a:buChar char="ü"/>
            </a:pPr>
            <a:endParaRPr lang="en-US" dirty="0"/>
          </a:p>
        </p:txBody>
      </p:sp>
      <p:sp>
        <p:nvSpPr>
          <p:cNvPr id="2" name="Title 1">
            <a:extLst>
              <a:ext uri="{FF2B5EF4-FFF2-40B4-BE49-F238E27FC236}">
                <a16:creationId xmlns:a16="http://schemas.microsoft.com/office/drawing/2014/main" id="{DAC315AB-99DD-46B0-8DC7-EAC6F8D12A8E}"/>
              </a:ext>
            </a:extLst>
          </p:cNvPr>
          <p:cNvSpPr>
            <a:spLocks noGrp="1"/>
          </p:cNvSpPr>
          <p:nvPr>
            <p:ph type="title"/>
          </p:nvPr>
        </p:nvSpPr>
        <p:spPr/>
        <p:txBody>
          <a:bodyPr/>
          <a:lstStyle/>
          <a:p>
            <a:r>
              <a:rPr lang="en-US" b="1" dirty="0"/>
              <a:t>JAD Advantages &amp; Disadvantages</a:t>
            </a:r>
          </a:p>
        </p:txBody>
      </p:sp>
    </p:spTree>
    <p:extLst>
      <p:ext uri="{BB962C8B-B14F-4D97-AF65-F5344CB8AC3E}">
        <p14:creationId xmlns:p14="http://schemas.microsoft.com/office/powerpoint/2010/main" val="3112537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D188E4-2003-4FA2-8D13-2072AA86CA27}"/>
              </a:ext>
            </a:extLst>
          </p:cNvPr>
          <p:cNvSpPr>
            <a:spLocks noGrp="1"/>
          </p:cNvSpPr>
          <p:nvPr>
            <p:ph idx="1"/>
          </p:nvPr>
        </p:nvSpPr>
        <p:spPr>
          <a:xfrm>
            <a:off x="1197381" y="1358819"/>
            <a:ext cx="6637866" cy="4890117"/>
          </a:xfrm>
        </p:spPr>
        <p:txBody>
          <a:bodyPr>
            <a:normAutofit/>
          </a:bodyPr>
          <a:lstStyle/>
          <a:p>
            <a:pPr lvl="0"/>
            <a:r>
              <a:rPr lang="en-US" sz="2000" b="1" dirty="0">
                <a:solidFill>
                  <a:schemeClr val="tx1"/>
                </a:solidFill>
                <a:latin typeface="Times New Roman" panose="02020603050405020304" pitchFamily="18" charset="0"/>
                <a:cs typeface="Times New Roman" panose="02020603050405020304" pitchFamily="18" charset="0"/>
              </a:rPr>
              <a:t>Waterfall Model</a:t>
            </a:r>
          </a:p>
          <a:p>
            <a:pPr lvl="1">
              <a:buFont typeface="Courier New" panose="02070309020205020404" pitchFamily="49" charset="0"/>
              <a:buChar char="o"/>
            </a:pPr>
            <a:r>
              <a:rPr lang="en-US" sz="1800" dirty="0">
                <a:solidFill>
                  <a:schemeClr val="tx1"/>
                </a:solidFill>
                <a:latin typeface="Times New Roman" panose="02020603050405020304" pitchFamily="18" charset="0"/>
                <a:cs typeface="Times New Roman" panose="02020603050405020304" pitchFamily="18" charset="0"/>
              </a:rPr>
              <a:t>Classical Waterfall Model</a:t>
            </a:r>
          </a:p>
          <a:p>
            <a:pPr lvl="1">
              <a:buFont typeface="Courier New" panose="02070309020205020404" pitchFamily="49" charset="0"/>
              <a:buChar char="o"/>
            </a:pPr>
            <a:r>
              <a:rPr lang="en-US" sz="1800" dirty="0">
                <a:solidFill>
                  <a:schemeClr val="tx1"/>
                </a:solidFill>
                <a:latin typeface="Times New Roman" panose="02020603050405020304" pitchFamily="18" charset="0"/>
                <a:cs typeface="Times New Roman" panose="02020603050405020304" pitchFamily="18" charset="0"/>
              </a:rPr>
              <a:t>Parallel Waterfall Model</a:t>
            </a:r>
          </a:p>
          <a:p>
            <a:pPr lvl="1">
              <a:buFont typeface="Courier New" panose="02070309020205020404" pitchFamily="49" charset="0"/>
              <a:buChar char="o"/>
            </a:pPr>
            <a:r>
              <a:rPr lang="en-US" sz="1800" dirty="0">
                <a:solidFill>
                  <a:schemeClr val="tx1"/>
                </a:solidFill>
                <a:latin typeface="Times New Roman" panose="02020603050405020304" pitchFamily="18" charset="0"/>
                <a:cs typeface="Times New Roman" panose="02020603050405020304" pitchFamily="18" charset="0"/>
              </a:rPr>
              <a:t>Waterfall V </a:t>
            </a:r>
            <a:r>
              <a:rPr lang="en-US" sz="1800" dirty="0" smtClean="0">
                <a:solidFill>
                  <a:schemeClr val="tx1"/>
                </a:solidFill>
                <a:latin typeface="Times New Roman" panose="02020603050405020304" pitchFamily="18" charset="0"/>
                <a:cs typeface="Times New Roman" panose="02020603050405020304" pitchFamily="18" charset="0"/>
              </a:rPr>
              <a:t>Model</a:t>
            </a:r>
            <a:endParaRPr lang="en-US" sz="1800" dirty="0">
              <a:solidFill>
                <a:schemeClr val="tx1"/>
              </a:solidFill>
              <a:latin typeface="Times New Roman" panose="02020603050405020304" pitchFamily="18" charset="0"/>
              <a:cs typeface="Times New Roman" panose="02020603050405020304" pitchFamily="18" charset="0"/>
            </a:endParaRPr>
          </a:p>
          <a:p>
            <a:pPr lvl="0"/>
            <a:r>
              <a:rPr lang="en-US" sz="2000" b="1" dirty="0">
                <a:solidFill>
                  <a:schemeClr val="tx1"/>
                </a:solidFill>
                <a:latin typeface="Times New Roman" panose="02020603050405020304" pitchFamily="18" charset="0"/>
                <a:cs typeface="Times New Roman" panose="02020603050405020304" pitchFamily="18" charset="0"/>
              </a:rPr>
              <a:t>Spiral Model</a:t>
            </a:r>
          </a:p>
          <a:p>
            <a:pPr lvl="0"/>
            <a:r>
              <a:rPr lang="en-US" sz="2000" b="1" dirty="0">
                <a:solidFill>
                  <a:schemeClr val="tx1"/>
                </a:solidFill>
                <a:latin typeface="Times New Roman" panose="02020603050405020304" pitchFamily="18" charset="0"/>
                <a:cs typeface="Times New Roman" panose="02020603050405020304" pitchFamily="18" charset="0"/>
              </a:rPr>
              <a:t>Agile Methodologies</a:t>
            </a:r>
          </a:p>
          <a:p>
            <a:pPr lvl="0"/>
            <a:r>
              <a:rPr lang="en-US" sz="2000" b="1" dirty="0" smtClean="0">
                <a:solidFill>
                  <a:schemeClr val="tx1"/>
                </a:solidFill>
                <a:latin typeface="Times New Roman" panose="02020603050405020304" pitchFamily="18" charset="0"/>
                <a:cs typeface="Times New Roman" panose="02020603050405020304" pitchFamily="18" charset="0"/>
              </a:rPr>
              <a:t>Other </a:t>
            </a:r>
            <a:r>
              <a:rPr lang="en-US" sz="2000" b="1" dirty="0">
                <a:solidFill>
                  <a:schemeClr val="tx1"/>
                </a:solidFill>
                <a:latin typeface="Times New Roman" panose="02020603050405020304" pitchFamily="18" charset="0"/>
                <a:cs typeface="Times New Roman" panose="02020603050405020304" pitchFamily="18" charset="0"/>
              </a:rPr>
              <a:t>Practices </a:t>
            </a:r>
            <a:r>
              <a:rPr lang="en-US" sz="2000" b="1" dirty="0" smtClean="0">
                <a:solidFill>
                  <a:schemeClr val="tx1"/>
                </a:solidFill>
                <a:latin typeface="Times New Roman" panose="02020603050405020304" pitchFamily="18" charset="0"/>
                <a:cs typeface="Times New Roman" panose="02020603050405020304" pitchFamily="18" charset="0"/>
              </a:rPr>
              <a:t>:</a:t>
            </a:r>
            <a:endParaRPr lang="en-US" sz="2000" b="1" dirty="0">
              <a:solidFill>
                <a:schemeClr val="tx1"/>
              </a:solidFill>
              <a:latin typeface="Times New Roman" panose="02020603050405020304" pitchFamily="18" charset="0"/>
              <a:cs typeface="Times New Roman" panose="02020603050405020304" pitchFamily="18" charset="0"/>
            </a:endParaRPr>
          </a:p>
          <a:p>
            <a:pPr lvl="1">
              <a:buFont typeface="Courier New" panose="02070309020205020404" pitchFamily="49" charset="0"/>
              <a:buChar char="o"/>
            </a:pPr>
            <a:r>
              <a:rPr lang="en-US" sz="1800" dirty="0">
                <a:solidFill>
                  <a:schemeClr val="tx1"/>
                </a:solidFill>
                <a:latin typeface="Times New Roman" panose="02020603050405020304" pitchFamily="18" charset="0"/>
                <a:cs typeface="Times New Roman" panose="02020603050405020304" pitchFamily="18" charset="0"/>
              </a:rPr>
              <a:t>Rapid Application Development (RAD)</a:t>
            </a:r>
          </a:p>
          <a:p>
            <a:endParaRPr lang="en-US" dirty="0"/>
          </a:p>
        </p:txBody>
      </p:sp>
      <p:sp>
        <p:nvSpPr>
          <p:cNvPr id="2" name="Title 1">
            <a:extLst>
              <a:ext uri="{FF2B5EF4-FFF2-40B4-BE49-F238E27FC236}">
                <a16:creationId xmlns:a16="http://schemas.microsoft.com/office/drawing/2014/main" id="{4F12293B-D61C-45DB-B698-5C503DDD494F}"/>
              </a:ext>
            </a:extLst>
          </p:cNvPr>
          <p:cNvSpPr>
            <a:spLocks noGrp="1"/>
          </p:cNvSpPr>
          <p:nvPr>
            <p:ph type="title"/>
          </p:nvPr>
        </p:nvSpPr>
        <p:spPr>
          <a:xfrm>
            <a:off x="1197381" y="833665"/>
            <a:ext cx="9603275" cy="1049235"/>
          </a:xfrm>
        </p:spPr>
        <p:txBody>
          <a:bodyPr/>
          <a:lstStyle/>
          <a:p>
            <a:r>
              <a:rPr lang="en-US" b="1" dirty="0"/>
              <a:t>Some SDLC Methodologies</a:t>
            </a:r>
            <a:br>
              <a:rPr lang="en-US" b="1" dirty="0"/>
            </a:br>
            <a:endParaRPr lang="en-US" dirty="0"/>
          </a:p>
        </p:txBody>
      </p:sp>
    </p:spTree>
    <p:extLst>
      <p:ext uri="{BB962C8B-B14F-4D97-AF65-F5344CB8AC3E}">
        <p14:creationId xmlns:p14="http://schemas.microsoft.com/office/powerpoint/2010/main" val="2133040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E57E6-22EB-4D17-9176-B562AE2C5AB1}"/>
              </a:ext>
            </a:extLst>
          </p:cNvPr>
          <p:cNvSpPr>
            <a:spLocks noGrp="1"/>
          </p:cNvSpPr>
          <p:nvPr>
            <p:ph idx="1"/>
          </p:nvPr>
        </p:nvSpPr>
        <p:spPr>
          <a:xfrm>
            <a:off x="1434891" y="1553593"/>
            <a:ext cx="8596668" cy="4487770"/>
          </a:xfrm>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The model has six phases</a:t>
            </a:r>
          </a:p>
        </p:txBody>
      </p:sp>
      <p:sp>
        <p:nvSpPr>
          <p:cNvPr id="2" name="Title 1">
            <a:extLst>
              <a:ext uri="{FF2B5EF4-FFF2-40B4-BE49-F238E27FC236}">
                <a16:creationId xmlns:a16="http://schemas.microsoft.com/office/drawing/2014/main" id="{B1402791-8093-4894-8FE3-EE88657ACFE0}"/>
              </a:ext>
            </a:extLst>
          </p:cNvPr>
          <p:cNvSpPr>
            <a:spLocks noGrp="1"/>
          </p:cNvSpPr>
          <p:nvPr>
            <p:ph type="title"/>
          </p:nvPr>
        </p:nvSpPr>
        <p:spPr/>
        <p:txBody>
          <a:bodyPr/>
          <a:lstStyle/>
          <a:p>
            <a:r>
              <a:rPr lang="en-US" b="1" dirty="0"/>
              <a:t>Classical Waterfall Model</a:t>
            </a:r>
            <a:br>
              <a:rPr lang="en-US" b="1" dirty="0"/>
            </a:br>
            <a:endParaRPr lang="en-US" dirty="0"/>
          </a:p>
        </p:txBody>
      </p:sp>
      <p:pic>
        <p:nvPicPr>
          <p:cNvPr id="1028" name="Picture 4" descr="Waterfall Methodology. Waterfall Methodology | by Chathmini ...">
            <a:extLst>
              <a:ext uri="{FF2B5EF4-FFF2-40B4-BE49-F238E27FC236}">
                <a16:creationId xmlns:a16="http://schemas.microsoft.com/office/drawing/2014/main" id="{CD089A07-EF24-466C-A07B-33CE11169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2577" y="2024326"/>
            <a:ext cx="5021296" cy="4017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850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E57E6-22EB-4D17-9176-B562AE2C5AB1}"/>
              </a:ext>
            </a:extLst>
          </p:cNvPr>
          <p:cNvSpPr>
            <a:spLocks noGrp="1"/>
          </p:cNvSpPr>
          <p:nvPr>
            <p:ph idx="1"/>
          </p:nvPr>
        </p:nvSpPr>
        <p:spPr>
          <a:xfrm>
            <a:off x="1294363" y="1633224"/>
            <a:ext cx="9052592" cy="4159187"/>
          </a:xfrm>
        </p:spPr>
        <p:txBody>
          <a:bodyPr>
            <a:normAutofit/>
          </a:bodyPr>
          <a:lstStyle/>
          <a:p>
            <a:r>
              <a:rPr lang="en-US" sz="2200" b="1" dirty="0">
                <a:solidFill>
                  <a:schemeClr val="tx1"/>
                </a:solidFill>
                <a:latin typeface="Times New Roman" panose="02020603050405020304" pitchFamily="18" charset="0"/>
                <a:cs typeface="Times New Roman" panose="02020603050405020304" pitchFamily="18" charset="0"/>
              </a:rPr>
              <a:t>Advantages: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requirements are clearly and accurately stated</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Detailed documentation </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Careful planning </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start and end points for each phase are set</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It provides easy control and transparency for the customer due to a strict reporting system.</a:t>
            </a:r>
          </a:p>
          <a:p>
            <a:pPr marL="457200" lvl="1" indent="0">
              <a:buNone/>
            </a:pPr>
            <a:r>
              <a:rPr lang="en-US" sz="1800" i="1" dirty="0"/>
              <a:t>The waterfall method is still preferred by some developers because of its predictability and known costs.</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B1402791-8093-4894-8FE3-EE88657ACFE0}"/>
              </a:ext>
            </a:extLst>
          </p:cNvPr>
          <p:cNvSpPr>
            <a:spLocks noGrp="1"/>
          </p:cNvSpPr>
          <p:nvPr>
            <p:ph type="title"/>
          </p:nvPr>
        </p:nvSpPr>
        <p:spPr/>
        <p:txBody>
          <a:bodyPr/>
          <a:lstStyle/>
          <a:p>
            <a:r>
              <a:rPr lang="en-US" b="1" dirty="0"/>
              <a:t>Classical Waterfall </a:t>
            </a:r>
            <a:r>
              <a:rPr lang="en-US" b="1" dirty="0" smtClean="0"/>
              <a:t>Model</a:t>
            </a:r>
            <a:endParaRPr lang="en-US" dirty="0"/>
          </a:p>
        </p:txBody>
      </p:sp>
    </p:spTree>
    <p:extLst>
      <p:ext uri="{BB962C8B-B14F-4D97-AF65-F5344CB8AC3E}">
        <p14:creationId xmlns:p14="http://schemas.microsoft.com/office/powerpoint/2010/main" val="267714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E57E6-22EB-4D17-9176-B562AE2C5AB1}"/>
              </a:ext>
            </a:extLst>
          </p:cNvPr>
          <p:cNvSpPr>
            <a:spLocks noGrp="1"/>
          </p:cNvSpPr>
          <p:nvPr>
            <p:ph idx="1"/>
          </p:nvPr>
        </p:nvSpPr>
        <p:spPr>
          <a:xfrm>
            <a:off x="1231516" y="1416527"/>
            <a:ext cx="9531986" cy="4989249"/>
          </a:xfrm>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Disadvantages: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It is not desirable for complex project where requirement changes frequently</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Testing period comes quite late in the developmental process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Documentation occupies a lot of time of developers and testers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Clients valuable feedback cannot be included with ongoing development phase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Small changes or errors that arise in the completed software may cause a lot of problems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900"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When to Use the Waterfall Model</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When quality is more important than cost or schedule.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When requirements are very well known, clear, and fixed.</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New version of existing product is needed.</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Porting an existing product to a new platform</a:t>
            </a:r>
          </a:p>
          <a:p>
            <a:pPr>
              <a:buFont typeface="Wingdings" panose="05000000000000000000" pitchFamily="2" charset="2"/>
              <a:buChar char="ü"/>
            </a:pP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B1402791-8093-4894-8FE3-EE88657ACFE0}"/>
              </a:ext>
            </a:extLst>
          </p:cNvPr>
          <p:cNvSpPr>
            <a:spLocks noGrp="1"/>
          </p:cNvSpPr>
          <p:nvPr>
            <p:ph type="title"/>
          </p:nvPr>
        </p:nvSpPr>
        <p:spPr>
          <a:xfrm>
            <a:off x="1231516" y="907002"/>
            <a:ext cx="8596668" cy="1320800"/>
          </a:xfrm>
        </p:spPr>
        <p:txBody>
          <a:bodyPr>
            <a:normAutofit fontScale="90000"/>
          </a:bodyPr>
          <a:lstStyle/>
          <a:p>
            <a:r>
              <a:rPr lang="en-US" b="1" dirty="0"/>
              <a:t>Classical Waterfall Model (Cont.)</a:t>
            </a:r>
            <a:br>
              <a:rPr lang="en-US" b="1" dirty="0"/>
            </a:br>
            <a:endParaRPr lang="en-US" dirty="0"/>
          </a:p>
        </p:txBody>
      </p:sp>
    </p:spTree>
    <p:extLst>
      <p:ext uri="{BB962C8B-B14F-4D97-AF65-F5344CB8AC3E}">
        <p14:creationId xmlns:p14="http://schemas.microsoft.com/office/powerpoint/2010/main" val="3207798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1F538-A515-42ED-9410-87DF76CEE480}"/>
              </a:ext>
            </a:extLst>
          </p:cNvPr>
          <p:cNvSpPr>
            <a:spLocks noGrp="1"/>
          </p:cNvSpPr>
          <p:nvPr>
            <p:ph idx="1"/>
          </p:nvPr>
        </p:nvSpPr>
        <p:spPr>
          <a:xfrm>
            <a:off x="1294363" y="1488613"/>
            <a:ext cx="4455273" cy="3880773"/>
          </a:xfrm>
        </p:spPr>
        <p:txBody>
          <a:bodyPr/>
          <a:lstStyle/>
          <a:p>
            <a:pPr lvl="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Here, instead of doing the design and implementation in sequence, a general design for the whole system is performed. </a:t>
            </a:r>
          </a:p>
          <a:p>
            <a:pPr lvl="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Then the project is divided into a series of subprojects that can be designed and implemented in parallel. </a:t>
            </a:r>
          </a:p>
          <a:p>
            <a:pPr>
              <a:buFont typeface="Wingdings" panose="05000000000000000000" pitchFamily="2" charset="2"/>
              <a:buChar char="ü"/>
            </a:pPr>
            <a:endParaRPr lang="en-US" dirty="0"/>
          </a:p>
        </p:txBody>
      </p:sp>
      <p:sp>
        <p:nvSpPr>
          <p:cNvPr id="2" name="Title 1">
            <a:extLst>
              <a:ext uri="{FF2B5EF4-FFF2-40B4-BE49-F238E27FC236}">
                <a16:creationId xmlns:a16="http://schemas.microsoft.com/office/drawing/2014/main" id="{9D9C9A10-2BA8-45A0-8B75-1BF91B4B97B1}"/>
              </a:ext>
            </a:extLst>
          </p:cNvPr>
          <p:cNvSpPr>
            <a:spLocks noGrp="1"/>
          </p:cNvSpPr>
          <p:nvPr>
            <p:ph type="title"/>
          </p:nvPr>
        </p:nvSpPr>
        <p:spPr/>
        <p:txBody>
          <a:bodyPr/>
          <a:lstStyle/>
          <a:p>
            <a:r>
              <a:rPr lang="en-US" b="1" dirty="0"/>
              <a:t>Parallel Waterfall Model</a:t>
            </a:r>
            <a:br>
              <a:rPr lang="en-US" b="1" dirty="0"/>
            </a:br>
            <a:endParaRPr lang="en-US" dirty="0"/>
          </a:p>
        </p:txBody>
      </p:sp>
      <p:pic>
        <p:nvPicPr>
          <p:cNvPr id="4" name="Picture 3"/>
          <p:cNvPicPr>
            <a:picLocks noChangeAspect="1"/>
          </p:cNvPicPr>
          <p:nvPr/>
        </p:nvPicPr>
        <p:blipFill>
          <a:blip r:embed="rId2"/>
          <a:stretch>
            <a:fillRect/>
          </a:stretch>
        </p:blipFill>
        <p:spPr>
          <a:xfrm>
            <a:off x="5749636" y="1602097"/>
            <a:ext cx="5707017" cy="3621066"/>
          </a:xfrm>
          <a:prstGeom prst="rect">
            <a:avLst/>
          </a:prstGeom>
        </p:spPr>
      </p:pic>
    </p:spTree>
    <p:extLst>
      <p:ext uri="{BB962C8B-B14F-4D97-AF65-F5344CB8AC3E}">
        <p14:creationId xmlns:p14="http://schemas.microsoft.com/office/powerpoint/2010/main" val="151799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BA997-EE0C-40DC-A6C1-08D33B40A046}"/>
              </a:ext>
            </a:extLst>
          </p:cNvPr>
          <p:cNvSpPr>
            <a:spLocks noGrp="1"/>
          </p:cNvSpPr>
          <p:nvPr>
            <p:ph idx="1"/>
          </p:nvPr>
        </p:nvSpPr>
        <p:spPr>
          <a:xfrm>
            <a:off x="1294363" y="1556908"/>
            <a:ext cx="9585252" cy="4932669"/>
          </a:xfrm>
        </p:spPr>
        <p:txBody>
          <a:bodyPr numCol="2"/>
          <a:lstStyle/>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V-Model is software development model and V-model is also known as </a:t>
            </a:r>
            <a:r>
              <a:rPr lang="en-US" b="1" dirty="0">
                <a:solidFill>
                  <a:schemeClr val="tx1"/>
                </a:solidFill>
                <a:latin typeface="Times New Roman" panose="02020603050405020304" pitchFamily="18" charset="0"/>
                <a:cs typeface="Times New Roman" panose="02020603050405020304" pitchFamily="18" charset="0"/>
              </a:rPr>
              <a:t>Verification and Validation model.</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It is basically extension of waterfall model but unlike water fall model here in V-model, testing is done simultaneously with the development phase. The main disadvantage of water fall model i.e., the Testing Starts after Development ends. But in V-model the testing starts early in life cycle.</a:t>
            </a:r>
          </a:p>
          <a:p>
            <a:endParaRPr lang="en-US" dirty="0"/>
          </a:p>
        </p:txBody>
      </p:sp>
      <p:sp>
        <p:nvSpPr>
          <p:cNvPr id="2" name="Title 1">
            <a:extLst>
              <a:ext uri="{FF2B5EF4-FFF2-40B4-BE49-F238E27FC236}">
                <a16:creationId xmlns:a16="http://schemas.microsoft.com/office/drawing/2014/main" id="{67B514D6-CCC6-4D92-8AFD-06CFD877BB67}"/>
              </a:ext>
            </a:extLst>
          </p:cNvPr>
          <p:cNvSpPr>
            <a:spLocks noGrp="1"/>
          </p:cNvSpPr>
          <p:nvPr>
            <p:ph type="title"/>
          </p:nvPr>
        </p:nvSpPr>
        <p:spPr/>
        <p:txBody>
          <a:bodyPr/>
          <a:lstStyle/>
          <a:p>
            <a:r>
              <a:rPr lang="en-US" b="1" dirty="0"/>
              <a:t>Waterfall V Model</a:t>
            </a:r>
            <a:br>
              <a:rPr lang="en-US" b="1" dirty="0"/>
            </a:br>
            <a:endParaRPr lang="en-US" b="1" dirty="0"/>
          </a:p>
        </p:txBody>
      </p:sp>
      <p:pic>
        <p:nvPicPr>
          <p:cNvPr id="4" name="image6.jpeg">
            <a:extLst>
              <a:ext uri="{FF2B5EF4-FFF2-40B4-BE49-F238E27FC236}">
                <a16:creationId xmlns:a16="http://schemas.microsoft.com/office/drawing/2014/main" id="{E5DAE1F2-14A7-4D9B-A289-FAFDCEA3533A}"/>
              </a:ext>
            </a:extLst>
          </p:cNvPr>
          <p:cNvPicPr/>
          <p:nvPr/>
        </p:nvPicPr>
        <p:blipFill>
          <a:blip r:embed="rId2" cstate="print"/>
          <a:stretch>
            <a:fillRect/>
          </a:stretch>
        </p:blipFill>
        <p:spPr>
          <a:xfrm>
            <a:off x="6713029" y="1655987"/>
            <a:ext cx="4166586" cy="4107504"/>
          </a:xfrm>
          <a:prstGeom prst="rect">
            <a:avLst/>
          </a:prstGeom>
        </p:spPr>
      </p:pic>
    </p:spTree>
    <p:extLst>
      <p:ext uri="{BB962C8B-B14F-4D97-AF65-F5344CB8AC3E}">
        <p14:creationId xmlns:p14="http://schemas.microsoft.com/office/powerpoint/2010/main" val="3994855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BA997-EE0C-40DC-A6C1-08D33B40A046}"/>
              </a:ext>
            </a:extLst>
          </p:cNvPr>
          <p:cNvSpPr>
            <a:spLocks noGrp="1"/>
          </p:cNvSpPr>
          <p:nvPr>
            <p:ph idx="1"/>
          </p:nvPr>
        </p:nvSpPr>
        <p:spPr>
          <a:xfrm>
            <a:off x="1301730" y="1446071"/>
            <a:ext cx="9845461" cy="4932669"/>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Verification Phase of V-model</a:t>
            </a:r>
            <a:endParaRPr lang="en-US" sz="2400" b="1" dirty="0">
              <a:latin typeface="Times New Roman" panose="02020603050405020304" pitchFamily="18" charset="0"/>
              <a:cs typeface="Times New Roman" panose="02020603050405020304" pitchFamily="18" charset="0"/>
            </a:endParaRPr>
          </a:p>
          <a:p>
            <a:pPr lvl="0">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Business requirement analysis: </a:t>
            </a:r>
            <a:r>
              <a:rPr lang="en-US" dirty="0">
                <a:solidFill>
                  <a:schemeClr val="tx1"/>
                </a:solidFill>
                <a:latin typeface="Times New Roman" panose="02020603050405020304" pitchFamily="18" charset="0"/>
                <a:cs typeface="Times New Roman" panose="02020603050405020304" pitchFamily="18" charset="0"/>
              </a:rPr>
              <a:t>This is the first step where product requirements understood from the customer's side. </a:t>
            </a:r>
          </a:p>
          <a:p>
            <a:pPr lvl="0">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System Design: </a:t>
            </a:r>
            <a:r>
              <a:rPr lang="en-US" dirty="0">
                <a:solidFill>
                  <a:schemeClr val="tx1"/>
                </a:solidFill>
                <a:latin typeface="Times New Roman" panose="02020603050405020304" pitchFamily="18" charset="0"/>
                <a:cs typeface="Times New Roman" panose="02020603050405020304" pitchFamily="18" charset="0"/>
              </a:rPr>
              <a:t>This stage is used to generate a specification document that will outline all technical components such as the data layers, business logic, and so on.</a:t>
            </a:r>
          </a:p>
          <a:p>
            <a:pPr lvl="0">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Architecture Design: </a:t>
            </a:r>
            <a:r>
              <a:rPr lang="en-US" dirty="0">
                <a:solidFill>
                  <a:schemeClr val="tx1"/>
                </a:solidFill>
                <a:latin typeface="Times New Roman" panose="02020603050405020304" pitchFamily="18" charset="0"/>
                <a:cs typeface="Times New Roman" panose="02020603050405020304" pitchFamily="18" charset="0"/>
              </a:rPr>
              <a:t>During this stage, specifications are drawn up that detail how the application will link up all its various components, either internally or via outside integrations. Often this is referred to as high-level design. </a:t>
            </a:r>
          </a:p>
          <a:p>
            <a:pPr lvl="0">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Module Design: </a:t>
            </a:r>
            <a:r>
              <a:rPr lang="en-US" dirty="0">
                <a:solidFill>
                  <a:schemeClr val="tx1"/>
                </a:solidFill>
                <a:latin typeface="Times New Roman" panose="02020603050405020304" pitchFamily="18" charset="0"/>
                <a:cs typeface="Times New Roman" panose="02020603050405020304" pitchFamily="18" charset="0"/>
              </a:rPr>
              <a:t>This phase consists of all the low-level design for the system, including detailed specifications for how all functional, coded business logic will be implemented.</a:t>
            </a:r>
          </a:p>
          <a:p>
            <a:pPr lvl="0">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Coding Phase: </a:t>
            </a:r>
            <a:r>
              <a:rPr lang="en-US" dirty="0">
                <a:solidFill>
                  <a:schemeClr val="tx1"/>
                </a:solidFill>
                <a:latin typeface="Times New Roman" panose="02020603050405020304" pitchFamily="18" charset="0"/>
                <a:cs typeface="Times New Roman" panose="02020603050405020304" pitchFamily="18" charset="0"/>
              </a:rPr>
              <a:t>Based on the requirements, a suitable programming language is decided. There are some guidelines and standards for coding. </a:t>
            </a:r>
            <a:endParaRPr lang="en-US"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7B514D6-CCC6-4D92-8AFD-06CFD877BB67}"/>
              </a:ext>
            </a:extLst>
          </p:cNvPr>
          <p:cNvSpPr>
            <a:spLocks noGrp="1"/>
          </p:cNvSpPr>
          <p:nvPr>
            <p:ph type="title"/>
          </p:nvPr>
        </p:nvSpPr>
        <p:spPr>
          <a:xfrm>
            <a:off x="1301730" y="785671"/>
            <a:ext cx="8596668" cy="1320800"/>
          </a:xfrm>
        </p:spPr>
        <p:txBody>
          <a:bodyPr/>
          <a:lstStyle/>
          <a:p>
            <a:r>
              <a:rPr lang="en-US" b="1" dirty="0"/>
              <a:t>Waterfall V </a:t>
            </a:r>
            <a:r>
              <a:rPr lang="en-US" b="1" dirty="0" smtClean="0"/>
              <a:t>Model</a:t>
            </a:r>
            <a:r>
              <a:rPr lang="en-US" b="1" dirty="0"/>
              <a:t/>
            </a:r>
            <a:br>
              <a:rPr lang="en-US" b="1" dirty="0"/>
            </a:br>
            <a:endParaRPr lang="en-US" b="1" dirty="0"/>
          </a:p>
        </p:txBody>
      </p:sp>
    </p:spTree>
    <p:extLst>
      <p:ext uri="{BB962C8B-B14F-4D97-AF65-F5344CB8AC3E}">
        <p14:creationId xmlns:p14="http://schemas.microsoft.com/office/powerpoint/2010/main" val="1574134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BA997-EE0C-40DC-A6C1-08D33B40A046}"/>
              </a:ext>
            </a:extLst>
          </p:cNvPr>
          <p:cNvSpPr>
            <a:spLocks noGrp="1"/>
          </p:cNvSpPr>
          <p:nvPr>
            <p:ph idx="1"/>
          </p:nvPr>
        </p:nvSpPr>
        <p:spPr>
          <a:xfrm>
            <a:off x="677334" y="1623491"/>
            <a:ext cx="9070348" cy="4932669"/>
          </a:xfrm>
        </p:spPr>
        <p:txBody>
          <a:bodyPr>
            <a:normAutofit lnSpcReduction="10000"/>
          </a:bodyPr>
          <a:lstStyle/>
          <a:p>
            <a:r>
              <a:rPr lang="en-US" sz="2400" b="1" dirty="0">
                <a:solidFill>
                  <a:srgbClr val="00B050"/>
                </a:solidFill>
                <a:latin typeface="Times New Roman" panose="02020603050405020304" pitchFamily="18" charset="0"/>
                <a:cs typeface="Times New Roman" panose="02020603050405020304" pitchFamily="18" charset="0"/>
              </a:rPr>
              <a:t>Validation Phase of V-model</a:t>
            </a:r>
          </a:p>
          <a:p>
            <a:pPr>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Unit Testing: </a:t>
            </a:r>
            <a:r>
              <a:rPr lang="en-US" dirty="0">
                <a:solidFill>
                  <a:schemeClr val="tx1"/>
                </a:solidFill>
                <a:latin typeface="Times New Roman" panose="02020603050405020304" pitchFamily="18" charset="0"/>
                <a:cs typeface="Times New Roman" panose="02020603050405020304" pitchFamily="18" charset="0"/>
              </a:rPr>
              <a:t>UTPs are executed to eliminate Unit testing verifies that the smallest entity can function correctly when isolated from the rest of the codes/ units. errors at code level or unit level. </a:t>
            </a:r>
          </a:p>
          <a:p>
            <a:pPr>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Integration Testing: </a:t>
            </a:r>
            <a:r>
              <a:rPr lang="en-US" dirty="0">
                <a:solidFill>
                  <a:schemeClr val="tx1"/>
                </a:solidFill>
                <a:latin typeface="Times New Roman" panose="02020603050405020304" pitchFamily="18" charset="0"/>
                <a:cs typeface="Times New Roman" panose="02020603050405020304" pitchFamily="18" charset="0"/>
              </a:rPr>
              <a:t>Testing devised during the architecture design phase are executed here, ensuring that the system functions across all components and third-party integrations.</a:t>
            </a:r>
          </a:p>
          <a:p>
            <a:pPr>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System Testing: </a:t>
            </a:r>
            <a:r>
              <a:rPr lang="en-US" dirty="0">
                <a:solidFill>
                  <a:schemeClr val="tx1"/>
                </a:solidFill>
                <a:latin typeface="Times New Roman" panose="02020603050405020304" pitchFamily="18" charset="0"/>
                <a:cs typeface="Times New Roman" panose="02020603050405020304" pitchFamily="18" charset="0"/>
              </a:rPr>
              <a:t>System Test ensures that expectations from an application developer are met.</a:t>
            </a:r>
          </a:p>
          <a:p>
            <a:pPr>
              <a:buFont typeface="+mj-lt"/>
              <a:buAutoNum type="arabicPeriod"/>
            </a:pPr>
            <a:r>
              <a:rPr lang="en-US" b="1" dirty="0">
                <a:solidFill>
                  <a:schemeClr val="tx1"/>
                </a:solidFill>
                <a:latin typeface="Times New Roman" panose="02020603050405020304" pitchFamily="18" charset="0"/>
                <a:cs typeface="Times New Roman" panose="02020603050405020304" pitchFamily="18" charset="0"/>
              </a:rPr>
              <a:t>Acceptance Testing: </a:t>
            </a:r>
            <a:r>
              <a:rPr lang="en-US" dirty="0">
                <a:solidFill>
                  <a:schemeClr val="tx1"/>
                </a:solidFill>
                <a:latin typeface="Times New Roman" panose="02020603050405020304" pitchFamily="18" charset="0"/>
                <a:cs typeface="Times New Roman" panose="02020603050405020304" pitchFamily="18" charset="0"/>
              </a:rPr>
              <a:t>It includes testing the software product in user atmosphere. It conjointly discovers the non-functional problems like load and performance defects within the real user atmosphere.</a:t>
            </a:r>
          </a:p>
          <a:p>
            <a:endParaRPr lang="en-US" sz="2200" b="1"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7B514D6-CCC6-4D92-8AFD-06CFD877BB67}"/>
              </a:ext>
            </a:extLst>
          </p:cNvPr>
          <p:cNvSpPr>
            <a:spLocks noGrp="1"/>
          </p:cNvSpPr>
          <p:nvPr>
            <p:ph type="title"/>
          </p:nvPr>
        </p:nvSpPr>
        <p:spPr>
          <a:xfrm>
            <a:off x="677334" y="573460"/>
            <a:ext cx="8596668" cy="1320800"/>
          </a:xfrm>
        </p:spPr>
        <p:txBody>
          <a:bodyPr/>
          <a:lstStyle/>
          <a:p>
            <a:r>
              <a:rPr lang="en-US" b="1" dirty="0"/>
              <a:t>Waterfall V Model (Cont.)</a:t>
            </a:r>
            <a:br>
              <a:rPr lang="en-US" b="1" dirty="0"/>
            </a:br>
            <a:endParaRPr lang="en-US" b="1" dirty="0"/>
          </a:p>
        </p:txBody>
      </p:sp>
    </p:spTree>
    <p:extLst>
      <p:ext uri="{BB962C8B-B14F-4D97-AF65-F5344CB8AC3E}">
        <p14:creationId xmlns:p14="http://schemas.microsoft.com/office/powerpoint/2010/main" val="2911940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BA997-EE0C-40DC-A6C1-08D33B40A046}"/>
              </a:ext>
            </a:extLst>
          </p:cNvPr>
          <p:cNvSpPr>
            <a:spLocks noGrp="1"/>
          </p:cNvSpPr>
          <p:nvPr>
            <p:ph idx="1"/>
          </p:nvPr>
        </p:nvSpPr>
        <p:spPr>
          <a:xfrm>
            <a:off x="1259225" y="1552917"/>
            <a:ext cx="9070348" cy="4932669"/>
          </a:xfrm>
        </p:spPr>
        <p:txBody>
          <a:bodyPr>
            <a:normAutofit/>
          </a:bodyPr>
          <a:lstStyle/>
          <a:p>
            <a:r>
              <a:rPr lang="en-US" sz="2200" b="1" dirty="0">
                <a:solidFill>
                  <a:schemeClr val="tx1"/>
                </a:solidFill>
                <a:latin typeface="Times New Roman" panose="02020603050405020304" pitchFamily="18" charset="0"/>
                <a:cs typeface="Times New Roman" panose="02020603050405020304" pitchFamily="18" charset="0"/>
              </a:rPr>
              <a:t>Advantages: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Less bugs: Do testing in every layer</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Higher chance of success </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Works well for small projects where requirements are easily understood.</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Time Saving</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Proactive defect tracking</a:t>
            </a:r>
          </a:p>
          <a:p>
            <a:pPr lvl="1">
              <a:buFont typeface="Wingdings" panose="05000000000000000000" pitchFamily="2" charset="2"/>
              <a:buChar char="ü"/>
            </a:pPr>
            <a:endParaRPr lang="en-US" sz="2000" b="1"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Disadvantages: </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No feedback so less scope of changes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Risk analysis is not done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Not good for big or object-oriented projects</a:t>
            </a:r>
          </a:p>
          <a:p>
            <a:pPr marL="685800" lvl="1">
              <a:buFont typeface="Wingdings" panose="05000000000000000000" pitchFamily="2" charset="2"/>
              <a:buChar char="ü"/>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7B514D6-CCC6-4D92-8AFD-06CFD877BB67}"/>
              </a:ext>
            </a:extLst>
          </p:cNvPr>
          <p:cNvSpPr>
            <a:spLocks noGrp="1"/>
          </p:cNvSpPr>
          <p:nvPr>
            <p:ph type="title"/>
          </p:nvPr>
        </p:nvSpPr>
        <p:spPr>
          <a:xfrm>
            <a:off x="1259225" y="892517"/>
            <a:ext cx="8596668" cy="1320800"/>
          </a:xfrm>
        </p:spPr>
        <p:txBody>
          <a:bodyPr/>
          <a:lstStyle/>
          <a:p>
            <a:r>
              <a:rPr lang="en-US" b="1" dirty="0"/>
              <a:t>Waterfall V Model </a:t>
            </a:r>
            <a:br>
              <a:rPr lang="en-US" b="1" dirty="0"/>
            </a:br>
            <a:endParaRPr lang="en-US" b="1" dirty="0"/>
          </a:p>
        </p:txBody>
      </p:sp>
    </p:spTree>
    <p:extLst>
      <p:ext uri="{BB962C8B-B14F-4D97-AF65-F5344CB8AC3E}">
        <p14:creationId xmlns:p14="http://schemas.microsoft.com/office/powerpoint/2010/main" val="821548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BA997-EE0C-40DC-A6C1-08D33B40A046}"/>
              </a:ext>
            </a:extLst>
          </p:cNvPr>
          <p:cNvSpPr>
            <a:spLocks noGrp="1"/>
          </p:cNvSpPr>
          <p:nvPr>
            <p:ph idx="1"/>
          </p:nvPr>
        </p:nvSpPr>
        <p:spPr>
          <a:xfrm>
            <a:off x="677334" y="1623491"/>
            <a:ext cx="9070348" cy="4932669"/>
          </a:xfrm>
        </p:spPr>
        <p:txBody>
          <a:bodyPr>
            <a:normAutofit/>
          </a:bodyPr>
          <a:lstStyle/>
          <a:p>
            <a:pPr marL="685800" lvl="1"/>
            <a:r>
              <a:rPr lang="en-US" sz="2200" b="1" dirty="0">
                <a:solidFill>
                  <a:schemeClr val="tx1"/>
                </a:solidFill>
                <a:latin typeface="Times New Roman" panose="02020603050405020304" pitchFamily="18" charset="0"/>
                <a:cs typeface="Times New Roman" panose="02020603050405020304" pitchFamily="18" charset="0"/>
              </a:rPr>
              <a:t>When to Use the Waterfall V Model</a:t>
            </a:r>
          </a:p>
          <a:p>
            <a:pPr marL="1085850" lvl="2">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V-shaped model should be used for small to medium-sized projects where requirements are clearly defined and fixed.</a:t>
            </a:r>
          </a:p>
          <a:p>
            <a:pPr marL="1085850" lvl="2">
              <a:buFont typeface="Wingdings" panose="05000000000000000000" pitchFamily="2" charset="2"/>
              <a:buChar char="ü"/>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7B514D6-CCC6-4D92-8AFD-06CFD877BB67}"/>
              </a:ext>
            </a:extLst>
          </p:cNvPr>
          <p:cNvSpPr>
            <a:spLocks noGrp="1"/>
          </p:cNvSpPr>
          <p:nvPr>
            <p:ph type="title"/>
          </p:nvPr>
        </p:nvSpPr>
        <p:spPr>
          <a:xfrm>
            <a:off x="1151014" y="836697"/>
            <a:ext cx="8596668" cy="1320800"/>
          </a:xfrm>
        </p:spPr>
        <p:txBody>
          <a:bodyPr/>
          <a:lstStyle/>
          <a:p>
            <a:r>
              <a:rPr lang="en-US" b="1" dirty="0"/>
              <a:t>Waterfall V Model </a:t>
            </a:r>
            <a:br>
              <a:rPr lang="en-US" b="1" dirty="0"/>
            </a:br>
            <a:endParaRPr lang="en-US" b="1" dirty="0"/>
          </a:p>
        </p:txBody>
      </p:sp>
    </p:spTree>
    <p:extLst>
      <p:ext uri="{BB962C8B-B14F-4D97-AF65-F5344CB8AC3E}">
        <p14:creationId xmlns:p14="http://schemas.microsoft.com/office/powerpoint/2010/main" val="2344073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AAA33C-4E1A-4EA2-908C-7C9D1E315006}"/>
              </a:ext>
            </a:extLst>
          </p:cNvPr>
          <p:cNvSpPr>
            <a:spLocks noGrp="1"/>
          </p:cNvSpPr>
          <p:nvPr>
            <p:ph idx="1"/>
          </p:nvPr>
        </p:nvSpPr>
        <p:spPr>
          <a:xfrm>
            <a:off x="1294363" y="1622952"/>
            <a:ext cx="9212390" cy="4320110"/>
          </a:xfrm>
        </p:spPr>
        <p:txBody>
          <a:bodyPr>
            <a:normAutofit fontScale="85000" lnSpcReduction="10000"/>
          </a:bodyPr>
          <a:lstStyle/>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The Spiral Model is a combination of the </a:t>
            </a:r>
            <a:r>
              <a:rPr lang="en-US" b="1" dirty="0">
                <a:solidFill>
                  <a:schemeClr val="tx1"/>
                </a:solidFill>
                <a:latin typeface="Times New Roman" panose="02020603050405020304" pitchFamily="18" charset="0"/>
                <a:cs typeface="Times New Roman" panose="02020603050405020304" pitchFamily="18" charset="0"/>
              </a:rPr>
              <a:t>waterfall model </a:t>
            </a:r>
            <a:r>
              <a:rPr lang="en-US" dirty="0">
                <a:solidFill>
                  <a:schemeClr val="tx1"/>
                </a:solidFill>
                <a:latin typeface="Times New Roman" panose="02020603050405020304" pitchFamily="18" charset="0"/>
                <a:cs typeface="Times New Roman" panose="02020603050405020304" pitchFamily="18" charset="0"/>
              </a:rPr>
              <a:t>and the </a:t>
            </a:r>
            <a:r>
              <a:rPr lang="en-US" b="1" dirty="0">
                <a:solidFill>
                  <a:schemeClr val="tx1"/>
                </a:solidFill>
                <a:latin typeface="Times New Roman" panose="02020603050405020304" pitchFamily="18" charset="0"/>
                <a:cs typeface="Times New Roman" panose="02020603050405020304" pitchFamily="18" charset="0"/>
              </a:rPr>
              <a:t>iterative model</a:t>
            </a:r>
            <a:r>
              <a:rPr lang="en-US" dirty="0">
                <a:solidFill>
                  <a:schemeClr val="tx1"/>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It provides support for </a:t>
            </a:r>
            <a:r>
              <a:rPr lang="en-US" b="1" dirty="0">
                <a:solidFill>
                  <a:schemeClr val="tx1"/>
                </a:solidFill>
                <a:latin typeface="Times New Roman" panose="02020603050405020304" pitchFamily="18" charset="0"/>
                <a:cs typeface="Times New Roman" panose="02020603050405020304" pitchFamily="18" charset="0"/>
              </a:rPr>
              <a:t>Risk Handling</a:t>
            </a:r>
            <a:r>
              <a:rPr lang="en-US" dirty="0">
                <a:solidFill>
                  <a:schemeClr val="tx1"/>
                </a:solidFill>
                <a:latin typeface="Times New Roman" panose="02020603050405020304" pitchFamily="18" charset="0"/>
                <a:cs typeface="Times New Roman" panose="02020603050405020304" pitchFamily="18" charset="0"/>
              </a:rPr>
              <a:t>.</a:t>
            </a:r>
          </a:p>
          <a:p>
            <a:pPr marL="0" indent="0">
              <a:buNone/>
            </a:pPr>
            <a:endParaRPr lang="en-US" b="1" dirty="0">
              <a:solidFill>
                <a:schemeClr val="tx1"/>
              </a:solidFill>
              <a:latin typeface="Times New Roman" panose="02020603050405020304" pitchFamily="18" charset="0"/>
              <a:cs typeface="Times New Roman" panose="02020603050405020304" pitchFamily="18" charset="0"/>
            </a:endParaRPr>
          </a:p>
          <a:p>
            <a:pPr marL="0" indent="0">
              <a:buNone/>
            </a:pPr>
            <a:r>
              <a:rPr lang="en-US" b="1" dirty="0">
                <a:solidFill>
                  <a:schemeClr val="tx1"/>
                </a:solidFill>
                <a:highlight>
                  <a:srgbClr val="FFFF00"/>
                </a:highlight>
                <a:latin typeface="Times New Roman" panose="02020603050405020304" pitchFamily="18" charset="0"/>
                <a:cs typeface="Times New Roman" panose="02020603050405020304" pitchFamily="18" charset="0"/>
              </a:rPr>
              <a:t>Phase 1</a:t>
            </a:r>
            <a:r>
              <a:rPr lang="en-US"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Planning objectives &amp; identify alternative solutions: </a:t>
            </a:r>
            <a:r>
              <a:rPr lang="en-US" dirty="0">
                <a:solidFill>
                  <a:schemeClr val="tx1"/>
                </a:solidFill>
                <a:latin typeface="Times New Roman" panose="02020603050405020304" pitchFamily="18" charset="0"/>
                <a:cs typeface="Times New Roman" panose="02020603050405020304" pitchFamily="18" charset="0"/>
              </a:rPr>
              <a:t>In first phase of the spiral model we clarify what the project aims to achieve, including functional and non-functional requirements.</a:t>
            </a:r>
            <a:endParaRPr lang="en-US" b="1" dirty="0">
              <a:solidFill>
                <a:schemeClr val="tx1"/>
              </a:solidFill>
              <a:latin typeface="Times New Roman" panose="02020603050405020304" pitchFamily="18" charset="0"/>
              <a:cs typeface="Times New Roman" panose="02020603050405020304" pitchFamily="18" charset="0"/>
            </a:endParaRPr>
          </a:p>
          <a:p>
            <a:pPr marL="0" indent="0">
              <a:buNone/>
            </a:pPr>
            <a:r>
              <a:rPr lang="en-US" b="1" dirty="0">
                <a:solidFill>
                  <a:schemeClr val="tx1"/>
                </a:solidFill>
                <a:highlight>
                  <a:srgbClr val="FFFF00"/>
                </a:highlight>
                <a:latin typeface="Times New Roman" panose="02020603050405020304" pitchFamily="18" charset="0"/>
                <a:cs typeface="Times New Roman" panose="02020603050405020304" pitchFamily="18" charset="0"/>
              </a:rPr>
              <a:t>Phase 2</a:t>
            </a:r>
            <a:r>
              <a:rPr lang="en-US" b="1" dirty="0">
                <a:solidFill>
                  <a:schemeClr val="tx1"/>
                </a:solidFill>
                <a:latin typeface="Times New Roman" panose="02020603050405020304" pitchFamily="18" charset="0"/>
                <a:cs typeface="Times New Roman" panose="02020603050405020304" pitchFamily="18" charset="0"/>
              </a:rPr>
              <a:t>: Identifying and resolving the risks : </a:t>
            </a:r>
            <a:r>
              <a:rPr lang="en-US" dirty="0">
                <a:solidFill>
                  <a:schemeClr val="tx1"/>
                </a:solidFill>
                <a:latin typeface="Times New Roman" panose="02020603050405020304" pitchFamily="18" charset="0"/>
                <a:cs typeface="Times New Roman" panose="02020603050405020304" pitchFamily="18" charset="0"/>
              </a:rPr>
              <a:t>In the risk analysis phase, the risks associated with the project are identified and evaluated.</a:t>
            </a:r>
            <a:endParaRPr lang="en-US" b="1" dirty="0">
              <a:solidFill>
                <a:schemeClr val="tx1"/>
              </a:solidFill>
              <a:latin typeface="Times New Roman" panose="02020603050405020304" pitchFamily="18" charset="0"/>
              <a:cs typeface="Times New Roman" panose="02020603050405020304" pitchFamily="18" charset="0"/>
            </a:endParaRPr>
          </a:p>
          <a:p>
            <a:pPr marL="0" indent="0">
              <a:buNone/>
            </a:pPr>
            <a:r>
              <a:rPr lang="en-US" b="1" dirty="0">
                <a:solidFill>
                  <a:schemeClr val="tx1"/>
                </a:solidFill>
                <a:highlight>
                  <a:srgbClr val="FFFF00"/>
                </a:highlight>
                <a:latin typeface="Times New Roman" panose="02020603050405020304" pitchFamily="18" charset="0"/>
                <a:cs typeface="Times New Roman" panose="02020603050405020304" pitchFamily="18" charset="0"/>
              </a:rPr>
              <a:t>Phase 3</a:t>
            </a:r>
            <a:r>
              <a:rPr lang="en-US" b="1" dirty="0">
                <a:solidFill>
                  <a:schemeClr val="tx1"/>
                </a:solidFill>
                <a:latin typeface="Times New Roman" panose="02020603050405020304" pitchFamily="18" charset="0"/>
                <a:cs typeface="Times New Roman" panose="02020603050405020304" pitchFamily="18" charset="0"/>
              </a:rPr>
              <a:t>: Develop the next level of product : </a:t>
            </a:r>
            <a:r>
              <a:rPr lang="en-US" dirty="0">
                <a:solidFill>
                  <a:schemeClr val="tx1"/>
                </a:solidFill>
                <a:latin typeface="Times New Roman" panose="02020603050405020304" pitchFamily="18" charset="0"/>
                <a:cs typeface="Times New Roman" panose="02020603050405020304" pitchFamily="18" charset="0"/>
              </a:rPr>
              <a:t>As this stage proceeds to the end of this third quadrant, new software or the next version of existing software is ready to deliver.</a:t>
            </a:r>
          </a:p>
          <a:p>
            <a:pPr marL="0" indent="0">
              <a:buNone/>
            </a:pPr>
            <a:r>
              <a:rPr lang="en-US" b="1" dirty="0">
                <a:solidFill>
                  <a:schemeClr val="tx1"/>
                </a:solidFill>
                <a:highlight>
                  <a:srgbClr val="FFFF00"/>
                </a:highlight>
                <a:latin typeface="Times New Roman" panose="02020603050405020304" pitchFamily="18" charset="0"/>
                <a:cs typeface="Times New Roman" panose="02020603050405020304" pitchFamily="18" charset="0"/>
              </a:rPr>
              <a:t>Phase 4</a:t>
            </a:r>
            <a:r>
              <a:rPr lang="en-US" b="1" dirty="0">
                <a:solidFill>
                  <a:schemeClr val="tx1"/>
                </a:solidFill>
                <a:latin typeface="Times New Roman" panose="02020603050405020304" pitchFamily="18" charset="0"/>
                <a:cs typeface="Times New Roman" panose="02020603050405020304" pitchFamily="18" charset="0"/>
              </a:rPr>
              <a:t>: Planning the next cycle : </a:t>
            </a:r>
            <a:r>
              <a:rPr lang="en-US" dirty="0">
                <a:solidFill>
                  <a:schemeClr val="tx1"/>
                </a:solidFill>
                <a:latin typeface="Times New Roman" panose="02020603050405020304" pitchFamily="18" charset="0"/>
                <a:cs typeface="Times New Roman" panose="02020603050405020304" pitchFamily="18" charset="0"/>
              </a:rPr>
              <a:t>The next iteration of the spiral begins with a new planning phase, based on the results of the evaluation.</a:t>
            </a:r>
            <a:endParaRPr lang="en-US" b="1" dirty="0">
              <a:solidFill>
                <a:schemeClr val="tx1"/>
              </a:solidFill>
              <a:latin typeface="Times New Roman" panose="02020603050405020304" pitchFamily="18" charset="0"/>
              <a:cs typeface="Times New Roman" panose="02020603050405020304" pitchFamily="18" charset="0"/>
            </a:endParaRPr>
          </a:p>
          <a:p>
            <a:pPr marL="0" indent="0">
              <a:buNone/>
            </a:pPr>
            <a:endParaRPr lang="en-US" b="1" dirty="0">
              <a:solidFill>
                <a:schemeClr val="tx1"/>
              </a:solidFill>
              <a:latin typeface="Times New Roman" panose="02020603050405020304" pitchFamily="18" charset="0"/>
              <a:cs typeface="Times New Roman" panose="02020603050405020304" pitchFamily="18" charset="0"/>
            </a:endParaRPr>
          </a:p>
          <a:p>
            <a:pPr marL="0" indent="0">
              <a:buNone/>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D6ECEA4A-0EDD-45AE-8DAC-D8F518F19231}"/>
              </a:ext>
            </a:extLst>
          </p:cNvPr>
          <p:cNvSpPr>
            <a:spLocks noGrp="1"/>
          </p:cNvSpPr>
          <p:nvPr>
            <p:ph type="title"/>
          </p:nvPr>
        </p:nvSpPr>
        <p:spPr/>
        <p:txBody>
          <a:bodyPr/>
          <a:lstStyle/>
          <a:p>
            <a:r>
              <a:rPr lang="en-US" b="1" dirty="0"/>
              <a:t>Spiral Model</a:t>
            </a:r>
            <a:br>
              <a:rPr lang="en-US" b="1" dirty="0"/>
            </a:br>
            <a:endParaRPr lang="en-US" dirty="0"/>
          </a:p>
        </p:txBody>
      </p:sp>
    </p:spTree>
    <p:extLst>
      <p:ext uri="{BB962C8B-B14F-4D97-AF65-F5344CB8AC3E}">
        <p14:creationId xmlns:p14="http://schemas.microsoft.com/office/powerpoint/2010/main" val="342461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B42A9997-6664-48D3-9021-A49D8550ED62}"/>
              </a:ext>
            </a:extLst>
          </p:cNvPr>
          <p:cNvPicPr>
            <a:picLocks noGrp="1" noChangeAspect="1"/>
          </p:cNvPicPr>
          <p:nvPr>
            <p:ph idx="1"/>
          </p:nvPr>
        </p:nvPicPr>
        <p:blipFill>
          <a:blip r:embed="rId2"/>
          <a:stretch>
            <a:fillRect/>
          </a:stretch>
        </p:blipFill>
        <p:spPr>
          <a:xfrm>
            <a:off x="2585781" y="1719603"/>
            <a:ext cx="4779774" cy="4410428"/>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959D95C9-CA1F-4170-BDEA-145FC374E158}"/>
              </a:ext>
            </a:extLst>
          </p:cNvPr>
          <p:cNvSpPr>
            <a:spLocks noGrp="1"/>
          </p:cNvSpPr>
          <p:nvPr>
            <p:ph type="title"/>
          </p:nvPr>
        </p:nvSpPr>
        <p:spPr/>
        <p:txBody>
          <a:bodyPr/>
          <a:lstStyle/>
          <a:p>
            <a:r>
              <a:rPr lang="en-US" b="1" dirty="0"/>
              <a:t>Spiral Model </a:t>
            </a:r>
            <a:br>
              <a:rPr lang="en-US" b="1" dirty="0"/>
            </a:br>
            <a:endParaRPr lang="en-US" dirty="0"/>
          </a:p>
        </p:txBody>
      </p:sp>
    </p:spTree>
    <p:extLst>
      <p:ext uri="{BB962C8B-B14F-4D97-AF65-F5344CB8AC3E}">
        <p14:creationId xmlns:p14="http://schemas.microsoft.com/office/powerpoint/2010/main" val="4050607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02F1BCF-C1EF-4B52-A33E-356AF3023F27}"/>
              </a:ext>
            </a:extLst>
          </p:cNvPr>
          <p:cNvSpPr>
            <a:spLocks noGrp="1"/>
          </p:cNvSpPr>
          <p:nvPr>
            <p:ph idx="1"/>
          </p:nvPr>
        </p:nvSpPr>
        <p:spPr>
          <a:xfrm>
            <a:off x="677334" y="1610174"/>
            <a:ext cx="4098852" cy="2553453"/>
          </a:xfrm>
        </p:spPr>
        <p:txBody>
          <a:bodyPr/>
          <a:lstStyle/>
          <a:p>
            <a:r>
              <a:rPr lang="en-US" sz="2000" b="1" dirty="0">
                <a:solidFill>
                  <a:schemeClr val="tx1"/>
                </a:solidFill>
                <a:latin typeface="Times New Roman" panose="02020603050405020304" pitchFamily="18" charset="0"/>
                <a:cs typeface="Times New Roman" panose="02020603050405020304" pitchFamily="18" charset="0"/>
              </a:rPr>
              <a:t>Advantages: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Suitable for large projects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Risk Handling</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Customer Satisfaction</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Requirement’s flexibility</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Improved Quality</a:t>
            </a:r>
          </a:p>
          <a:p>
            <a:pPr marL="57150" indent="0">
              <a:buNone/>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59D95C9-CA1F-4170-BDEA-145FC374E158}"/>
              </a:ext>
            </a:extLst>
          </p:cNvPr>
          <p:cNvSpPr>
            <a:spLocks noGrp="1"/>
          </p:cNvSpPr>
          <p:nvPr>
            <p:ph type="title"/>
          </p:nvPr>
        </p:nvSpPr>
        <p:spPr/>
        <p:txBody>
          <a:bodyPr/>
          <a:lstStyle/>
          <a:p>
            <a:r>
              <a:rPr lang="en-US" b="1" dirty="0"/>
              <a:t>Spiral Model </a:t>
            </a:r>
            <a:br>
              <a:rPr lang="en-US" b="1" dirty="0"/>
            </a:br>
            <a:endParaRPr lang="en-US" dirty="0"/>
          </a:p>
        </p:txBody>
      </p:sp>
      <p:sp>
        <p:nvSpPr>
          <p:cNvPr id="6" name="Content Placeholder 3">
            <a:extLst>
              <a:ext uri="{FF2B5EF4-FFF2-40B4-BE49-F238E27FC236}">
                <a16:creationId xmlns:a16="http://schemas.microsoft.com/office/drawing/2014/main" id="{FD765835-95FB-409A-A5A5-95B49538F3A3}"/>
              </a:ext>
            </a:extLst>
          </p:cNvPr>
          <p:cNvSpPr txBox="1">
            <a:spLocks/>
          </p:cNvSpPr>
          <p:nvPr/>
        </p:nvSpPr>
        <p:spPr>
          <a:xfrm>
            <a:off x="5272804" y="1610173"/>
            <a:ext cx="4098852"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b="1" dirty="0">
                <a:solidFill>
                  <a:schemeClr val="tx1"/>
                </a:solidFill>
                <a:latin typeface="Times New Roman" panose="02020603050405020304" pitchFamily="18" charset="0"/>
                <a:cs typeface="Times New Roman" panose="02020603050405020304" pitchFamily="18" charset="0"/>
              </a:rPr>
              <a:t>Disadvantages: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Not good for small projects.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More Complex</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It can be much expensive.</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Difficulty in time management</a:t>
            </a:r>
          </a:p>
          <a:p>
            <a:pPr marL="457200" lvl="1" indent="0">
              <a:buNone/>
            </a:pPr>
            <a:endParaRPr lang="en-US" dirty="0"/>
          </a:p>
        </p:txBody>
      </p:sp>
      <p:sp>
        <p:nvSpPr>
          <p:cNvPr id="9" name="Rectangle 8">
            <a:extLst>
              <a:ext uri="{FF2B5EF4-FFF2-40B4-BE49-F238E27FC236}">
                <a16:creationId xmlns:a16="http://schemas.microsoft.com/office/drawing/2014/main" id="{2741EC73-F00A-4999-B935-12D095620C5E}"/>
              </a:ext>
            </a:extLst>
          </p:cNvPr>
          <p:cNvSpPr/>
          <p:nvPr/>
        </p:nvSpPr>
        <p:spPr>
          <a:xfrm>
            <a:off x="251206" y="4154749"/>
            <a:ext cx="6336025" cy="2282676"/>
          </a:xfrm>
          <a:prstGeom prst="rect">
            <a:avLst/>
          </a:prstGeom>
        </p:spPr>
        <p:txBody>
          <a:bodyPr wrap="square">
            <a:spAutoFit/>
          </a:bodyPr>
          <a:lstStyle/>
          <a:p>
            <a:pPr marL="685800" lvl="1" indent="-285750">
              <a:spcBef>
                <a:spcPts val="1000"/>
              </a:spcBef>
              <a:buClr>
                <a:srgbClr val="5FCBEF"/>
              </a:buClr>
              <a:buSzPct val="80000"/>
              <a:buFont typeface="Wingdings 3" charset="2"/>
              <a:buChar char=""/>
            </a:pPr>
            <a:r>
              <a:rPr lang="en-US" sz="2200" b="1" dirty="0">
                <a:solidFill>
                  <a:prstClr val="black"/>
                </a:solidFill>
                <a:latin typeface="Times New Roman" panose="02020603050405020304" pitchFamily="18" charset="0"/>
                <a:cs typeface="Times New Roman" panose="02020603050405020304" pitchFamily="18" charset="0"/>
              </a:rPr>
              <a:t>When to Use the Spiral Model</a:t>
            </a:r>
          </a:p>
          <a:p>
            <a:pPr marL="1200150" lvl="2"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For high-risk projects.</a:t>
            </a:r>
          </a:p>
          <a:p>
            <a:pPr marL="1200150" lvl="2"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For medium and big projects.</a:t>
            </a:r>
          </a:p>
          <a:p>
            <a:pPr marL="1200150" lvl="2"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Requirements are complex</a:t>
            </a:r>
          </a:p>
          <a:p>
            <a:pPr marL="1200150" lvl="2"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Users are unsure of their needs</a:t>
            </a:r>
          </a:p>
          <a:p>
            <a:pPr marL="1200150" lvl="2"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If frequent changes required in the project.</a:t>
            </a:r>
          </a:p>
          <a:p>
            <a:pPr marL="1200150" lvl="2" indent="-342900">
              <a:spcBef>
                <a:spcPts val="1000"/>
              </a:spcBef>
              <a:buClr>
                <a:srgbClr val="5FCBEF"/>
              </a:buClr>
              <a:buSzPct val="80000"/>
              <a:buFont typeface="Wingdings" panose="05000000000000000000" pitchFamily="2" charset="2"/>
              <a:buChar char="ü"/>
            </a:pPr>
            <a:endParaRPr lang="en-US" sz="2200" b="1"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388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58532"/>
            <a:ext cx="9603275" cy="3450613"/>
          </a:xfrm>
        </p:spPr>
        <p:txBody>
          <a:bodyPr/>
          <a:lstStyle/>
          <a:p>
            <a:r>
              <a:rPr lang="en-US" dirty="0">
                <a:latin typeface="Times New Roman" panose="02020603050405020304" pitchFamily="18" charset="0"/>
                <a:cs typeface="Times New Roman" panose="02020603050405020304" pitchFamily="18" charset="0"/>
              </a:rPr>
              <a:t>A prototype is an early working version of an information system. Prototyping tests system concepts and provides an opportunity to examine input, output, and user interfaces before final decisions are made. </a:t>
            </a:r>
          </a:p>
        </p:txBody>
      </p:sp>
      <p:sp>
        <p:nvSpPr>
          <p:cNvPr id="3" name="Title 2"/>
          <p:cNvSpPr>
            <a:spLocks noGrp="1"/>
          </p:cNvSpPr>
          <p:nvPr>
            <p:ph type="title"/>
          </p:nvPr>
        </p:nvSpPr>
        <p:spPr/>
        <p:txBody>
          <a:bodyPr/>
          <a:lstStyle/>
          <a:p>
            <a:r>
              <a:rPr lang="en-US" dirty="0"/>
              <a:t>Prototyping </a:t>
            </a:r>
            <a:br>
              <a:rPr lang="en-US" dirty="0"/>
            </a:br>
            <a:endParaRPr lang="en-US" dirty="0"/>
          </a:p>
        </p:txBody>
      </p:sp>
      <p:pic>
        <p:nvPicPr>
          <p:cNvPr id="4" name="Picture 3"/>
          <p:cNvPicPr>
            <a:picLocks noChangeAspect="1"/>
          </p:cNvPicPr>
          <p:nvPr/>
        </p:nvPicPr>
        <p:blipFill>
          <a:blip r:embed="rId2"/>
          <a:stretch>
            <a:fillRect/>
          </a:stretch>
        </p:blipFill>
        <p:spPr>
          <a:xfrm>
            <a:off x="4966133" y="2501695"/>
            <a:ext cx="4500993" cy="3497323"/>
          </a:xfrm>
          <a:prstGeom prst="rect">
            <a:avLst/>
          </a:prstGeom>
        </p:spPr>
      </p:pic>
    </p:spTree>
    <p:extLst>
      <p:ext uri="{BB962C8B-B14F-4D97-AF65-F5344CB8AC3E}">
        <p14:creationId xmlns:p14="http://schemas.microsoft.com/office/powerpoint/2010/main" val="2131522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586241"/>
            <a:ext cx="9603275" cy="3450613"/>
          </a:xfrm>
        </p:spPr>
        <p:txBody>
          <a:bodyPr>
            <a:normAutofit/>
          </a:bodyPr>
          <a:lstStyle/>
          <a:p>
            <a:r>
              <a:rPr lang="en-US" dirty="0">
                <a:latin typeface="Times New Roman" panose="02020603050405020304" pitchFamily="18" charset="0"/>
                <a:cs typeface="Times New Roman" panose="02020603050405020304" pitchFamily="18" charset="0"/>
              </a:rPr>
              <a:t>Advantages of Prototyping: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Prototyping is most useful for requirements determination when user requirements are not clear or well understood.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There is a possibility of developing a system that more closely addresses users’ needs and expectations.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Disadvantages </a:t>
            </a:r>
            <a:r>
              <a:rPr lang="en-US" dirty="0">
                <a:latin typeface="Times New Roman" panose="02020603050405020304" pitchFamily="18" charset="0"/>
                <a:cs typeface="Times New Roman" panose="02020603050405020304" pitchFamily="18" charset="0"/>
              </a:rPr>
              <a:t>of Prototyping: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can be quite difficult to manage prototyping as a project in the larger systems effort. </a:t>
            </a:r>
            <a:endParaRPr lang="en-US" dirty="0" smtClean="0">
              <a:latin typeface="Times New Roman" panose="02020603050405020304" pitchFamily="18" charset="0"/>
              <a:cs typeface="Times New Roman" panose="02020603050405020304" pitchFamily="18" charset="0"/>
            </a:endParaRPr>
          </a:p>
          <a:p>
            <a:pPr marL="457200" lvl="1"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Decisions might be made too early, before business or IT issues are understood thoroughly.</a:t>
            </a:r>
          </a:p>
        </p:txBody>
      </p:sp>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Prototyping</a:t>
            </a:r>
          </a:p>
        </p:txBody>
      </p:sp>
    </p:spTree>
    <p:extLst>
      <p:ext uri="{BB962C8B-B14F-4D97-AF65-F5344CB8AC3E}">
        <p14:creationId xmlns:p14="http://schemas.microsoft.com/office/powerpoint/2010/main" val="3222687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BA0C88-B3F5-494A-A507-74F3336D76E7}"/>
              </a:ext>
            </a:extLst>
          </p:cNvPr>
          <p:cNvSpPr>
            <a:spLocks noGrp="1"/>
          </p:cNvSpPr>
          <p:nvPr>
            <p:ph idx="1"/>
          </p:nvPr>
        </p:nvSpPr>
        <p:spPr>
          <a:xfrm>
            <a:off x="1294363" y="1488613"/>
            <a:ext cx="9540864" cy="3880773"/>
          </a:xfrm>
        </p:spPr>
        <p:txBody>
          <a:bodyPr/>
          <a:lstStyle/>
          <a:p>
            <a:r>
              <a:rPr lang="en-US" b="1" dirty="0">
                <a:solidFill>
                  <a:schemeClr val="tx1"/>
                </a:solidFill>
                <a:latin typeface="Times New Roman" panose="02020603050405020304" pitchFamily="18" charset="0"/>
                <a:cs typeface="Times New Roman" panose="02020603050405020304" pitchFamily="18" charset="0"/>
              </a:rPr>
              <a:t>Iterative - </a:t>
            </a:r>
            <a:r>
              <a:rPr lang="en-US" dirty="0">
                <a:solidFill>
                  <a:schemeClr val="tx1"/>
                </a:solidFill>
                <a:latin typeface="Times New Roman" panose="02020603050405020304" pitchFamily="18" charset="0"/>
                <a:cs typeface="Times New Roman" panose="02020603050405020304" pitchFamily="18" charset="0"/>
              </a:rPr>
              <a:t>performing repeatedly, i.e. adding new functionality in a repetitive or cyclic manner</a:t>
            </a:r>
          </a:p>
          <a:p>
            <a:endParaRPr lang="en-US" dirty="0"/>
          </a:p>
        </p:txBody>
      </p:sp>
      <p:sp>
        <p:nvSpPr>
          <p:cNvPr id="2" name="Title 1">
            <a:extLst>
              <a:ext uri="{FF2B5EF4-FFF2-40B4-BE49-F238E27FC236}">
                <a16:creationId xmlns:a16="http://schemas.microsoft.com/office/drawing/2014/main" id="{528451B7-A4B6-4898-8665-0C8A03E1654A}"/>
              </a:ext>
            </a:extLst>
          </p:cNvPr>
          <p:cNvSpPr>
            <a:spLocks noGrp="1"/>
          </p:cNvSpPr>
          <p:nvPr>
            <p:ph type="title"/>
          </p:nvPr>
        </p:nvSpPr>
        <p:spPr/>
        <p:txBody>
          <a:bodyPr/>
          <a:lstStyle/>
          <a:p>
            <a:r>
              <a:rPr lang="en-US" b="1" dirty="0"/>
              <a:t>Iterative development Approach</a:t>
            </a:r>
            <a:br>
              <a:rPr lang="en-US" b="1" dirty="0"/>
            </a:br>
            <a:endParaRPr lang="en-US" dirty="0"/>
          </a:p>
        </p:txBody>
      </p:sp>
      <p:pic>
        <p:nvPicPr>
          <p:cNvPr id="5" name="Picture 4"/>
          <p:cNvPicPr>
            <a:picLocks noChangeAspect="1"/>
          </p:cNvPicPr>
          <p:nvPr/>
        </p:nvPicPr>
        <p:blipFill>
          <a:blip r:embed="rId2"/>
          <a:stretch>
            <a:fillRect/>
          </a:stretch>
        </p:blipFill>
        <p:spPr>
          <a:xfrm>
            <a:off x="2386100" y="2409681"/>
            <a:ext cx="7191804" cy="2959705"/>
          </a:xfrm>
          <a:prstGeom prst="rect">
            <a:avLst/>
          </a:prstGeom>
        </p:spPr>
      </p:pic>
    </p:spTree>
    <p:extLst>
      <p:ext uri="{BB962C8B-B14F-4D97-AF65-F5344CB8AC3E}">
        <p14:creationId xmlns:p14="http://schemas.microsoft.com/office/powerpoint/2010/main" val="2070093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46D4DD-3447-4580-9904-651B72DA860A}"/>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Incremental - </a:t>
            </a:r>
            <a:r>
              <a:rPr lang="en-US" dirty="0">
                <a:solidFill>
                  <a:schemeClr val="tx1"/>
                </a:solidFill>
                <a:latin typeface="Times New Roman" panose="02020603050405020304" pitchFamily="18" charset="0"/>
                <a:cs typeface="Times New Roman" panose="02020603050405020304" pitchFamily="18" charset="0"/>
              </a:rPr>
              <a:t>adding new functionality in small chunks</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0FF26F50-95D8-4669-AF59-F9591CF16422}"/>
              </a:ext>
            </a:extLst>
          </p:cNvPr>
          <p:cNvSpPr>
            <a:spLocks noGrp="1"/>
          </p:cNvSpPr>
          <p:nvPr>
            <p:ph type="title"/>
          </p:nvPr>
        </p:nvSpPr>
        <p:spPr/>
        <p:txBody>
          <a:bodyPr/>
          <a:lstStyle/>
          <a:p>
            <a:r>
              <a:rPr lang="en-US" b="1" dirty="0"/>
              <a:t>Incremental development Approach</a:t>
            </a:r>
            <a:br>
              <a:rPr lang="en-US" b="1" dirty="0"/>
            </a:br>
            <a:endParaRPr lang="en-US" dirty="0"/>
          </a:p>
        </p:txBody>
      </p:sp>
      <p:pic>
        <p:nvPicPr>
          <p:cNvPr id="6" name="Picture 5"/>
          <p:cNvPicPr>
            <a:picLocks noChangeAspect="1"/>
          </p:cNvPicPr>
          <p:nvPr/>
        </p:nvPicPr>
        <p:blipFill>
          <a:blip r:embed="rId2"/>
          <a:stretch>
            <a:fillRect/>
          </a:stretch>
        </p:blipFill>
        <p:spPr>
          <a:xfrm>
            <a:off x="2517293" y="2857698"/>
            <a:ext cx="6845959" cy="2268483"/>
          </a:xfrm>
          <a:prstGeom prst="rect">
            <a:avLst/>
          </a:prstGeom>
        </p:spPr>
      </p:pic>
    </p:spTree>
    <p:extLst>
      <p:ext uri="{BB962C8B-B14F-4D97-AF65-F5344CB8AC3E}">
        <p14:creationId xmlns:p14="http://schemas.microsoft.com/office/powerpoint/2010/main" val="2465740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DF70DE9-C2B7-4CB8-A08A-0F005F3D4A06}"/>
              </a:ext>
            </a:extLst>
          </p:cNvPr>
          <p:cNvGraphicFramePr>
            <a:graphicFrameLocks noGrp="1"/>
          </p:cNvGraphicFramePr>
          <p:nvPr>
            <p:ph idx="1"/>
            <p:extLst>
              <p:ext uri="{D42A27DB-BD31-4B8C-83A1-F6EECF244321}">
                <p14:modId xmlns:p14="http://schemas.microsoft.com/office/powerpoint/2010/main" val="3755670537"/>
              </p:ext>
            </p:extLst>
          </p:nvPr>
        </p:nvGraphicFramePr>
        <p:xfrm>
          <a:off x="1300525" y="1477038"/>
          <a:ext cx="9630711" cy="4714341"/>
        </p:xfrm>
        <a:graphic>
          <a:graphicData uri="http://schemas.openxmlformats.org/drawingml/2006/table">
            <a:tbl>
              <a:tblPr firstRow="1" firstCol="1" lastRow="1" lastCol="1" bandRow="1" bandCol="1"/>
              <a:tblGrid>
                <a:gridCol w="2530728">
                  <a:extLst>
                    <a:ext uri="{9D8B030D-6E8A-4147-A177-3AD203B41FA5}">
                      <a16:colId xmlns:a16="http://schemas.microsoft.com/office/drawing/2014/main" val="1459896410"/>
                    </a:ext>
                  </a:extLst>
                </a:gridCol>
                <a:gridCol w="2217976">
                  <a:extLst>
                    <a:ext uri="{9D8B030D-6E8A-4147-A177-3AD203B41FA5}">
                      <a16:colId xmlns:a16="http://schemas.microsoft.com/office/drawing/2014/main" val="302988532"/>
                    </a:ext>
                  </a:extLst>
                </a:gridCol>
                <a:gridCol w="2599431">
                  <a:extLst>
                    <a:ext uri="{9D8B030D-6E8A-4147-A177-3AD203B41FA5}">
                      <a16:colId xmlns:a16="http://schemas.microsoft.com/office/drawing/2014/main" val="1483696103"/>
                    </a:ext>
                  </a:extLst>
                </a:gridCol>
                <a:gridCol w="2282576">
                  <a:extLst>
                    <a:ext uri="{9D8B030D-6E8A-4147-A177-3AD203B41FA5}">
                      <a16:colId xmlns:a16="http://schemas.microsoft.com/office/drawing/2014/main" val="2641595872"/>
                    </a:ext>
                  </a:extLst>
                </a:gridCol>
              </a:tblGrid>
              <a:tr h="369624">
                <a:tc>
                  <a:txBody>
                    <a:bodyPr/>
                    <a:lstStyle/>
                    <a:p>
                      <a:pPr marL="100330" marR="0" algn="l">
                        <a:spcBef>
                          <a:spcPts val="39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Properties</a:t>
                      </a:r>
                      <a:r>
                        <a:rPr lang="en-US" sz="16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of Model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6045" marR="0" algn="l">
                        <a:spcBef>
                          <a:spcPts val="39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Water</a:t>
                      </a:r>
                      <a:r>
                        <a:rPr lang="en-US" sz="16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Fall</a:t>
                      </a:r>
                      <a:r>
                        <a:rPr lang="en-US" sz="16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Model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80340" marR="0" algn="l">
                        <a:spcBef>
                          <a:spcPts val="39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Incremental</a:t>
                      </a:r>
                      <a:r>
                        <a:rPr lang="en-US" sz="16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Model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79400" marR="0" algn="l">
                        <a:spcBef>
                          <a:spcPts val="39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Spiral</a:t>
                      </a:r>
                      <a:r>
                        <a:rPr lang="en-US" sz="16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Model</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2271410"/>
                  </a:ext>
                </a:extLst>
              </a:tr>
              <a:tr h="436866">
                <a:tc>
                  <a:txBody>
                    <a:bodyPr/>
                    <a:lstStyle/>
                    <a:p>
                      <a:pPr marL="100330" marR="40640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Planning in early</a:t>
                      </a:r>
                      <a:r>
                        <a:rPr lang="en-US" sz="1600" spc="-28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stage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Yes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72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Yes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Yes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215721"/>
                  </a:ext>
                </a:extLst>
              </a:tr>
              <a:tr h="228192">
                <a:tc>
                  <a:txBody>
                    <a:bodyPr/>
                    <a:lstStyle/>
                    <a:p>
                      <a:pPr marL="100330"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Handle</a:t>
                      </a:r>
                      <a:r>
                        <a:rPr lang="en-US" sz="16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Large-Project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Not</a:t>
                      </a:r>
                      <a:r>
                        <a:rPr lang="en-US" sz="16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Appropriate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Not</a:t>
                      </a:r>
                      <a:r>
                        <a:rPr lang="en-US" sz="16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Appropriate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Appropriate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5496806"/>
                  </a:ext>
                </a:extLst>
              </a:tr>
              <a:tr h="436866">
                <a:tc>
                  <a:txBody>
                    <a:bodyPr/>
                    <a:lstStyle/>
                    <a:p>
                      <a:pPr marL="100330" marR="516255"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Detailed</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Documentation</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2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Necessary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Yes</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but</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not</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much</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Yes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8088246"/>
                  </a:ext>
                </a:extLst>
              </a:tr>
              <a:tr h="229693">
                <a:tc>
                  <a:txBody>
                    <a:bodyPr/>
                    <a:lstStyle/>
                    <a:p>
                      <a:pPr marL="100330"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Cost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Low</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Low</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Expensive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2824736"/>
                  </a:ext>
                </a:extLst>
              </a:tr>
              <a:tr h="437301">
                <a:tc>
                  <a:txBody>
                    <a:bodyPr/>
                    <a:lstStyle/>
                    <a:p>
                      <a:pPr marL="100330" marR="59309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Requirement</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Specifications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Beginning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72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Beginning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2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Beginning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9258864"/>
                  </a:ext>
                </a:extLst>
              </a:tr>
              <a:tr h="229693">
                <a:tc>
                  <a:txBody>
                    <a:bodyPr/>
                    <a:lstStyle/>
                    <a:p>
                      <a:pPr marL="100330"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Flexibility</a:t>
                      </a:r>
                      <a:r>
                        <a:rPr lang="en-US" sz="1600" spc="-4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to change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Difficult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Easy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Easy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224387"/>
                  </a:ext>
                </a:extLst>
              </a:tr>
              <a:tr h="229693">
                <a:tc>
                  <a:txBody>
                    <a:bodyPr/>
                    <a:lstStyle/>
                    <a:p>
                      <a:pPr marL="100330"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User</a:t>
                      </a:r>
                      <a:r>
                        <a:rPr lang="en-US" sz="16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Involvement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Only</a:t>
                      </a:r>
                      <a:r>
                        <a:rPr lang="en-US" sz="1600" spc="-2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at beginning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Intermediate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High</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6081766"/>
                  </a:ext>
                </a:extLst>
              </a:tr>
              <a:tr h="435365">
                <a:tc>
                  <a:txBody>
                    <a:bodyPr/>
                    <a:lstStyle/>
                    <a:p>
                      <a:pPr marL="100330" marR="0" algn="l">
                        <a:spcBef>
                          <a:spcPts val="7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Maintenance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Least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549910" algn="l">
                        <a:spcBef>
                          <a:spcPts val="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Promotes</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Maintainability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3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Typical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2795929"/>
                  </a:ext>
                </a:extLst>
              </a:tr>
              <a:tr h="436866">
                <a:tc>
                  <a:txBody>
                    <a:bodyPr/>
                    <a:lstStyle/>
                    <a:p>
                      <a:pPr marL="100330"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Risk</a:t>
                      </a:r>
                      <a:r>
                        <a:rPr lang="en-US" sz="16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Involvement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High</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725"/>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Low</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32258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Medium</a:t>
                      </a:r>
                      <a:r>
                        <a:rPr lang="en-US" sz="1600" spc="-4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600" spc="-4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high</a:t>
                      </a:r>
                      <a:r>
                        <a:rPr lang="en-US" sz="1600" spc="-28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risk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4040988"/>
                  </a:ext>
                </a:extLst>
              </a:tr>
              <a:tr h="597220">
                <a:tc>
                  <a:txBody>
                    <a:bodyPr/>
                    <a:lstStyle/>
                    <a:p>
                      <a:pPr marL="100330" marR="0" algn="l">
                        <a:spcBef>
                          <a:spcPts val="72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Testing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218440" algn="l">
                        <a:spcBef>
                          <a:spcPts val="3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After</a:t>
                      </a:r>
                      <a:r>
                        <a:rPr lang="en-US" sz="16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completion</a:t>
                      </a:r>
                      <a:r>
                        <a:rPr lang="en-US" sz="16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coding phase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725"/>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After</a:t>
                      </a:r>
                      <a:r>
                        <a:rPr lang="en-US" sz="16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every</a:t>
                      </a:r>
                      <a:r>
                        <a:rPr lang="en-US" sz="16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iteration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201295" algn="l">
                        <a:spcBef>
                          <a:spcPts val="3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the end of the</a:t>
                      </a:r>
                      <a:r>
                        <a:rPr lang="en-US" sz="16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spc="-5" dirty="0">
                          <a:effectLst/>
                          <a:latin typeface="Times New Roman" panose="02020603050405020304" pitchFamily="18" charset="0"/>
                          <a:ea typeface="Times New Roman" panose="02020603050405020304" pitchFamily="18" charset="0"/>
                          <a:cs typeface="Times New Roman" panose="02020603050405020304" pitchFamily="18" charset="0"/>
                        </a:rPr>
                        <a:t>engineering</a:t>
                      </a:r>
                      <a:r>
                        <a:rPr lang="en-US" sz="16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phase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7595346"/>
                  </a:ext>
                </a:extLst>
              </a:tr>
              <a:tr h="435365">
                <a:tc>
                  <a:txBody>
                    <a:bodyPr/>
                    <a:lstStyle/>
                    <a:p>
                      <a:pPr marL="100330" marR="0" algn="l">
                        <a:spcBef>
                          <a:spcPts val="4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Team</a:t>
                      </a:r>
                      <a:r>
                        <a:rPr lang="en-US" sz="16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size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Large</a:t>
                      </a:r>
                      <a:r>
                        <a:rPr lang="en-US" sz="16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Team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965" marR="0" algn="l">
                        <a:spcBef>
                          <a:spcPts val="4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Not</a:t>
                      </a:r>
                      <a:r>
                        <a:rPr lang="en-US" sz="16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Large</a:t>
                      </a:r>
                      <a:r>
                        <a:rPr lang="en-US" sz="1600"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Team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9695" marR="0" algn="l">
                        <a:spcBef>
                          <a:spcPts val="4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Large</a:t>
                      </a:r>
                      <a:r>
                        <a:rPr lang="en-US" sz="16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Team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617722"/>
                  </a:ext>
                </a:extLst>
              </a:tr>
            </a:tbl>
          </a:graphicData>
        </a:graphic>
      </p:graphicFrame>
      <p:sp>
        <p:nvSpPr>
          <p:cNvPr id="2" name="Title 1">
            <a:extLst>
              <a:ext uri="{FF2B5EF4-FFF2-40B4-BE49-F238E27FC236}">
                <a16:creationId xmlns:a16="http://schemas.microsoft.com/office/drawing/2014/main" id="{B58AFDF0-2A4A-4997-9649-EC59ECE85556}"/>
              </a:ext>
            </a:extLst>
          </p:cNvPr>
          <p:cNvSpPr>
            <a:spLocks noGrp="1"/>
          </p:cNvSpPr>
          <p:nvPr>
            <p:ph type="title"/>
          </p:nvPr>
        </p:nvSpPr>
        <p:spPr>
          <a:xfrm>
            <a:off x="1300525" y="433329"/>
            <a:ext cx="9150247" cy="1320800"/>
          </a:xfrm>
        </p:spPr>
        <p:txBody>
          <a:bodyPr>
            <a:normAutofit fontScale="90000"/>
          </a:bodyPr>
          <a:lstStyle/>
          <a:p>
            <a:r>
              <a:rPr lang="en-US" b="1" dirty="0"/>
              <a:t>Comparison of Various SDLC Models </a:t>
            </a:r>
            <a:br>
              <a:rPr lang="en-US" b="1" dirty="0"/>
            </a:br>
            <a:r>
              <a:rPr lang="en-US" sz="2700" b="1" dirty="0"/>
              <a:t>(</a:t>
            </a:r>
            <a:r>
              <a:rPr lang="en-US" sz="2700" dirty="0"/>
              <a:t>Heavyweight Methodology)</a:t>
            </a:r>
            <a:r>
              <a:rPr lang="en-US" dirty="0"/>
              <a:t/>
            </a:r>
            <a:br>
              <a:rPr lang="en-US" dirty="0"/>
            </a:br>
            <a:endParaRPr lang="en-US" dirty="0"/>
          </a:p>
        </p:txBody>
      </p:sp>
    </p:spTree>
    <p:extLst>
      <p:ext uri="{BB962C8B-B14F-4D97-AF65-F5344CB8AC3E}">
        <p14:creationId xmlns:p14="http://schemas.microsoft.com/office/powerpoint/2010/main" val="2343363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DA86D2-580E-413B-9D44-03BA12F79696}"/>
              </a:ext>
            </a:extLst>
          </p:cNvPr>
          <p:cNvSpPr>
            <a:spLocks noGrp="1"/>
          </p:cNvSpPr>
          <p:nvPr>
            <p:ph idx="1"/>
          </p:nvPr>
        </p:nvSpPr>
        <p:spPr>
          <a:xfrm>
            <a:off x="1294363" y="1571435"/>
            <a:ext cx="9505354" cy="3880773"/>
          </a:xfrm>
        </p:spPr>
        <p:txBody>
          <a:bodyPr/>
          <a:lstStyle/>
          <a:p>
            <a:pPr fontAlgn="base">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Agile methodologies are iterative and incremental, which means it's known for breaking a project into smaller parts and adjusting to changing requirements.</a:t>
            </a:r>
            <a:r>
              <a:rPr lang="en-US" dirty="0"/>
              <a:t/>
            </a:r>
            <a:br>
              <a:rPr lang="en-US" dirty="0"/>
            </a:br>
            <a:endParaRPr lang="en-US" dirty="0"/>
          </a:p>
        </p:txBody>
      </p:sp>
      <p:sp>
        <p:nvSpPr>
          <p:cNvPr id="2" name="Title 1">
            <a:extLst>
              <a:ext uri="{FF2B5EF4-FFF2-40B4-BE49-F238E27FC236}">
                <a16:creationId xmlns:a16="http://schemas.microsoft.com/office/drawing/2014/main" id="{5025766E-2222-43C6-B47C-86C8DF9AADE6}"/>
              </a:ext>
            </a:extLst>
          </p:cNvPr>
          <p:cNvSpPr>
            <a:spLocks noGrp="1"/>
          </p:cNvSpPr>
          <p:nvPr>
            <p:ph type="title"/>
          </p:nvPr>
        </p:nvSpPr>
        <p:spPr/>
        <p:txBody>
          <a:bodyPr/>
          <a:lstStyle/>
          <a:p>
            <a:r>
              <a:rPr lang="en-US" b="1" dirty="0"/>
              <a:t>Agile Model</a:t>
            </a:r>
            <a:endParaRPr lang="en-US" dirty="0"/>
          </a:p>
        </p:txBody>
      </p:sp>
      <p:pic>
        <p:nvPicPr>
          <p:cNvPr id="5" name="Picture 4"/>
          <p:cNvPicPr>
            <a:picLocks noChangeAspect="1"/>
          </p:cNvPicPr>
          <p:nvPr/>
        </p:nvPicPr>
        <p:blipFill>
          <a:blip r:embed="rId2"/>
          <a:stretch>
            <a:fillRect/>
          </a:stretch>
        </p:blipFill>
        <p:spPr>
          <a:xfrm>
            <a:off x="3767289" y="2387915"/>
            <a:ext cx="4020111" cy="3772426"/>
          </a:xfrm>
          <a:prstGeom prst="rect">
            <a:avLst/>
          </a:prstGeom>
        </p:spPr>
      </p:pic>
    </p:spTree>
    <p:extLst>
      <p:ext uri="{BB962C8B-B14F-4D97-AF65-F5344CB8AC3E}">
        <p14:creationId xmlns:p14="http://schemas.microsoft.com/office/powerpoint/2010/main" val="3652819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B11C-0097-4012-A0BF-DCB53C9D5727}"/>
              </a:ext>
            </a:extLst>
          </p:cNvPr>
          <p:cNvSpPr>
            <a:spLocks noGrp="1"/>
          </p:cNvSpPr>
          <p:nvPr>
            <p:ph type="title"/>
          </p:nvPr>
        </p:nvSpPr>
        <p:spPr/>
        <p:txBody>
          <a:bodyPr/>
          <a:lstStyle/>
          <a:p>
            <a:r>
              <a:rPr lang="en-US" b="1" dirty="0"/>
              <a:t>Agile Model </a:t>
            </a:r>
          </a:p>
        </p:txBody>
      </p:sp>
      <p:pic>
        <p:nvPicPr>
          <p:cNvPr id="4" name="Picture 3">
            <a:extLst>
              <a:ext uri="{FF2B5EF4-FFF2-40B4-BE49-F238E27FC236}">
                <a16:creationId xmlns:a16="http://schemas.microsoft.com/office/drawing/2014/main" id="{42ABC417-4933-47D1-80DE-C861FCF994B9}"/>
              </a:ext>
            </a:extLst>
          </p:cNvPr>
          <p:cNvPicPr>
            <a:picLocks noChangeAspect="1"/>
          </p:cNvPicPr>
          <p:nvPr/>
        </p:nvPicPr>
        <p:blipFill>
          <a:blip r:embed="rId2"/>
          <a:stretch>
            <a:fillRect/>
          </a:stretch>
        </p:blipFill>
        <p:spPr>
          <a:xfrm>
            <a:off x="1923162" y="2124364"/>
            <a:ext cx="8345676" cy="3880773"/>
          </a:xfrm>
          <a:prstGeom prst="rect">
            <a:avLst/>
          </a:prstGeom>
        </p:spPr>
      </p:pic>
    </p:spTree>
    <p:extLst>
      <p:ext uri="{BB962C8B-B14F-4D97-AF65-F5344CB8AC3E}">
        <p14:creationId xmlns:p14="http://schemas.microsoft.com/office/powerpoint/2010/main" val="3101521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1E7AB6-FBF5-49C4-B355-062F8590227E}"/>
              </a:ext>
            </a:extLst>
          </p:cNvPr>
          <p:cNvSpPr>
            <a:spLocks noGrp="1"/>
          </p:cNvSpPr>
          <p:nvPr>
            <p:ph idx="1"/>
          </p:nvPr>
        </p:nvSpPr>
        <p:spPr>
          <a:xfrm>
            <a:off x="1245371" y="1488613"/>
            <a:ext cx="9966992" cy="5618825"/>
          </a:xfrm>
        </p:spPr>
        <p:txBody>
          <a:bodyPr>
            <a:normAutofit fontScale="85000" lnSpcReduction="10000"/>
          </a:bodyPr>
          <a:lstStyle/>
          <a:p>
            <a:r>
              <a:rPr lang="en-US" b="1" dirty="0">
                <a:solidFill>
                  <a:schemeClr val="tx1"/>
                </a:solidFill>
                <a:latin typeface="Times New Roman" panose="02020603050405020304" pitchFamily="18" charset="0"/>
                <a:cs typeface="Times New Roman" panose="02020603050405020304" pitchFamily="18" charset="0"/>
              </a:rPr>
              <a:t>The main steps for Agile project management are as follows:</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In the Agile methodology, each project is broken up into several Iterations ‘.</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All Iterations should be of the same time duration (between 2 to 8 weeks).</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At the end of each iteration, a working product should be delivered.</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In simple terms, in the Agile approach the project will be broken up into 10 releases (assuming each iteration is set to last 4 weeks).</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Rather than spending 1.5 months on requirements gathering, in Agile software development, the team will decide the basic core features that are required in the product and decide which of these features can be developed in the first iteration.</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Any remaining features that cannot be delivered in the first iteration will be taken up in the next iteration or subsequent iterations, based on priority.</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At the end of the first iterations, the team will deliver a working software with the features that were finalized for that iteration.</a:t>
            </a:r>
          </a:p>
          <a:p>
            <a:pPr>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There will be 10 iterations and at the end of each iteration the customer is delivered a working software that is incrementally enhanced and updated with the features that were shortlisted for that iteration.</a:t>
            </a:r>
          </a:p>
          <a:p>
            <a:endParaRPr lang="en-US" dirty="0"/>
          </a:p>
        </p:txBody>
      </p:sp>
      <p:sp>
        <p:nvSpPr>
          <p:cNvPr id="2" name="Title 1">
            <a:extLst>
              <a:ext uri="{FF2B5EF4-FFF2-40B4-BE49-F238E27FC236}">
                <a16:creationId xmlns:a16="http://schemas.microsoft.com/office/drawing/2014/main" id="{3C27EC03-E634-456F-A615-D90BA8BC4901}"/>
              </a:ext>
            </a:extLst>
          </p:cNvPr>
          <p:cNvSpPr>
            <a:spLocks noGrp="1"/>
          </p:cNvSpPr>
          <p:nvPr>
            <p:ph type="title"/>
          </p:nvPr>
        </p:nvSpPr>
        <p:spPr>
          <a:xfrm>
            <a:off x="1245371" y="828213"/>
            <a:ext cx="8596668" cy="1320800"/>
          </a:xfrm>
        </p:spPr>
        <p:txBody>
          <a:bodyPr/>
          <a:lstStyle/>
          <a:p>
            <a:r>
              <a:rPr lang="en-US" b="1" dirty="0"/>
              <a:t>Agile Model </a:t>
            </a:r>
            <a:endParaRPr lang="en-US" dirty="0"/>
          </a:p>
        </p:txBody>
      </p:sp>
    </p:spTree>
    <p:extLst>
      <p:ext uri="{BB962C8B-B14F-4D97-AF65-F5344CB8AC3E}">
        <p14:creationId xmlns:p14="http://schemas.microsoft.com/office/powerpoint/2010/main" val="1328763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D1DF28-16BF-4756-B808-2534B3C676E3}"/>
              </a:ext>
            </a:extLst>
          </p:cNvPr>
          <p:cNvSpPr>
            <a:spLocks noGrp="1"/>
          </p:cNvSpPr>
          <p:nvPr>
            <p:ph idx="1"/>
          </p:nvPr>
        </p:nvSpPr>
        <p:spPr>
          <a:xfrm>
            <a:off x="1217660" y="1451992"/>
            <a:ext cx="10821939" cy="5268541"/>
          </a:xfrm>
        </p:spPr>
        <p:txBody>
          <a:bodyPr>
            <a:noAutofit/>
          </a:bodyPr>
          <a:lstStyle/>
          <a:p>
            <a:r>
              <a:rPr lang="en-US" sz="1600" b="1" dirty="0">
                <a:solidFill>
                  <a:schemeClr val="tx1"/>
                </a:solidFill>
                <a:latin typeface="Times New Roman" panose="02020603050405020304" pitchFamily="18" charset="0"/>
                <a:cs typeface="Times New Roman" panose="02020603050405020304" pitchFamily="18" charset="0"/>
              </a:rPr>
              <a:t>Advantages : </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Continuous attention to technical excellence and good design.</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Customer satisfaction by rapid, continuous delivery of useful software.</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People and interactions are emphasized rather than process and tools. Customers, developers and testers constantly interact with each other.</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Working software is delivered frequently (weeks rather than months).</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Face-to-face conversation is the best form of communication</a:t>
            </a:r>
            <a:r>
              <a:rPr lang="en-US" sz="1600" dirty="0" smtClean="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a:p>
            <a:pPr marL="400050"/>
            <a:r>
              <a:rPr lang="en-US" sz="1600" b="1" dirty="0">
                <a:solidFill>
                  <a:schemeClr val="tx1"/>
                </a:solidFill>
                <a:latin typeface="Times New Roman" panose="02020603050405020304" pitchFamily="18" charset="0"/>
                <a:cs typeface="Times New Roman" panose="02020603050405020304" pitchFamily="18" charset="0"/>
              </a:rPr>
              <a:t>Disadvantages :</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In case of some software deliverables, especially the large ones, it is difficult to assess the effort required at the beginning of the software development life cycle.</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There is lack of emphasis on necessary documentation.</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The project can easily get taken off track if the customer representative is not clear what final outcome that they want.</a:t>
            </a:r>
          </a:p>
          <a:p>
            <a:pPr lvl="1">
              <a:buFont typeface="Wingdings" panose="05000000000000000000" pitchFamily="2" charset="2"/>
              <a:buChar char="ü"/>
            </a:pPr>
            <a:r>
              <a:rPr lang="en-US" sz="1600" dirty="0">
                <a:solidFill>
                  <a:schemeClr val="tx1"/>
                </a:solidFill>
                <a:latin typeface="Times New Roman" panose="02020603050405020304" pitchFamily="18" charset="0"/>
                <a:cs typeface="Times New Roman" panose="02020603050405020304" pitchFamily="18" charset="0"/>
              </a:rPr>
              <a:t>Only senior programmers are capable of taking the kind of decisions required during the development process.</a:t>
            </a:r>
          </a:p>
          <a:p>
            <a:pPr marL="400050"/>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D865B976-9669-4439-81E6-1FF2B63FACD2}"/>
              </a:ext>
            </a:extLst>
          </p:cNvPr>
          <p:cNvSpPr>
            <a:spLocks noGrp="1"/>
          </p:cNvSpPr>
          <p:nvPr>
            <p:ph type="title"/>
          </p:nvPr>
        </p:nvSpPr>
        <p:spPr>
          <a:xfrm>
            <a:off x="1411625" y="791592"/>
            <a:ext cx="8596668" cy="1320800"/>
          </a:xfrm>
        </p:spPr>
        <p:txBody>
          <a:bodyPr/>
          <a:lstStyle/>
          <a:p>
            <a:r>
              <a:rPr lang="en-US" b="1" dirty="0"/>
              <a:t>Agile Model </a:t>
            </a:r>
            <a:endParaRPr lang="en-US" dirty="0"/>
          </a:p>
        </p:txBody>
      </p:sp>
    </p:spTree>
    <p:extLst>
      <p:ext uri="{BB962C8B-B14F-4D97-AF65-F5344CB8AC3E}">
        <p14:creationId xmlns:p14="http://schemas.microsoft.com/office/powerpoint/2010/main" val="3710007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AGILE Model  VS  Waterfall model</a:t>
            </a:r>
            <a:endParaRPr lang="en-US" dirty="0"/>
          </a:p>
        </p:txBody>
      </p:sp>
      <p:pic>
        <p:nvPicPr>
          <p:cNvPr id="6" name="Content Placeholder 5"/>
          <p:cNvPicPr>
            <a:picLocks noGrp="1" noChangeAspect="1"/>
          </p:cNvPicPr>
          <p:nvPr>
            <p:ph idx="1"/>
          </p:nvPr>
        </p:nvPicPr>
        <p:blipFill>
          <a:blip r:embed="rId2"/>
          <a:stretch>
            <a:fillRect/>
          </a:stretch>
        </p:blipFill>
        <p:spPr>
          <a:xfrm>
            <a:off x="1878259" y="1853754"/>
            <a:ext cx="8435481" cy="3729628"/>
          </a:xfrm>
          <a:prstGeom prst="rect">
            <a:avLst/>
          </a:prstGeom>
        </p:spPr>
      </p:pic>
    </p:spTree>
    <p:extLst>
      <p:ext uri="{BB962C8B-B14F-4D97-AF65-F5344CB8AC3E}">
        <p14:creationId xmlns:p14="http://schemas.microsoft.com/office/powerpoint/2010/main" val="2048781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922072528"/>
              </p:ext>
            </p:extLst>
          </p:nvPr>
        </p:nvGraphicFramePr>
        <p:xfrm>
          <a:off x="1294363" y="1454728"/>
          <a:ext cx="9603275" cy="4809608"/>
        </p:xfrm>
        <a:graphic>
          <a:graphicData uri="http://schemas.openxmlformats.org/drawingml/2006/table">
            <a:tbl>
              <a:tblPr/>
              <a:tblGrid>
                <a:gridCol w="4967892">
                  <a:extLst>
                    <a:ext uri="{9D8B030D-6E8A-4147-A177-3AD203B41FA5}">
                      <a16:colId xmlns:a16="http://schemas.microsoft.com/office/drawing/2014/main" val="1963073102"/>
                    </a:ext>
                  </a:extLst>
                </a:gridCol>
                <a:gridCol w="4635383">
                  <a:extLst>
                    <a:ext uri="{9D8B030D-6E8A-4147-A177-3AD203B41FA5}">
                      <a16:colId xmlns:a16="http://schemas.microsoft.com/office/drawing/2014/main" val="410967088"/>
                    </a:ext>
                  </a:extLst>
                </a:gridCol>
              </a:tblGrid>
              <a:tr h="189176">
                <a:tc>
                  <a:txBody>
                    <a:bodyPr/>
                    <a:lstStyle/>
                    <a:p>
                      <a:pPr algn="ctr"/>
                      <a:r>
                        <a:rPr lang="en-US" sz="1500" b="1" dirty="0">
                          <a:latin typeface="Times New Roman" panose="02020603050405020304" pitchFamily="18" charset="0"/>
                          <a:cs typeface="Times New Roman" panose="02020603050405020304" pitchFamily="18" charset="0"/>
                        </a:rPr>
                        <a:t>Agile Model</a:t>
                      </a:r>
                      <a:endParaRPr lang="en-US" sz="1500" dirty="0">
                        <a:latin typeface="Times New Roman" panose="02020603050405020304" pitchFamily="18" charset="0"/>
                        <a:cs typeface="Times New Roman" panose="02020603050405020304" pitchFamily="18" charset="0"/>
                      </a:endParaRP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1">
                          <a:latin typeface="Times New Roman" panose="02020603050405020304" pitchFamily="18" charset="0"/>
                          <a:cs typeface="Times New Roman" panose="02020603050405020304" pitchFamily="18" charset="0"/>
                        </a:rPr>
                        <a:t>Waterfall Model</a:t>
                      </a:r>
                      <a:endParaRPr lang="en-US" sz="1500">
                        <a:latin typeface="Times New Roman" panose="02020603050405020304" pitchFamily="18" charset="0"/>
                        <a:cs typeface="Times New Roman" panose="02020603050405020304" pitchFamily="18" charset="0"/>
                      </a:endParaRP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8613650"/>
                  </a:ext>
                </a:extLst>
              </a:tr>
              <a:tr h="331417">
                <a:tc>
                  <a:txBody>
                    <a:bodyPr/>
                    <a:lstStyle/>
                    <a:p>
                      <a:pPr algn="ctr"/>
                      <a:r>
                        <a:rPr lang="en-US" sz="1500">
                          <a:latin typeface="Times New Roman" panose="02020603050405020304" pitchFamily="18" charset="0"/>
                          <a:cs typeface="Times New Roman" panose="02020603050405020304" pitchFamily="18" charset="0"/>
                        </a:rPr>
                        <a:t>Incremental and iterative approach to software design.</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a:latin typeface="Times New Roman" panose="02020603050405020304" pitchFamily="18" charset="0"/>
                          <a:cs typeface="Times New Roman" panose="02020603050405020304" pitchFamily="18" charset="0"/>
                        </a:rPr>
                        <a:t>Sequential flow from start to end.</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9995922"/>
                  </a:ext>
                </a:extLst>
              </a:tr>
              <a:tr h="331417">
                <a:tc>
                  <a:txBody>
                    <a:bodyPr/>
                    <a:lstStyle/>
                    <a:p>
                      <a:pPr algn="ctr"/>
                      <a:r>
                        <a:rPr lang="en-US" sz="1500">
                          <a:latin typeface="Times New Roman" panose="02020603050405020304" pitchFamily="18" charset="0"/>
                          <a:cs typeface="Times New Roman" panose="02020603050405020304" pitchFamily="18" charset="0"/>
                        </a:rPr>
                        <a:t>Broken into individual models for designers.</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a:latin typeface="Times New Roman" panose="02020603050405020304" pitchFamily="18" charset="0"/>
                          <a:cs typeface="Times New Roman" panose="02020603050405020304" pitchFamily="18" charset="0"/>
                        </a:rPr>
                        <a:t>Not broken into individual models.</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8936811"/>
                  </a:ext>
                </a:extLst>
              </a:tr>
              <a:tr h="473658">
                <a:tc>
                  <a:txBody>
                    <a:bodyPr/>
                    <a:lstStyle/>
                    <a:p>
                      <a:pPr algn="ctr"/>
                      <a:r>
                        <a:rPr lang="en-US" sz="1500" dirty="0">
                          <a:latin typeface="Times New Roman" panose="02020603050405020304" pitchFamily="18" charset="0"/>
                          <a:cs typeface="Times New Roman" panose="02020603050405020304" pitchFamily="18" charset="0"/>
                        </a:rPr>
                        <a:t>Early and frequent opportunities to give feedback and request changes.</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latin typeface="Times New Roman" panose="02020603050405020304" pitchFamily="18" charset="0"/>
                          <a:cs typeface="Times New Roman" panose="02020603050405020304" pitchFamily="18" charset="0"/>
                        </a:rPr>
                        <a:t>Customer only sees the final product at the end.</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5799968"/>
                  </a:ext>
                </a:extLst>
              </a:tr>
              <a:tr h="473658">
                <a:tc>
                  <a:txBody>
                    <a:bodyPr/>
                    <a:lstStyle/>
                    <a:p>
                      <a:pPr algn="ctr"/>
                      <a:r>
                        <a:rPr lang="en-US" sz="1500" dirty="0">
                          <a:latin typeface="Times New Roman" panose="02020603050405020304" pitchFamily="18" charset="0"/>
                          <a:cs typeface="Times New Roman" panose="02020603050405020304" pitchFamily="18" charset="0"/>
                        </a:rPr>
                        <a:t>Errors can be fixed in the middle of the project.</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latin typeface="Times New Roman" panose="02020603050405020304" pitchFamily="18" charset="0"/>
                          <a:cs typeface="Times New Roman" panose="02020603050405020304" pitchFamily="18" charset="0"/>
                        </a:rPr>
                        <a:t>Errors discovered at the end; may require restarting from the beginning.</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634253"/>
                  </a:ext>
                </a:extLst>
              </a:tr>
              <a:tr h="615899">
                <a:tc>
                  <a:txBody>
                    <a:bodyPr/>
                    <a:lstStyle/>
                    <a:p>
                      <a:pPr algn="ctr"/>
                      <a:r>
                        <a:rPr lang="en-US" sz="1500" dirty="0">
                          <a:latin typeface="Times New Roman" panose="02020603050405020304" pitchFamily="18" charset="0"/>
                          <a:cs typeface="Times New Roman" panose="02020603050405020304" pitchFamily="18" charset="0"/>
                        </a:rPr>
                        <a:t>Iterative, with short iterations (2–4 weeks); minimal planning.</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a:latin typeface="Times New Roman" panose="02020603050405020304" pitchFamily="18" charset="0"/>
                          <a:cs typeface="Times New Roman" panose="02020603050405020304" pitchFamily="18" charset="0"/>
                        </a:rPr>
                        <a:t>Phased development; each phase larger and ends with full documentation for the next phase.</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451171"/>
                  </a:ext>
                </a:extLst>
              </a:tr>
              <a:tr h="473658">
                <a:tc>
                  <a:txBody>
                    <a:bodyPr/>
                    <a:lstStyle/>
                    <a:p>
                      <a:pPr algn="ctr"/>
                      <a:r>
                        <a:rPr lang="en-US" sz="1500">
                          <a:latin typeface="Times New Roman" panose="02020603050405020304" pitchFamily="18" charset="0"/>
                          <a:cs typeface="Times New Roman" panose="02020603050405020304" pitchFamily="18" charset="0"/>
                        </a:rPr>
                        <a:t>Less priority than software development.</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a:latin typeface="Times New Roman" panose="02020603050405020304" pitchFamily="18" charset="0"/>
                          <a:cs typeface="Times New Roman" panose="02020603050405020304" pitchFamily="18" charset="0"/>
                        </a:rPr>
                        <a:t>High priority; used for training and upgrading software with other teams.</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2350720"/>
                  </a:ext>
                </a:extLst>
              </a:tr>
              <a:tr h="473658">
                <a:tc>
                  <a:txBody>
                    <a:bodyPr/>
                    <a:lstStyle/>
                    <a:p>
                      <a:pPr algn="ctr"/>
                      <a:r>
                        <a:rPr lang="en-US" sz="1500">
                          <a:latin typeface="Times New Roman" panose="02020603050405020304" pitchFamily="18" charset="0"/>
                          <a:cs typeface="Times New Roman" panose="02020603050405020304" pitchFamily="18" charset="0"/>
                        </a:rPr>
                        <a:t>Every iteration has testing; allows regression testing of new functions.</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latin typeface="Times New Roman" panose="02020603050405020304" pitchFamily="18" charset="0"/>
                          <a:cs typeface="Times New Roman" panose="02020603050405020304" pitchFamily="18" charset="0"/>
                        </a:rPr>
                        <a:t>Testing only after development phase is complete; partial systems not functional.</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5405441"/>
                  </a:ext>
                </a:extLst>
              </a:tr>
              <a:tr h="473658">
                <a:tc>
                  <a:txBody>
                    <a:bodyPr/>
                    <a:lstStyle/>
                    <a:p>
                      <a:pPr algn="ctr"/>
                      <a:r>
                        <a:rPr lang="en-US" sz="1500">
                          <a:latin typeface="Times New Roman" panose="02020603050405020304" pitchFamily="18" charset="0"/>
                          <a:cs typeface="Times New Roman" panose="02020603050405020304" pitchFamily="18" charset="0"/>
                        </a:rPr>
                        <a:t>Shippable features delivered after some iterations; features usable immediately.</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a:latin typeface="Times New Roman" panose="02020603050405020304" pitchFamily="18" charset="0"/>
                          <a:cs typeface="Times New Roman" panose="02020603050405020304" pitchFamily="18" charset="0"/>
                        </a:rPr>
                        <a:t>Full product delivered only after full implementation.</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41483638"/>
                  </a:ext>
                </a:extLst>
              </a:tr>
              <a:tr h="331417">
                <a:tc>
                  <a:txBody>
                    <a:bodyPr/>
                    <a:lstStyle/>
                    <a:p>
                      <a:pPr algn="ctr"/>
                      <a:r>
                        <a:rPr lang="en-US" sz="1500">
                          <a:latin typeface="Times New Roman" panose="02020603050405020304" pitchFamily="18" charset="0"/>
                          <a:cs typeface="Times New Roman" panose="02020603050405020304" pitchFamily="18" charset="0"/>
                        </a:rPr>
                        <a:t>Testers and developers work together closely.</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a:latin typeface="Times New Roman" panose="02020603050405020304" pitchFamily="18" charset="0"/>
                          <a:cs typeface="Times New Roman" panose="02020603050405020304" pitchFamily="18" charset="0"/>
                        </a:rPr>
                        <a:t>Testers work separately from developers.</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804531"/>
                  </a:ext>
                </a:extLst>
              </a:tr>
              <a:tr h="473658">
                <a:tc>
                  <a:txBody>
                    <a:bodyPr/>
                    <a:lstStyle/>
                    <a:p>
                      <a:pPr algn="ctr"/>
                      <a:r>
                        <a:rPr lang="en-US" sz="1500">
                          <a:latin typeface="Times New Roman" panose="02020603050405020304" pitchFamily="18" charset="0"/>
                          <a:cs typeface="Times New Roman" panose="02020603050405020304" pitchFamily="18" charset="0"/>
                        </a:rPr>
                        <a:t>Strong communication with developers for frequent feedback.</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dirty="0">
                          <a:latin typeface="Times New Roman" panose="02020603050405020304" pitchFamily="18" charset="0"/>
                          <a:cs typeface="Times New Roman" panose="02020603050405020304" pitchFamily="18" charset="0"/>
                        </a:rPr>
                        <a:t>Customer not involved after planning until final delivery.</a:t>
                      </a:r>
                    </a:p>
                  </a:txBody>
                  <a:tcPr marL="35200" marR="35200" marT="17600" marB="176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4324"/>
                  </a:ext>
                </a:extLst>
              </a:tr>
            </a:tbl>
          </a:graphicData>
        </a:graphic>
      </p:graphicFrame>
      <p:sp>
        <p:nvSpPr>
          <p:cNvPr id="3" name="Title 2"/>
          <p:cNvSpPr>
            <a:spLocks noGrp="1"/>
          </p:cNvSpPr>
          <p:nvPr>
            <p:ph type="title"/>
          </p:nvPr>
        </p:nvSpPr>
        <p:spPr/>
        <p:txBody>
          <a:bodyPr/>
          <a:lstStyle/>
          <a:p>
            <a:r>
              <a:rPr lang="en-US" dirty="0" smtClean="0"/>
              <a:t>AGILE Model  VS  Waterfall model</a:t>
            </a:r>
            <a:endParaRPr lang="en-US" dirty="0"/>
          </a:p>
        </p:txBody>
      </p:sp>
    </p:spTree>
    <p:extLst>
      <p:ext uri="{BB962C8B-B14F-4D97-AF65-F5344CB8AC3E}">
        <p14:creationId xmlns:p14="http://schemas.microsoft.com/office/powerpoint/2010/main" val="2706277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98CDEE-AFCB-40AA-85FD-A93C04E580AA}"/>
              </a:ext>
            </a:extLst>
          </p:cNvPr>
          <p:cNvSpPr>
            <a:spLocks noGrp="1"/>
          </p:cNvSpPr>
          <p:nvPr>
            <p:ph idx="1"/>
          </p:nvPr>
        </p:nvSpPr>
        <p:spPr>
          <a:xfrm>
            <a:off x="1294363" y="1568298"/>
            <a:ext cx="8596668" cy="3880773"/>
          </a:xfrm>
        </p:spPr>
        <p:txBody>
          <a:bodyPr/>
          <a:lstStyle/>
          <a:p>
            <a:pPr>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RAD model is a type of </a:t>
            </a:r>
            <a:r>
              <a:rPr lang="en-US" sz="2000" b="1" dirty="0">
                <a:solidFill>
                  <a:schemeClr val="tx1"/>
                </a:solidFill>
                <a:latin typeface="Times New Roman" panose="02020603050405020304" pitchFamily="18" charset="0"/>
                <a:cs typeface="Times New Roman" panose="02020603050405020304" pitchFamily="18" charset="0"/>
              </a:rPr>
              <a:t>incremental process model</a:t>
            </a:r>
            <a:r>
              <a:rPr lang="en-US" sz="2000" dirty="0">
                <a:solidFill>
                  <a:schemeClr val="tx1"/>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The RAD model is used when the </a:t>
            </a:r>
            <a:r>
              <a:rPr lang="en-US" sz="2000" b="1" dirty="0">
                <a:solidFill>
                  <a:schemeClr val="tx1"/>
                </a:solidFill>
                <a:latin typeface="Times New Roman" panose="02020603050405020304" pitchFamily="18" charset="0"/>
                <a:cs typeface="Times New Roman" panose="02020603050405020304" pitchFamily="18" charset="0"/>
              </a:rPr>
              <a:t>requirements are fully understood </a:t>
            </a:r>
            <a:r>
              <a:rPr lang="en-US" sz="2000" dirty="0">
                <a:solidFill>
                  <a:schemeClr val="tx1"/>
                </a:solidFill>
                <a:latin typeface="Times New Roman" panose="02020603050405020304" pitchFamily="18" charset="0"/>
                <a:cs typeface="Times New Roman" panose="02020603050405020304" pitchFamily="18" charset="0"/>
              </a:rPr>
              <a:t>and the </a:t>
            </a:r>
            <a:r>
              <a:rPr lang="en-US" sz="2000" b="1" dirty="0">
                <a:solidFill>
                  <a:schemeClr val="tx1"/>
                </a:solidFill>
                <a:latin typeface="Times New Roman" panose="02020603050405020304" pitchFamily="18" charset="0"/>
                <a:cs typeface="Times New Roman" panose="02020603050405020304" pitchFamily="18" charset="0"/>
              </a:rPr>
              <a:t>component-based construction approach</a:t>
            </a:r>
            <a:r>
              <a:rPr lang="en-US" sz="2000" dirty="0">
                <a:solidFill>
                  <a:schemeClr val="tx1"/>
                </a:solidFill>
                <a:latin typeface="Times New Roman" panose="02020603050405020304" pitchFamily="18" charset="0"/>
                <a:cs typeface="Times New Roman" panose="02020603050405020304" pitchFamily="18" charset="0"/>
              </a:rPr>
              <a:t> is adopted. </a:t>
            </a:r>
          </a:p>
          <a:p>
            <a:pPr marL="0" indent="0">
              <a:buNone/>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A03B7225-E68A-43AD-B6E2-3A27B981D518}"/>
              </a:ext>
            </a:extLst>
          </p:cNvPr>
          <p:cNvSpPr>
            <a:spLocks noGrp="1"/>
          </p:cNvSpPr>
          <p:nvPr>
            <p:ph type="title"/>
          </p:nvPr>
        </p:nvSpPr>
        <p:spPr/>
        <p:txBody>
          <a:bodyPr/>
          <a:lstStyle/>
          <a:p>
            <a:r>
              <a:rPr lang="en-US" b="1" dirty="0"/>
              <a:t>Rapid Application Development (RAD)</a:t>
            </a:r>
            <a:br>
              <a:rPr lang="en-US" b="1" dirty="0"/>
            </a:br>
            <a:endParaRPr lang="en-US" dirty="0"/>
          </a:p>
        </p:txBody>
      </p:sp>
      <p:sp>
        <p:nvSpPr>
          <p:cNvPr id="5" name="TextBox 4">
            <a:extLst>
              <a:ext uri="{FF2B5EF4-FFF2-40B4-BE49-F238E27FC236}">
                <a16:creationId xmlns:a16="http://schemas.microsoft.com/office/drawing/2014/main" id="{53E34B7F-998C-4651-A62A-C84B91371CED}"/>
              </a:ext>
            </a:extLst>
          </p:cNvPr>
          <p:cNvSpPr txBox="1"/>
          <p:nvPr/>
        </p:nvSpPr>
        <p:spPr>
          <a:xfrm>
            <a:off x="3259752" y="5750894"/>
            <a:ext cx="4873046" cy="615553"/>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a:t>
            </a:r>
            <a:r>
              <a:rPr lang="en-US" sz="1600" b="1" dirty="0">
                <a:latin typeface="Times New Roman" panose="02020603050405020304" pitchFamily="18" charset="0"/>
                <a:cs typeface="Times New Roman" panose="02020603050405020304" pitchFamily="18" charset="0"/>
              </a:rPr>
              <a:t>Phases in the James Martin approach to RAD</a:t>
            </a:r>
          </a:p>
          <a:p>
            <a:endParaRPr lang="en-US" dirty="0"/>
          </a:p>
        </p:txBody>
      </p:sp>
      <p:pic>
        <p:nvPicPr>
          <p:cNvPr id="6" name="Picture 5"/>
          <p:cNvPicPr>
            <a:picLocks noChangeAspect="1"/>
          </p:cNvPicPr>
          <p:nvPr/>
        </p:nvPicPr>
        <p:blipFill>
          <a:blip r:embed="rId2"/>
          <a:stretch>
            <a:fillRect/>
          </a:stretch>
        </p:blipFill>
        <p:spPr>
          <a:xfrm>
            <a:off x="2601429" y="2818883"/>
            <a:ext cx="5982535" cy="2981741"/>
          </a:xfrm>
          <a:prstGeom prst="rect">
            <a:avLst/>
          </a:prstGeom>
        </p:spPr>
      </p:pic>
    </p:spTree>
    <p:extLst>
      <p:ext uri="{BB962C8B-B14F-4D97-AF65-F5344CB8AC3E}">
        <p14:creationId xmlns:p14="http://schemas.microsoft.com/office/powerpoint/2010/main" val="313095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61484C-356D-40D0-91FF-634E78B30869}"/>
              </a:ext>
            </a:extLst>
          </p:cNvPr>
          <p:cNvSpPr>
            <a:spLocks noGrp="1"/>
          </p:cNvSpPr>
          <p:nvPr>
            <p:ph idx="1"/>
          </p:nvPr>
        </p:nvSpPr>
        <p:spPr>
          <a:xfrm>
            <a:off x="1294362" y="1528122"/>
            <a:ext cx="9603275" cy="4817260"/>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James Martin </a:t>
            </a:r>
            <a:r>
              <a:rPr lang="en-US" sz="2000" dirty="0">
                <a:solidFill>
                  <a:schemeClr val="tx1"/>
                </a:solidFill>
                <a:latin typeface="Times New Roman" panose="02020603050405020304" pitchFamily="18" charset="0"/>
                <a:cs typeface="Times New Roman" panose="02020603050405020304" pitchFamily="18" charset="0"/>
              </a:rPr>
              <a:t>approach to RAD divides the process into four distinct phases:</a:t>
            </a:r>
          </a:p>
          <a:p>
            <a:pPr lvl="1">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Requirements planning phase :</a:t>
            </a:r>
          </a:p>
          <a:p>
            <a:pPr lvl="1">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User design phase :</a:t>
            </a:r>
          </a:p>
          <a:p>
            <a:pPr lvl="1">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Construction phase : F</a:t>
            </a:r>
            <a:r>
              <a:rPr lang="en-US" sz="2000" dirty="0">
                <a:solidFill>
                  <a:schemeClr val="tx1"/>
                </a:solidFill>
                <a:latin typeface="Times New Roman" panose="02020603050405020304" pitchFamily="18" charset="0"/>
                <a:cs typeface="Times New Roman" panose="02020603050405020304" pitchFamily="18" charset="0"/>
              </a:rPr>
              <a:t>ocuses on program and application development task similar to the SDLC. In RAD, however, users continue to participate and can still suggest changes or improvements as actual screens or reports are developed. Its tasks are programming and application development, coding, unit-integration and system testing.</a:t>
            </a:r>
            <a:endParaRPr lang="en-US" sz="2000" b="1" dirty="0">
              <a:solidFill>
                <a:schemeClr val="tx1"/>
              </a:solidFill>
              <a:latin typeface="Times New Roman" panose="02020603050405020304" pitchFamily="18" charset="0"/>
              <a:cs typeface="Times New Roman" panose="02020603050405020304" pitchFamily="18" charset="0"/>
            </a:endParaRPr>
          </a:p>
          <a:p>
            <a:pPr lvl="1">
              <a:buFont typeface="+mj-lt"/>
              <a:buAutoNum type="arabicPeriod"/>
            </a:pPr>
            <a:r>
              <a:rPr lang="en-US" sz="2000" b="1" dirty="0">
                <a:solidFill>
                  <a:schemeClr val="tx1"/>
                </a:solidFill>
                <a:latin typeface="Times New Roman" panose="02020603050405020304" pitchFamily="18" charset="0"/>
                <a:cs typeface="Times New Roman" panose="02020603050405020304" pitchFamily="18" charset="0"/>
              </a:rPr>
              <a:t>Cutover phase : </a:t>
            </a:r>
            <a:r>
              <a:rPr lang="en-US" sz="2000" dirty="0">
                <a:solidFill>
                  <a:schemeClr val="tx1"/>
                </a:solidFill>
                <a:latin typeface="Times New Roman" panose="02020603050405020304" pitchFamily="18" charset="0"/>
                <a:cs typeface="Times New Roman" panose="02020603050405020304" pitchFamily="18" charset="0"/>
              </a:rPr>
              <a:t>All the interfaces between the independent modules developed by separate teams have to be tested properly. The use of powerfully automated tools and subparts makes testing easier. This is followed by acceptance testing by the user.</a:t>
            </a:r>
            <a:endParaRPr lang="en-US" sz="2000" b="1" dirty="0">
              <a:solidFill>
                <a:schemeClr val="tx1"/>
              </a:solidFill>
              <a:latin typeface="Times New Roman" panose="02020603050405020304" pitchFamily="18" charset="0"/>
              <a:cs typeface="Times New Roman" panose="02020603050405020304" pitchFamily="18" charset="0"/>
            </a:endParaRPr>
          </a:p>
          <a:p>
            <a:pPr>
              <a:buFont typeface="+mj-lt"/>
              <a:buAutoNum type="arabicPeriod"/>
            </a:pPr>
            <a:endParaRPr lang="en-US" b="1" dirty="0"/>
          </a:p>
          <a:p>
            <a:endParaRPr lang="en-US" dirty="0"/>
          </a:p>
        </p:txBody>
      </p:sp>
      <p:sp>
        <p:nvSpPr>
          <p:cNvPr id="2" name="Title 1">
            <a:extLst>
              <a:ext uri="{FF2B5EF4-FFF2-40B4-BE49-F238E27FC236}">
                <a16:creationId xmlns:a16="http://schemas.microsoft.com/office/drawing/2014/main" id="{09FC9C8D-463E-442E-ADD5-BF29D3BD65EE}"/>
              </a:ext>
            </a:extLst>
          </p:cNvPr>
          <p:cNvSpPr>
            <a:spLocks noGrp="1"/>
          </p:cNvSpPr>
          <p:nvPr>
            <p:ph type="title"/>
          </p:nvPr>
        </p:nvSpPr>
        <p:spPr/>
        <p:txBody>
          <a:bodyPr>
            <a:normAutofit/>
          </a:bodyPr>
          <a:lstStyle/>
          <a:p>
            <a:r>
              <a:rPr lang="en-US" sz="3200" b="1" dirty="0"/>
              <a:t>Rapid Application Development (RAD</a:t>
            </a:r>
            <a:r>
              <a:rPr lang="en-US" sz="3200" b="1" dirty="0" smtClean="0"/>
              <a:t>)</a:t>
            </a:r>
            <a:r>
              <a:rPr lang="en-US" b="1" dirty="0"/>
              <a:t/>
            </a:r>
            <a:br>
              <a:rPr lang="en-US" b="1" dirty="0"/>
            </a:br>
            <a:endParaRPr lang="en-US" dirty="0"/>
          </a:p>
        </p:txBody>
      </p:sp>
    </p:spTree>
    <p:extLst>
      <p:ext uri="{BB962C8B-B14F-4D97-AF65-F5344CB8AC3E}">
        <p14:creationId xmlns:p14="http://schemas.microsoft.com/office/powerpoint/2010/main" val="3521423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418ACC-39B1-4BD3-919D-E33188963EA4}"/>
              </a:ext>
            </a:extLst>
          </p:cNvPr>
          <p:cNvSpPr>
            <a:spLocks noGrp="1"/>
          </p:cNvSpPr>
          <p:nvPr>
            <p:ph idx="1"/>
          </p:nvPr>
        </p:nvSpPr>
        <p:spPr>
          <a:xfrm>
            <a:off x="1189951" y="1504630"/>
            <a:ext cx="9256780" cy="5175681"/>
          </a:xfrm>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Advantages: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use of reusable components helps to reduce the cycle time of the project.</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Feedback from the customer is available at the initial stages.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Reduced costs as fewer developers are required.</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progress and development of the project can be measured through the various stages.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It is easier to accommodate changing requirements due to the short iteration time spans.</a:t>
            </a:r>
          </a:p>
          <a:p>
            <a:pPr lvl="1">
              <a:buFont typeface="Wingdings" panose="05000000000000000000" pitchFamily="2" charset="2"/>
              <a:buChar char="ü"/>
            </a:pPr>
            <a:endParaRPr lang="en-US" sz="1800"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Disadvantages: </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use of powerful and efficient tools requires highly skilled professionals.</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absence of reusable components can lead to the failure of the project.</a:t>
            </a:r>
          </a:p>
          <a:p>
            <a:pPr lvl="1">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rPr>
              <a:t>The team leader must work closely with the developers and customers to close the project on time.</a:t>
            </a:r>
          </a:p>
          <a:p>
            <a:pPr lvl="1">
              <a:buFont typeface="Wingdings" panose="05000000000000000000" pitchFamily="2" charset="2"/>
              <a:buChar char="ü"/>
            </a:pPr>
            <a:endParaRPr lang="en-US" dirty="0"/>
          </a:p>
        </p:txBody>
      </p:sp>
      <p:sp>
        <p:nvSpPr>
          <p:cNvPr id="2" name="Title 1">
            <a:extLst>
              <a:ext uri="{FF2B5EF4-FFF2-40B4-BE49-F238E27FC236}">
                <a16:creationId xmlns:a16="http://schemas.microsoft.com/office/drawing/2014/main" id="{B882581E-B09C-4A9D-876D-5441688D8645}"/>
              </a:ext>
            </a:extLst>
          </p:cNvPr>
          <p:cNvSpPr>
            <a:spLocks noGrp="1"/>
          </p:cNvSpPr>
          <p:nvPr>
            <p:ph type="title"/>
          </p:nvPr>
        </p:nvSpPr>
        <p:spPr>
          <a:xfrm>
            <a:off x="1189951" y="980012"/>
            <a:ext cx="9603275" cy="1049235"/>
          </a:xfrm>
        </p:spPr>
        <p:txBody>
          <a:bodyPr>
            <a:normAutofit/>
          </a:bodyPr>
          <a:lstStyle/>
          <a:p>
            <a:r>
              <a:rPr lang="en-US" sz="3100" b="1" dirty="0"/>
              <a:t>Rapid Application Development (RAD</a:t>
            </a:r>
            <a:r>
              <a:rPr lang="en-US" sz="3100" b="1" dirty="0" smtClean="0"/>
              <a:t>)</a:t>
            </a:r>
            <a:r>
              <a:rPr lang="en-US" b="1" dirty="0"/>
              <a:t/>
            </a:r>
            <a:br>
              <a:rPr lang="en-US" b="1" dirty="0"/>
            </a:br>
            <a:endParaRPr lang="en-US" dirty="0"/>
          </a:p>
        </p:txBody>
      </p:sp>
    </p:spTree>
    <p:extLst>
      <p:ext uri="{BB962C8B-B14F-4D97-AF65-F5344CB8AC3E}">
        <p14:creationId xmlns:p14="http://schemas.microsoft.com/office/powerpoint/2010/main" val="2571102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F4D41C-2E69-46A9-84C3-1A09792403EC}"/>
              </a:ext>
            </a:extLst>
          </p:cNvPr>
          <p:cNvSpPr>
            <a:spLocks noGrp="1"/>
          </p:cNvSpPr>
          <p:nvPr>
            <p:ph idx="1"/>
          </p:nvPr>
        </p:nvSpPr>
        <p:spPr>
          <a:xfrm>
            <a:off x="1294363" y="1600096"/>
            <a:ext cx="9603275" cy="3450613"/>
          </a:xfrm>
        </p:spPr>
        <p:txBody>
          <a:bodyPr/>
          <a:lstStyle/>
          <a:p>
            <a:r>
              <a:rPr lang="en-US" sz="2200" b="1" dirty="0">
                <a:solidFill>
                  <a:schemeClr val="tx1"/>
                </a:solidFill>
                <a:latin typeface="Times New Roman" panose="02020603050405020304" pitchFamily="18" charset="0"/>
                <a:cs typeface="Times New Roman" panose="02020603050405020304" pitchFamily="18" charset="0"/>
              </a:rPr>
              <a:t>When to Use the RAD Model</a:t>
            </a:r>
          </a:p>
          <a:p>
            <a:pPr marL="685800" lvl="1">
              <a:buFont typeface="Wingdings" panose="05000000000000000000" pitchFamily="2" charset="2"/>
              <a:buChar char="ü"/>
            </a:pPr>
            <a:r>
              <a:rPr lang="en-US" sz="2000" dirty="0" smtClean="0">
                <a:solidFill>
                  <a:schemeClr val="tx1"/>
                </a:solidFill>
                <a:latin typeface="Times New Roman" panose="02020603050405020304" pitchFamily="18" charset="0"/>
                <a:cs typeface="Times New Roman" panose="02020603050405020304" pitchFamily="18" charset="0"/>
              </a:rPr>
              <a:t>Well-understood </a:t>
            </a:r>
            <a:r>
              <a:rPr lang="en-US" sz="2000" dirty="0">
                <a:solidFill>
                  <a:schemeClr val="tx1"/>
                </a:solidFill>
                <a:latin typeface="Times New Roman" panose="02020603050405020304" pitchFamily="18" charset="0"/>
                <a:cs typeface="Times New Roman" panose="02020603050405020304" pitchFamily="18" charset="0"/>
              </a:rPr>
              <a:t>Requirements</a:t>
            </a:r>
          </a:p>
          <a:p>
            <a:pPr marL="685800" lvl="1">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Time-sensitive Projects</a:t>
            </a:r>
          </a:p>
          <a:p>
            <a:pPr marL="685800" lvl="1">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Small to Medium-Sized Projects</a:t>
            </a:r>
          </a:p>
          <a:p>
            <a:pPr marL="685800" lvl="1">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High User Involvement</a:t>
            </a:r>
          </a:p>
          <a:p>
            <a:pPr marL="685800" lvl="1">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Innovation and Creativity</a:t>
            </a:r>
          </a:p>
        </p:txBody>
      </p:sp>
      <p:sp>
        <p:nvSpPr>
          <p:cNvPr id="2" name="Title 1">
            <a:extLst>
              <a:ext uri="{FF2B5EF4-FFF2-40B4-BE49-F238E27FC236}">
                <a16:creationId xmlns:a16="http://schemas.microsoft.com/office/drawing/2014/main" id="{F5F6D306-970A-4B96-91A3-829EFDAF1D7A}"/>
              </a:ext>
            </a:extLst>
          </p:cNvPr>
          <p:cNvSpPr>
            <a:spLocks noGrp="1"/>
          </p:cNvSpPr>
          <p:nvPr>
            <p:ph type="title"/>
          </p:nvPr>
        </p:nvSpPr>
        <p:spPr/>
        <p:txBody>
          <a:bodyPr>
            <a:normAutofit/>
          </a:bodyPr>
          <a:lstStyle/>
          <a:p>
            <a:r>
              <a:rPr lang="en-US" sz="3100" b="1" dirty="0"/>
              <a:t>Rapid Application Development (RAD</a:t>
            </a:r>
            <a:r>
              <a:rPr lang="en-US" sz="3100" b="1" dirty="0" smtClean="0"/>
              <a:t>)</a:t>
            </a:r>
            <a:r>
              <a:rPr lang="en-US" b="1" dirty="0"/>
              <a:t/>
            </a:r>
            <a:br>
              <a:rPr lang="en-US" b="1" dirty="0"/>
            </a:br>
            <a:endParaRPr lang="en-US" dirty="0"/>
          </a:p>
        </p:txBody>
      </p:sp>
    </p:spTree>
    <p:extLst>
      <p:ext uri="{BB962C8B-B14F-4D97-AF65-F5344CB8AC3E}">
        <p14:creationId xmlns:p14="http://schemas.microsoft.com/office/powerpoint/2010/main" val="3710877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4363" y="1461550"/>
            <a:ext cx="9603275" cy="3450613"/>
          </a:xfrm>
        </p:spPr>
        <p:txBody>
          <a:bodyPr/>
          <a:lstStyle/>
          <a:p>
            <a:r>
              <a:rPr lang="en-US" dirty="0" smtClean="0"/>
              <a:t>The </a:t>
            </a:r>
            <a:r>
              <a:rPr lang="en-US" dirty="0"/>
              <a:t>Structured Approach Structured analysis, structured design, and structured programming are the three techniques that make up the structured approach are collectively referred to as the structured analysis and design technique (SADT).</a:t>
            </a:r>
          </a:p>
        </p:txBody>
      </p:sp>
      <p:sp>
        <p:nvSpPr>
          <p:cNvPr id="3" name="Title 2"/>
          <p:cNvSpPr>
            <a:spLocks noGrp="1"/>
          </p:cNvSpPr>
          <p:nvPr>
            <p:ph type="title"/>
          </p:nvPr>
        </p:nvSpPr>
        <p:spPr>
          <a:xfrm>
            <a:off x="1294363" y="818373"/>
            <a:ext cx="9603275" cy="1049235"/>
          </a:xfrm>
        </p:spPr>
        <p:txBody>
          <a:bodyPr/>
          <a:lstStyle/>
          <a:p>
            <a:r>
              <a:rPr lang="en-US" dirty="0"/>
              <a:t>Structured Approach</a:t>
            </a:r>
          </a:p>
        </p:txBody>
      </p:sp>
      <p:pic>
        <p:nvPicPr>
          <p:cNvPr id="4" name="Picture 3"/>
          <p:cNvPicPr>
            <a:picLocks noChangeAspect="1"/>
          </p:cNvPicPr>
          <p:nvPr/>
        </p:nvPicPr>
        <p:blipFill>
          <a:blip r:embed="rId2"/>
          <a:stretch>
            <a:fillRect/>
          </a:stretch>
        </p:blipFill>
        <p:spPr>
          <a:xfrm>
            <a:off x="3131127" y="2700770"/>
            <a:ext cx="6231328" cy="3353666"/>
          </a:xfrm>
          <a:prstGeom prst="rect">
            <a:avLst/>
          </a:prstGeom>
        </p:spPr>
      </p:pic>
    </p:spTree>
    <p:extLst>
      <p:ext uri="{BB962C8B-B14F-4D97-AF65-F5344CB8AC3E}">
        <p14:creationId xmlns:p14="http://schemas.microsoft.com/office/powerpoint/2010/main" val="317355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66653" y="638265"/>
            <a:ext cx="9603275" cy="5428996"/>
          </a:xfrm>
          <a:prstGeom prst="rect">
            <a:avLst/>
          </a:prstGeom>
        </p:spPr>
      </p:pic>
    </p:spTree>
    <p:extLst>
      <p:ext uri="{BB962C8B-B14F-4D97-AF65-F5344CB8AC3E}">
        <p14:creationId xmlns:p14="http://schemas.microsoft.com/office/powerpoint/2010/main" val="2575718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5" name="Content Placeholder 4"/>
          <p:cNvSpPr>
            <a:spLocks noGrp="1"/>
          </p:cNvSpPr>
          <p:nvPr>
            <p:ph idx="1"/>
          </p:nvPr>
        </p:nvSpPr>
        <p:spPr/>
        <p:txBody>
          <a:bodyPr/>
          <a:lstStyle/>
          <a:p>
            <a:endParaRPr lang="en-US" dirty="0"/>
          </a:p>
        </p:txBody>
      </p:sp>
    </p:spTree>
    <p:extLst>
      <p:ext uri="{BB962C8B-B14F-4D97-AF65-F5344CB8AC3E}">
        <p14:creationId xmlns:p14="http://schemas.microsoft.com/office/powerpoint/2010/main" val="2645447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F7260-429F-4A72-93F9-C7D45DAC0711}"/>
              </a:ext>
            </a:extLst>
          </p:cNvPr>
          <p:cNvSpPr>
            <a:spLocks noGrp="1"/>
          </p:cNvSpPr>
          <p:nvPr>
            <p:ph type="ctrTitle"/>
          </p:nvPr>
        </p:nvSpPr>
        <p:spPr/>
        <p:txBody>
          <a:bodyPr/>
          <a:lstStyle/>
          <a:p>
            <a:r>
              <a:rPr lang="en-US" b="1" dirty="0">
                <a:latin typeface="Arial Rounded MT Bold" panose="020F0704030504030204" pitchFamily="34" charset="0"/>
              </a:rPr>
              <a:t>Thank You</a:t>
            </a:r>
          </a:p>
        </p:txBody>
      </p:sp>
    </p:spTree>
    <p:extLst>
      <p:ext uri="{BB962C8B-B14F-4D97-AF65-F5344CB8AC3E}">
        <p14:creationId xmlns:p14="http://schemas.microsoft.com/office/powerpoint/2010/main" val="2082748770"/>
      </p:ext>
    </p:extLst>
  </p:cSld>
  <p:clrMapOvr>
    <a:masterClrMapping/>
  </p:clrMapOvr>
</p:sld>
</file>

<file path=ppt/theme/theme1.xml><?xml version="1.0" encoding="utf-8"?>
<a:theme xmlns:a="http://schemas.openxmlformats.org/drawingml/2006/main" name="Theme3">
  <a:themeElements>
    <a:clrScheme name="Custom 10">
      <a:dk1>
        <a:sysClr val="windowText" lastClr="000000"/>
      </a:dk1>
      <a:lt1>
        <a:sysClr val="window" lastClr="FFFFFF"/>
      </a:lt1>
      <a:dk2>
        <a:srgbClr val="454545"/>
      </a:dk2>
      <a:lt2>
        <a:srgbClr val="DFDBD5"/>
      </a:lt2>
      <a:accent1>
        <a:srgbClr val="B71E42"/>
      </a:accent1>
      <a:accent2>
        <a:srgbClr val="84582C"/>
      </a:accent2>
      <a:accent3>
        <a:srgbClr val="002060"/>
      </a:accent3>
      <a:accent4>
        <a:srgbClr val="586EA6"/>
      </a:accent4>
      <a:accent5>
        <a:srgbClr val="586EA6"/>
      </a:accent5>
      <a:accent6>
        <a:srgbClr val="6892A0"/>
      </a:accent6>
      <a:hlink>
        <a:srgbClr val="B71E42"/>
      </a:hlink>
      <a:folHlink>
        <a:srgbClr val="586EA6"/>
      </a:folHlink>
    </a:clrScheme>
    <a:fontScheme name="Default">
      <a:majorFont>
        <a:latin typeface="Gill Sans MT"/>
        <a:ea typeface=""/>
        <a:cs typeface=""/>
      </a:majorFont>
      <a:minorFont>
        <a:latin typeface="Gill Sans MT"/>
        <a:ea typeface=""/>
        <a:cs typeface=""/>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spDef>
      <a:spPr>
        <a:solidFill>
          <a:srgbClr val="B71E42"/>
        </a:solidFill>
        <a:ln>
          <a:noFill/>
        </a:ln>
      </a:spPr>
      <a:bodyPr rtlCol="0" anchor="ctr"/>
      <a:lstStyle>
        <a:defPPr algn="ctr">
          <a:defRPr/>
        </a:defPPr>
      </a:lstStyle>
      <a:style>
        <a:lnRef idx="3">
          <a:schemeClr val="lt1"/>
        </a:lnRef>
        <a:fillRef idx="1">
          <a:schemeClr val="accent1"/>
        </a:fillRef>
        <a:effectRef idx="1">
          <a:schemeClr val="accent1"/>
        </a:effectRef>
        <a:fontRef idx="minor">
          <a:schemeClr val="lt1"/>
        </a:fontRef>
      </a:style>
    </a:spDef>
    <a:lnDef>
      <a:spPr>
        <a:ln w="31750"/>
      </a:spPr>
      <a:bodyPr/>
      <a:lstStyle/>
      <a:style>
        <a:lnRef idx="3">
          <a:schemeClr val="accent1"/>
        </a:lnRef>
        <a:fillRef idx="0">
          <a:schemeClr val="accent1"/>
        </a:fillRef>
        <a:effectRef idx="2">
          <a:schemeClr val="accent1"/>
        </a:effectRef>
        <a:fontRef idx="minor">
          <a:schemeClr val="tx1"/>
        </a:fontRef>
      </a:style>
    </a:lnDef>
  </a:objectDefaults>
  <a:extraClrSchemeLst/>
  <a:extLst>
    <a:ext uri="{05A4C25C-085E-4340-85A3-A5531E510DB2}">
      <thm15:themeFamily xmlns:thm15="http://schemas.microsoft.com/office/thememl/2012/main" name="Theme3" id="{FB03BC74-5683-4378-A2C2-9732300F9EBA}" vid="{3EFA06A2-0147-4E8E-A408-BC8DD123615C}"/>
    </a:ext>
  </a:extLst>
</a:theme>
</file>

<file path=docProps/app.xml><?xml version="1.0" encoding="utf-8"?>
<Properties xmlns="http://schemas.openxmlformats.org/officeDocument/2006/extended-properties" xmlns:vt="http://schemas.openxmlformats.org/officeDocument/2006/docPropsVTypes">
  <Template>Theme3</Template>
  <TotalTime>1819</TotalTime>
  <Words>2801</Words>
  <Application>Microsoft Office PowerPoint</Application>
  <PresentationFormat>Widescreen</PresentationFormat>
  <Paragraphs>343</Paragraphs>
  <Slides>44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Arial Rounded MT Bold</vt:lpstr>
      <vt:lpstr>Courier New</vt:lpstr>
      <vt:lpstr>Gill Sans MT</vt:lpstr>
      <vt:lpstr>Times New Roman</vt:lpstr>
      <vt:lpstr>Wingdings</vt:lpstr>
      <vt:lpstr>Wingdings 3</vt:lpstr>
      <vt:lpstr>Theme3</vt:lpstr>
      <vt:lpstr>International Islamic University Chittagong</vt:lpstr>
      <vt:lpstr>SOFTWARE ENGINEERING PROCESSES </vt:lpstr>
      <vt:lpstr>Importance of Software Processes</vt:lpstr>
      <vt:lpstr> Systems Development Life Cycle (SDLC) </vt:lpstr>
      <vt:lpstr> Systems Development Life Cycle (SDLC)  </vt:lpstr>
      <vt:lpstr> Systems Development Life Cycle (SDLC)</vt:lpstr>
      <vt:lpstr> Systems Development Life Cycle (SDLC) </vt:lpstr>
      <vt:lpstr> Systems Development Life Cycle (SDLC) </vt:lpstr>
      <vt:lpstr>Joint Application Design (JAD) </vt:lpstr>
      <vt:lpstr>Joint Application Design (JAD) </vt:lpstr>
      <vt:lpstr>JAD Process Steps </vt:lpstr>
      <vt:lpstr>JAD Advantages &amp; Disadvantages</vt:lpstr>
      <vt:lpstr>Some SDLC Methodologies </vt:lpstr>
      <vt:lpstr>Classical Waterfall Model </vt:lpstr>
      <vt:lpstr>Classical Waterfall Model</vt:lpstr>
      <vt:lpstr>Classical Waterfall Model (Cont.) </vt:lpstr>
      <vt:lpstr>Parallel Waterfall Model </vt:lpstr>
      <vt:lpstr>Waterfall V Model </vt:lpstr>
      <vt:lpstr>Waterfall V Model </vt:lpstr>
      <vt:lpstr>Waterfall V Model (Cont.) </vt:lpstr>
      <vt:lpstr>Waterfall V Model  </vt:lpstr>
      <vt:lpstr>Waterfall V Model  </vt:lpstr>
      <vt:lpstr>Spiral Model </vt:lpstr>
      <vt:lpstr>Spiral Model  </vt:lpstr>
      <vt:lpstr>Spiral Model  </vt:lpstr>
      <vt:lpstr>Prototyping  </vt:lpstr>
      <vt:lpstr>Prototyping</vt:lpstr>
      <vt:lpstr>Iterative development Approach </vt:lpstr>
      <vt:lpstr>Incremental development Approach </vt:lpstr>
      <vt:lpstr>Comparison of Various SDLC Models  (Heavyweight Methodology) </vt:lpstr>
      <vt:lpstr>Agile Model</vt:lpstr>
      <vt:lpstr>Agile Model </vt:lpstr>
      <vt:lpstr>Agile Model </vt:lpstr>
      <vt:lpstr>Agile Model </vt:lpstr>
      <vt:lpstr>AGILE Model  VS  Waterfall model</vt:lpstr>
      <vt:lpstr>AGILE Model  VS  Waterfall model</vt:lpstr>
      <vt:lpstr>Rapid Application Development (RAD) </vt:lpstr>
      <vt:lpstr>Rapid Application Development (RAD) </vt:lpstr>
      <vt:lpstr>Rapid Application Development (RAD) </vt:lpstr>
      <vt:lpstr>Rapid Application Development (RAD) </vt:lpstr>
      <vt:lpstr>Structured Approach</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Islamic University Chittagong</dc:title>
  <dc:creator>Noman Siddike</dc:creator>
  <cp:lastModifiedBy>Miskat Raihan</cp:lastModifiedBy>
  <cp:revision>73</cp:revision>
  <dcterms:created xsi:type="dcterms:W3CDTF">2025-02-27T08:03:44Z</dcterms:created>
  <dcterms:modified xsi:type="dcterms:W3CDTF">2025-11-07T18:13:24Z</dcterms:modified>
</cp:coreProperties>
</file>