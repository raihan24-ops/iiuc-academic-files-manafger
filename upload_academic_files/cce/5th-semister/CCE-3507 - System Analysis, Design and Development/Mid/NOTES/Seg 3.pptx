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84" r:id="rId1"/>
  </p:sldMasterIdLst>
  <p:sldIdLst>
    <p:sldId id="257" r:id="rId2"/>
    <p:sldId id="258" r:id="rId3"/>
    <p:sldId id="261" r:id="rId4"/>
    <p:sldId id="260" r:id="rId5"/>
    <p:sldId id="268" r:id="rId6"/>
    <p:sldId id="269" r:id="rId7"/>
    <p:sldId id="270" r:id="rId8"/>
    <p:sldId id="263" r:id="rId9"/>
    <p:sldId id="264" r:id="rId10"/>
    <p:sldId id="265" r:id="rId11"/>
    <p:sldId id="266" r:id="rId12"/>
    <p:sldId id="259" r:id="rId13"/>
    <p:sldId id="262" r:id="rId14"/>
    <p:sldId id="26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7464" y="802298"/>
            <a:ext cx="8637073" cy="2541431"/>
          </a:xfrm>
        </p:spPr>
        <p:txBody>
          <a:bodyPr bIns="0" anchor="b">
            <a:normAutofit/>
          </a:bodyPr>
          <a:lstStyle>
            <a:lvl1pPr algn="l">
              <a:defRPr sz="6600"/>
            </a:lvl1pPr>
          </a:lstStyle>
          <a:p>
            <a:r>
              <a:rPr lang="en-US" noProof="0" smtClean="0"/>
              <a:t>Click to edit Master title style</a:t>
            </a:r>
            <a:endParaRPr lang="en-US" noProof="0"/>
          </a:p>
        </p:txBody>
      </p:sp>
      <p:sp>
        <p:nvSpPr>
          <p:cNvPr id="3" name="Subtitle 2"/>
          <p:cNvSpPr>
            <a:spLocks noGrp="1"/>
          </p:cNvSpPr>
          <p:nvPr>
            <p:ph type="subTitle" idx="1"/>
          </p:nvPr>
        </p:nvSpPr>
        <p:spPr>
          <a:xfrm>
            <a:off x="1777464"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6913821" y="6370429"/>
            <a:ext cx="3500715" cy="309201"/>
          </a:xfrm>
        </p:spPr>
        <p:txBody>
          <a:bodyPr/>
          <a:lstStyle/>
          <a:p>
            <a:fld id="{2D202488-4139-4052-B998-251C9C912739}" type="datetimeFigureOut">
              <a:rPr lang="en-US" noProof="0" smtClean="0"/>
              <a:t>05-Oct-25</a:t>
            </a:fld>
            <a:endParaRPr lang="en-US" noProof="0" dirty="0"/>
          </a:p>
        </p:txBody>
      </p:sp>
      <p:sp>
        <p:nvSpPr>
          <p:cNvPr id="5" name="Footer Placeholder 4"/>
          <p:cNvSpPr>
            <a:spLocks noGrp="1"/>
          </p:cNvSpPr>
          <p:nvPr>
            <p:ph type="ftr" sz="quarter" idx="11"/>
          </p:nvPr>
        </p:nvSpPr>
        <p:spPr>
          <a:xfrm>
            <a:off x="1777464" y="6370430"/>
            <a:ext cx="4973915" cy="309201"/>
          </a:xfrm>
        </p:spPr>
        <p:txBody>
          <a:bodyPr/>
          <a:lstStyle/>
          <a:p>
            <a:r>
              <a:rPr lang="en-US" noProof="0" dirty="0"/>
              <a:t>Add Footer Here</a:t>
            </a:r>
          </a:p>
        </p:txBody>
      </p:sp>
      <p:cxnSp>
        <p:nvCxnSpPr>
          <p:cNvPr id="15" name="Straight Connector 14"/>
          <p:cNvCxnSpPr/>
          <p:nvPr/>
        </p:nvCxnSpPr>
        <p:spPr>
          <a:xfrm>
            <a:off x="1777464"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56400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chor="t"/>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10"/>
          </p:nvPr>
        </p:nvSpPr>
        <p:spPr/>
        <p:txBody>
          <a:bodyPr/>
          <a:lstStyle/>
          <a:p>
            <a:fld id="{2D202488-4139-4052-B998-251C9C912739}" type="datetimeFigureOut">
              <a:rPr lang="en-US" noProof="0" smtClean="0"/>
              <a:t>05-Oct-25</a:t>
            </a:fld>
            <a:endParaRPr lang="en-US" noProof="0" dirty="0"/>
          </a:p>
        </p:txBody>
      </p:sp>
      <p:sp>
        <p:nvSpPr>
          <p:cNvPr id="5" name="Footer Placeholder 4"/>
          <p:cNvSpPr>
            <a:spLocks noGrp="1"/>
          </p:cNvSpPr>
          <p:nvPr>
            <p:ph type="ftr" sz="quarter" idx="11"/>
          </p:nvPr>
        </p:nvSpPr>
        <p:spPr/>
        <p:txBody>
          <a:bodyPr/>
          <a:lstStyle/>
          <a:p>
            <a:r>
              <a:rPr lang="en-US" noProof="0" dirty="0"/>
              <a:t>Add Footer Here</a:t>
            </a:r>
          </a:p>
        </p:txBody>
      </p:sp>
      <p:cxnSp>
        <p:nvCxnSpPr>
          <p:cNvPr id="33" name="Straight Connector 32"/>
          <p:cNvCxnSpPr/>
          <p:nvPr/>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6" name="Title 5">
            <a:extLst>
              <a:ext uri="{FF2B5EF4-FFF2-40B4-BE49-F238E27FC236}">
                <a16:creationId xmlns:a16="http://schemas.microsoft.com/office/drawing/2014/main" id="{C414FF1F-6558-4E39-87DB-276E44F5477C}"/>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356888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887950"/>
          </a:xfrm>
        </p:spPr>
        <p:txBody>
          <a:bodyPr anchor="b">
            <a:normAutofit/>
          </a:bodyPr>
          <a:lstStyle>
            <a:lvl1pPr algn="l">
              <a:defRPr sz="3600"/>
            </a:lvl1pPr>
          </a:lstStyle>
          <a:p>
            <a:r>
              <a:rPr lang="en-US" noProof="0" smtClean="0"/>
              <a:t>Click to edit Master title style</a:t>
            </a:r>
            <a:endParaRPr lang="en-US" noProof="0"/>
          </a:p>
        </p:txBody>
      </p:sp>
      <p:sp>
        <p:nvSpPr>
          <p:cNvPr id="3" name="Text Placeholder 2"/>
          <p:cNvSpPr>
            <a:spLocks noGrp="1"/>
          </p:cNvSpPr>
          <p:nvPr>
            <p:ph type="body" idx="1"/>
          </p:nvPr>
        </p:nvSpPr>
        <p:spPr>
          <a:xfrm>
            <a:off x="1780777"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smtClean="0"/>
              <a:t>Edit Master text styles</a:t>
            </a:r>
          </a:p>
        </p:txBody>
      </p:sp>
      <p:sp>
        <p:nvSpPr>
          <p:cNvPr id="4" name="Date Placeholder 3"/>
          <p:cNvSpPr>
            <a:spLocks noGrp="1"/>
          </p:cNvSpPr>
          <p:nvPr>
            <p:ph type="dt" sz="half" idx="10"/>
          </p:nvPr>
        </p:nvSpPr>
        <p:spPr/>
        <p:txBody>
          <a:bodyPr/>
          <a:lstStyle/>
          <a:p>
            <a:fld id="{2D202488-4139-4052-B998-251C9C912739}" type="datetimeFigureOut">
              <a:rPr lang="en-US" noProof="0" smtClean="0"/>
              <a:t>05-Oct-25</a:t>
            </a:fld>
            <a:endParaRPr lang="en-US" noProof="0" dirty="0"/>
          </a:p>
        </p:txBody>
      </p:sp>
      <p:sp>
        <p:nvSpPr>
          <p:cNvPr id="5" name="Footer Placeholder 4"/>
          <p:cNvSpPr>
            <a:spLocks noGrp="1"/>
          </p:cNvSpPr>
          <p:nvPr>
            <p:ph type="ftr" sz="quarter" idx="11"/>
          </p:nvPr>
        </p:nvSpPr>
        <p:spPr/>
        <p:txBody>
          <a:bodyPr/>
          <a:lstStyle/>
          <a:p>
            <a:r>
              <a:rPr lang="en-US" noProof="0" dirty="0"/>
              <a:t>Add Footer Here</a:t>
            </a:r>
          </a:p>
        </p:txBody>
      </p:sp>
      <p:cxnSp>
        <p:nvCxnSpPr>
          <p:cNvPr id="15" name="Straight Connector 14"/>
          <p:cNvCxnSpPr/>
          <p:nvPr/>
        </p:nvCxnSpPr>
        <p:spPr>
          <a:xfrm>
            <a:off x="1780777"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80136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292239" y="2161853"/>
            <a:ext cx="4645152" cy="3448595"/>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Content Placeholder 3"/>
          <p:cNvSpPr>
            <a:spLocks noGrp="1"/>
          </p:cNvSpPr>
          <p:nvPr>
            <p:ph sz="half" idx="2"/>
          </p:nvPr>
        </p:nvSpPr>
        <p:spPr>
          <a:xfrm>
            <a:off x="6258679" y="2168318"/>
            <a:ext cx="4645152" cy="3441520"/>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Date Placeholder 4"/>
          <p:cNvSpPr>
            <a:spLocks noGrp="1"/>
          </p:cNvSpPr>
          <p:nvPr>
            <p:ph type="dt" sz="half" idx="10"/>
          </p:nvPr>
        </p:nvSpPr>
        <p:spPr/>
        <p:txBody>
          <a:bodyPr/>
          <a:lstStyle/>
          <a:p>
            <a:fld id="{2D202488-4139-4052-B998-251C9C912739}" type="datetimeFigureOut">
              <a:rPr lang="en-US" noProof="0" smtClean="0"/>
              <a:t>05-Oct-25</a:t>
            </a:fld>
            <a:endParaRPr lang="en-US" noProof="0" dirty="0"/>
          </a:p>
        </p:txBody>
      </p:sp>
      <p:sp>
        <p:nvSpPr>
          <p:cNvPr id="6" name="Footer Placeholder 5"/>
          <p:cNvSpPr>
            <a:spLocks noGrp="1"/>
          </p:cNvSpPr>
          <p:nvPr>
            <p:ph type="ftr" sz="quarter" idx="11"/>
          </p:nvPr>
        </p:nvSpPr>
        <p:spPr/>
        <p:txBody>
          <a:bodyPr/>
          <a:lstStyle/>
          <a:p>
            <a:r>
              <a:rPr lang="en-US" noProof="0" dirty="0"/>
              <a:t>Add Footer Here</a:t>
            </a:r>
          </a:p>
        </p:txBody>
      </p:sp>
      <p:cxnSp>
        <p:nvCxnSpPr>
          <p:cNvPr id="9" name="Straight Connector 8">
            <a:extLst>
              <a:ext uri="{FF2B5EF4-FFF2-40B4-BE49-F238E27FC236}">
                <a16:creationId xmlns:a16="http://schemas.microsoft.com/office/drawing/2014/main" id="{4715607D-9DE2-4687-AAF8-EF2427252A90}"/>
              </a:ext>
            </a:extLst>
          </p:cNvPr>
          <p:cNvCxnSpPr/>
          <p:nvPr/>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 name="Title 6">
            <a:extLst>
              <a:ext uri="{FF2B5EF4-FFF2-40B4-BE49-F238E27FC236}">
                <a16:creationId xmlns:a16="http://schemas.microsoft.com/office/drawing/2014/main" id="{2F96D46B-C1B8-46AB-87DF-61A8058B1F42}"/>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277750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287315" y="1950795"/>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4" name="Content Placeholder 3"/>
          <p:cNvSpPr>
            <a:spLocks noGrp="1"/>
          </p:cNvSpPr>
          <p:nvPr>
            <p:ph sz="half" idx="2"/>
          </p:nvPr>
        </p:nvSpPr>
        <p:spPr>
          <a:xfrm>
            <a:off x="1287315" y="2755515"/>
            <a:ext cx="4645152" cy="2644457"/>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p:cNvSpPr>
            <a:spLocks noGrp="1"/>
          </p:cNvSpPr>
          <p:nvPr>
            <p:ph type="body" sz="quarter" idx="3"/>
          </p:nvPr>
        </p:nvSpPr>
        <p:spPr>
          <a:xfrm>
            <a:off x="6252486" y="1954249"/>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6" name="Content Placeholder 5"/>
          <p:cNvSpPr>
            <a:spLocks noGrp="1"/>
          </p:cNvSpPr>
          <p:nvPr>
            <p:ph sz="quarter" idx="4"/>
          </p:nvPr>
        </p:nvSpPr>
        <p:spPr>
          <a:xfrm>
            <a:off x="6252486" y="2752737"/>
            <a:ext cx="4645152" cy="2637371"/>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Date Placeholder 6"/>
          <p:cNvSpPr>
            <a:spLocks noGrp="1"/>
          </p:cNvSpPr>
          <p:nvPr>
            <p:ph type="dt" sz="half" idx="10"/>
          </p:nvPr>
        </p:nvSpPr>
        <p:spPr/>
        <p:txBody>
          <a:bodyPr/>
          <a:lstStyle/>
          <a:p>
            <a:fld id="{2D202488-4139-4052-B998-251C9C912739}" type="datetimeFigureOut">
              <a:rPr lang="en-US" noProof="0" smtClean="0"/>
              <a:t>05-Oct-25</a:t>
            </a:fld>
            <a:endParaRPr lang="en-US" noProof="0" dirty="0"/>
          </a:p>
        </p:txBody>
      </p:sp>
      <p:sp>
        <p:nvSpPr>
          <p:cNvPr id="8" name="Footer Placeholder 7"/>
          <p:cNvSpPr>
            <a:spLocks noGrp="1"/>
          </p:cNvSpPr>
          <p:nvPr>
            <p:ph type="ftr" sz="quarter" idx="11"/>
          </p:nvPr>
        </p:nvSpPr>
        <p:spPr/>
        <p:txBody>
          <a:bodyPr/>
          <a:lstStyle/>
          <a:p>
            <a:r>
              <a:rPr lang="en-US" noProof="0" dirty="0"/>
              <a:t>Add Footer Here</a:t>
            </a:r>
          </a:p>
        </p:txBody>
      </p:sp>
      <p:cxnSp>
        <p:nvCxnSpPr>
          <p:cNvPr id="11" name="Straight Connector 10">
            <a:extLst>
              <a:ext uri="{FF2B5EF4-FFF2-40B4-BE49-F238E27FC236}">
                <a16:creationId xmlns:a16="http://schemas.microsoft.com/office/drawing/2014/main" id="{C384AA55-1960-47F4-BA3C-E97A6F2D0B19}"/>
              </a:ext>
            </a:extLst>
          </p:cNvPr>
          <p:cNvCxnSpPr/>
          <p:nvPr/>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9" name="Title 8">
            <a:extLst>
              <a:ext uri="{FF2B5EF4-FFF2-40B4-BE49-F238E27FC236}">
                <a16:creationId xmlns:a16="http://schemas.microsoft.com/office/drawing/2014/main" id="{09471694-1220-4CFC-A31F-622E5D3DE2D5}"/>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981749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D202488-4139-4052-B998-251C9C912739}" type="datetimeFigureOut">
              <a:rPr lang="en-US" noProof="0" smtClean="0"/>
              <a:t>05-Oct-25</a:t>
            </a:fld>
            <a:endParaRPr lang="en-US" noProof="0" dirty="0"/>
          </a:p>
        </p:txBody>
      </p:sp>
      <p:sp>
        <p:nvSpPr>
          <p:cNvPr id="4" name="Footer Placeholder 3"/>
          <p:cNvSpPr>
            <a:spLocks noGrp="1"/>
          </p:cNvSpPr>
          <p:nvPr>
            <p:ph type="ftr" sz="quarter" idx="11"/>
          </p:nvPr>
        </p:nvSpPr>
        <p:spPr/>
        <p:txBody>
          <a:bodyPr/>
          <a:lstStyle/>
          <a:p>
            <a:r>
              <a:rPr lang="en-US" noProof="0" dirty="0"/>
              <a:t>Add Footer Here</a:t>
            </a:r>
          </a:p>
        </p:txBody>
      </p:sp>
      <p:cxnSp>
        <p:nvCxnSpPr>
          <p:cNvPr id="7" name="Straight Connector 6">
            <a:extLst>
              <a:ext uri="{FF2B5EF4-FFF2-40B4-BE49-F238E27FC236}">
                <a16:creationId xmlns:a16="http://schemas.microsoft.com/office/drawing/2014/main" id="{FFB55B52-B62C-4800-AAC1-B15AF2FE1F45}"/>
              </a:ext>
            </a:extLst>
          </p:cNvPr>
          <p:cNvCxnSpPr/>
          <p:nvPr/>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 name="Title 4">
            <a:extLst>
              <a:ext uri="{FF2B5EF4-FFF2-40B4-BE49-F238E27FC236}">
                <a16:creationId xmlns:a16="http://schemas.microsoft.com/office/drawing/2014/main" id="{3DF0054B-B64C-418E-A1B8-428EE4A1DB50}"/>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453955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Title Only">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D202488-4139-4052-B998-251C9C912739}" type="datetimeFigureOut">
              <a:rPr lang="en-US" noProof="0" smtClean="0"/>
              <a:t>05-Oct-25</a:t>
            </a:fld>
            <a:endParaRPr lang="en-US" noProof="0" dirty="0"/>
          </a:p>
        </p:txBody>
      </p:sp>
      <p:sp>
        <p:nvSpPr>
          <p:cNvPr id="4" name="Footer Placeholder 3"/>
          <p:cNvSpPr>
            <a:spLocks noGrp="1"/>
          </p:cNvSpPr>
          <p:nvPr>
            <p:ph type="ftr" sz="quarter" idx="11"/>
          </p:nvPr>
        </p:nvSpPr>
        <p:spPr/>
        <p:txBody>
          <a:bodyPr/>
          <a:lstStyle/>
          <a:p>
            <a:r>
              <a:rPr lang="en-US" noProof="0" dirty="0"/>
              <a:t>Add Footer Here</a:t>
            </a:r>
          </a:p>
        </p:txBody>
      </p:sp>
      <p:cxnSp>
        <p:nvCxnSpPr>
          <p:cNvPr id="7" name="Straight Connector 6">
            <a:extLst>
              <a:ext uri="{FF2B5EF4-FFF2-40B4-BE49-F238E27FC236}">
                <a16:creationId xmlns:a16="http://schemas.microsoft.com/office/drawing/2014/main" id="{FFB55B52-B62C-4800-AAC1-B15AF2FE1F45}"/>
              </a:ext>
            </a:extLst>
          </p:cNvPr>
          <p:cNvCxnSpPr/>
          <p:nvPr/>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 name="Title 4">
            <a:extLst>
              <a:ext uri="{FF2B5EF4-FFF2-40B4-BE49-F238E27FC236}">
                <a16:creationId xmlns:a16="http://schemas.microsoft.com/office/drawing/2014/main" id="{3DF0054B-B64C-418E-A1B8-428EE4A1DB50}"/>
              </a:ext>
            </a:extLst>
          </p:cNvPr>
          <p:cNvSpPr>
            <a:spLocks noGrp="1"/>
          </p:cNvSpPr>
          <p:nvPr>
            <p:ph type="title"/>
          </p:nvPr>
        </p:nvSpPr>
        <p:spPr/>
        <p:txBody>
          <a:bodyPr/>
          <a:lstStyle/>
          <a:p>
            <a:r>
              <a:rPr lang="en-US" noProof="0" smtClean="0"/>
              <a:t>Click to edit Master title style</a:t>
            </a:r>
            <a:endParaRPr lang="en-US" noProof="0"/>
          </a:p>
        </p:txBody>
      </p:sp>
      <p:sp>
        <p:nvSpPr>
          <p:cNvPr id="6" name="Text Placeholder 5">
            <a:extLst>
              <a:ext uri="{FF2B5EF4-FFF2-40B4-BE49-F238E27FC236}">
                <a16:creationId xmlns:a16="http://schemas.microsoft.com/office/drawing/2014/main" id="{A5A680F6-C147-410B-94DF-19850752D7DF}"/>
              </a:ext>
            </a:extLst>
          </p:cNvPr>
          <p:cNvSpPr>
            <a:spLocks noGrp="1"/>
          </p:cNvSpPr>
          <p:nvPr>
            <p:ph type="body" sz="quarter" idx="12"/>
          </p:nvPr>
        </p:nvSpPr>
        <p:spPr>
          <a:xfrm>
            <a:off x="1694656" y="1865037"/>
            <a:ext cx="8802688" cy="3127927"/>
          </a:xfrm>
        </p:spPr>
        <p:txBody>
          <a:bodyPr anchor="ctr">
            <a:normAutofit/>
          </a:bodyPr>
          <a:lstStyle>
            <a:lvl1pPr marL="0" indent="0" algn="ctr">
              <a:buNone/>
              <a:defRPr sz="6000"/>
            </a:lvl1pPr>
            <a:lvl2pPr marL="457200" indent="0">
              <a:buNone/>
              <a:defRPr/>
            </a:lvl2pPr>
          </a:lstStyle>
          <a:p>
            <a:pPr lvl="0"/>
            <a:r>
              <a:rPr lang="en-US" noProof="0" smtClean="0"/>
              <a:t>Edit Master text styles</a:t>
            </a:r>
          </a:p>
        </p:txBody>
      </p:sp>
    </p:spTree>
    <p:extLst>
      <p:ext uri="{BB962C8B-B14F-4D97-AF65-F5344CB8AC3E}">
        <p14:creationId xmlns:p14="http://schemas.microsoft.com/office/powerpoint/2010/main" val="4010242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202488-4139-4052-B998-251C9C912739}" type="datetimeFigureOut">
              <a:rPr lang="en-US" noProof="0" smtClean="0"/>
              <a:t>05-Oct-25</a:t>
            </a:fld>
            <a:endParaRPr lang="en-US" noProof="0" dirty="0"/>
          </a:p>
        </p:txBody>
      </p:sp>
      <p:sp>
        <p:nvSpPr>
          <p:cNvPr id="3" name="Footer Placeholder 2"/>
          <p:cNvSpPr>
            <a:spLocks noGrp="1"/>
          </p:cNvSpPr>
          <p:nvPr>
            <p:ph type="ftr" sz="quarter" idx="11"/>
          </p:nvPr>
        </p:nvSpPr>
        <p:spPr/>
        <p:txBody>
          <a:bodyPr/>
          <a:lstStyle/>
          <a:p>
            <a:r>
              <a:rPr lang="en-US" noProof="0" dirty="0"/>
              <a:t>Add Footer Here </a:t>
            </a:r>
          </a:p>
        </p:txBody>
      </p:sp>
    </p:spTree>
    <p:extLst>
      <p:ext uri="{BB962C8B-B14F-4D97-AF65-F5344CB8AC3E}">
        <p14:creationId xmlns:p14="http://schemas.microsoft.com/office/powerpoint/2010/main" val="3771245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with Caption">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95246" y="1645522"/>
            <a:ext cx="5807176" cy="3840852"/>
          </a:xfrm>
        </p:spPr>
        <p:txBody>
          <a:bodyPr anchor="ct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Text Placeholder 3"/>
          <p:cNvSpPr>
            <a:spLocks noGrp="1"/>
          </p:cNvSpPr>
          <p:nvPr>
            <p:ph type="body" sz="half" idx="2"/>
          </p:nvPr>
        </p:nvSpPr>
        <p:spPr>
          <a:xfrm>
            <a:off x="1290909" y="1645522"/>
            <a:ext cx="3600000" cy="383672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p:txBody>
          <a:bodyPr/>
          <a:lstStyle/>
          <a:p>
            <a:fld id="{2D202488-4139-4052-B998-251C9C912739}" type="datetimeFigureOut">
              <a:rPr lang="en-US" noProof="0" smtClean="0"/>
              <a:t>05-Oct-25</a:t>
            </a:fld>
            <a:endParaRPr lang="en-US" noProof="0" dirty="0"/>
          </a:p>
        </p:txBody>
      </p:sp>
      <p:sp>
        <p:nvSpPr>
          <p:cNvPr id="6" name="Footer Placeholder 5"/>
          <p:cNvSpPr>
            <a:spLocks noGrp="1"/>
          </p:cNvSpPr>
          <p:nvPr>
            <p:ph type="ftr" sz="quarter" idx="11"/>
          </p:nvPr>
        </p:nvSpPr>
        <p:spPr/>
        <p:txBody>
          <a:bodyPr/>
          <a:lstStyle/>
          <a:p>
            <a:r>
              <a:rPr lang="en-US" noProof="0" dirty="0"/>
              <a:t>Add Footer Here</a:t>
            </a:r>
          </a:p>
        </p:txBody>
      </p:sp>
      <p:cxnSp>
        <p:nvCxnSpPr>
          <p:cNvPr id="9" name="Straight Connector 8">
            <a:extLst>
              <a:ext uri="{FF2B5EF4-FFF2-40B4-BE49-F238E27FC236}">
                <a16:creationId xmlns:a16="http://schemas.microsoft.com/office/drawing/2014/main" id="{6CC09F73-0AD6-4A1E-A331-75A00B808982}"/>
              </a:ext>
            </a:extLst>
          </p:cNvPr>
          <p:cNvCxnSpPr/>
          <p:nvPr/>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 name="Title 6">
            <a:extLst>
              <a:ext uri="{FF2B5EF4-FFF2-40B4-BE49-F238E27FC236}">
                <a16:creationId xmlns:a16="http://schemas.microsoft.com/office/drawing/2014/main" id="{1B74F78C-6D32-47C3-ABB2-6E7092A9C4A3}"/>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3281653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and Gallery ">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0394" y="3128470"/>
            <a:ext cx="3024000" cy="1906565"/>
          </a:xfrm>
        </p:spPr>
        <p:txBody>
          <a:bodyPr anchor="ct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Text Placeholder 3"/>
          <p:cNvSpPr>
            <a:spLocks noGrp="1"/>
          </p:cNvSpPr>
          <p:nvPr>
            <p:ph type="body" sz="half" idx="2"/>
          </p:nvPr>
        </p:nvSpPr>
        <p:spPr>
          <a:xfrm>
            <a:off x="7873638" y="5144980"/>
            <a:ext cx="3036438" cy="80740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p:txBody>
          <a:bodyPr/>
          <a:lstStyle/>
          <a:p>
            <a:fld id="{2D202488-4139-4052-B998-251C9C912739}" type="datetimeFigureOut">
              <a:rPr lang="en-US" noProof="0" smtClean="0"/>
              <a:t>05-Oct-25</a:t>
            </a:fld>
            <a:endParaRPr lang="en-US" noProof="0" dirty="0"/>
          </a:p>
        </p:txBody>
      </p:sp>
      <p:sp>
        <p:nvSpPr>
          <p:cNvPr id="6" name="Footer Placeholder 5"/>
          <p:cNvSpPr>
            <a:spLocks noGrp="1"/>
          </p:cNvSpPr>
          <p:nvPr>
            <p:ph type="ftr" sz="quarter" idx="11"/>
          </p:nvPr>
        </p:nvSpPr>
        <p:spPr/>
        <p:txBody>
          <a:bodyPr/>
          <a:lstStyle/>
          <a:p>
            <a:r>
              <a:rPr lang="en-US" noProof="0" dirty="0"/>
              <a:t>Add Footer Here</a:t>
            </a:r>
          </a:p>
        </p:txBody>
      </p:sp>
      <p:cxnSp>
        <p:nvCxnSpPr>
          <p:cNvPr id="9" name="Straight Connector 8">
            <a:extLst>
              <a:ext uri="{FF2B5EF4-FFF2-40B4-BE49-F238E27FC236}">
                <a16:creationId xmlns:a16="http://schemas.microsoft.com/office/drawing/2014/main" id="{6CC09F73-0AD6-4A1E-A331-75A00B808982}"/>
              </a:ext>
            </a:extLst>
          </p:cNvPr>
          <p:cNvCxnSpPr/>
          <p:nvPr/>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8" name="Content Placeholder 2">
            <a:extLst>
              <a:ext uri="{FF2B5EF4-FFF2-40B4-BE49-F238E27FC236}">
                <a16:creationId xmlns:a16="http://schemas.microsoft.com/office/drawing/2014/main" id="{9DE9A20D-024F-4A17-9B20-526AA4037253}"/>
              </a:ext>
            </a:extLst>
          </p:cNvPr>
          <p:cNvSpPr>
            <a:spLocks noGrp="1"/>
          </p:cNvSpPr>
          <p:nvPr>
            <p:ph idx="12"/>
          </p:nvPr>
        </p:nvSpPr>
        <p:spPr>
          <a:xfrm>
            <a:off x="4602108" y="3128470"/>
            <a:ext cx="3024000" cy="1906565"/>
          </a:xfrm>
        </p:spPr>
        <p:txBody>
          <a:bodyPr anchor="ct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Content Placeholder 2">
            <a:extLst>
              <a:ext uri="{FF2B5EF4-FFF2-40B4-BE49-F238E27FC236}">
                <a16:creationId xmlns:a16="http://schemas.microsoft.com/office/drawing/2014/main" id="{37D8F60F-F9DD-4AAC-BF28-C004CCDF2D69}"/>
              </a:ext>
            </a:extLst>
          </p:cNvPr>
          <p:cNvSpPr>
            <a:spLocks noGrp="1"/>
          </p:cNvSpPr>
          <p:nvPr>
            <p:ph idx="13"/>
          </p:nvPr>
        </p:nvSpPr>
        <p:spPr>
          <a:xfrm>
            <a:off x="7873638" y="3128470"/>
            <a:ext cx="3024000" cy="1906565"/>
          </a:xfrm>
        </p:spPr>
        <p:txBody>
          <a:bodyPr anchor="ct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1" name="Text Placeholder 3">
            <a:extLst>
              <a:ext uri="{FF2B5EF4-FFF2-40B4-BE49-F238E27FC236}">
                <a16:creationId xmlns:a16="http://schemas.microsoft.com/office/drawing/2014/main" id="{8F09FDD8-5B1C-4AAA-8EEC-0A77C9E477D1}"/>
              </a:ext>
            </a:extLst>
          </p:cNvPr>
          <p:cNvSpPr>
            <a:spLocks noGrp="1"/>
          </p:cNvSpPr>
          <p:nvPr>
            <p:ph type="body" sz="half" idx="14"/>
          </p:nvPr>
        </p:nvSpPr>
        <p:spPr>
          <a:xfrm>
            <a:off x="4595889" y="5144979"/>
            <a:ext cx="3036438" cy="80740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12" name="Text Placeholder 3">
            <a:extLst>
              <a:ext uri="{FF2B5EF4-FFF2-40B4-BE49-F238E27FC236}">
                <a16:creationId xmlns:a16="http://schemas.microsoft.com/office/drawing/2014/main" id="{E6DF0B7E-E17E-4875-966D-4DE67F755B71}"/>
              </a:ext>
            </a:extLst>
          </p:cNvPr>
          <p:cNvSpPr>
            <a:spLocks noGrp="1"/>
          </p:cNvSpPr>
          <p:nvPr>
            <p:ph type="body" sz="half" idx="15"/>
          </p:nvPr>
        </p:nvSpPr>
        <p:spPr>
          <a:xfrm>
            <a:off x="1306587" y="5144978"/>
            <a:ext cx="3036438" cy="80740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cxnSp>
        <p:nvCxnSpPr>
          <p:cNvPr id="13" name="Straight Connector 12">
            <a:extLst>
              <a:ext uri="{FF2B5EF4-FFF2-40B4-BE49-F238E27FC236}">
                <a16:creationId xmlns:a16="http://schemas.microsoft.com/office/drawing/2014/main" id="{5685D963-B130-47E9-AFCC-AEBED2B1155B}"/>
              </a:ext>
            </a:extLst>
          </p:cNvPr>
          <p:cNvCxnSpPr>
            <a:cxnSpLocks/>
          </p:cNvCxnSpPr>
          <p:nvPr/>
        </p:nvCxnSpPr>
        <p:spPr>
          <a:xfrm>
            <a:off x="4484077" y="5144978"/>
            <a:ext cx="0" cy="807405"/>
          </a:xfrm>
          <a:prstGeom prst="line">
            <a:avLst/>
          </a:prstGeom>
          <a:ln w="19050">
            <a:solidFill>
              <a:schemeClr val="bg2">
                <a:lumMod val="75000"/>
              </a:schemeClr>
            </a:solidFill>
          </a:ln>
        </p:spPr>
        <p:style>
          <a:lnRef idx="3">
            <a:schemeClr val="accent1"/>
          </a:lnRef>
          <a:fillRef idx="0">
            <a:schemeClr val="accent1"/>
          </a:fillRef>
          <a:effectRef idx="2">
            <a:schemeClr val="accent1"/>
          </a:effectRef>
          <a:fontRef idx="minor">
            <a:schemeClr val="tx1"/>
          </a:fontRef>
        </p:style>
      </p:cxnSp>
      <p:cxnSp>
        <p:nvCxnSpPr>
          <p:cNvPr id="14" name="Straight Connector 13">
            <a:extLst>
              <a:ext uri="{FF2B5EF4-FFF2-40B4-BE49-F238E27FC236}">
                <a16:creationId xmlns:a16="http://schemas.microsoft.com/office/drawing/2014/main" id="{2FA9B6CF-713A-4942-BE35-A61AFCDDFD3D}"/>
              </a:ext>
            </a:extLst>
          </p:cNvPr>
          <p:cNvCxnSpPr>
            <a:cxnSpLocks/>
          </p:cNvCxnSpPr>
          <p:nvPr/>
        </p:nvCxnSpPr>
        <p:spPr>
          <a:xfrm>
            <a:off x="7757747" y="5144978"/>
            <a:ext cx="0" cy="807405"/>
          </a:xfrm>
          <a:prstGeom prst="line">
            <a:avLst/>
          </a:prstGeom>
          <a:ln w="19050">
            <a:solidFill>
              <a:schemeClr val="bg2">
                <a:lumMod val="75000"/>
              </a:schemeClr>
            </a:solidFill>
          </a:ln>
        </p:spPr>
        <p:style>
          <a:lnRef idx="3">
            <a:schemeClr val="accent1"/>
          </a:lnRef>
          <a:fillRef idx="0">
            <a:schemeClr val="accent1"/>
          </a:fillRef>
          <a:effectRef idx="2">
            <a:schemeClr val="accent1"/>
          </a:effectRef>
          <a:fontRef idx="minor">
            <a:schemeClr val="tx1"/>
          </a:fontRef>
        </p:style>
      </p:cxnSp>
      <p:sp>
        <p:nvSpPr>
          <p:cNvPr id="19" name="Text Placeholder 18">
            <a:extLst>
              <a:ext uri="{FF2B5EF4-FFF2-40B4-BE49-F238E27FC236}">
                <a16:creationId xmlns:a16="http://schemas.microsoft.com/office/drawing/2014/main" id="{93809A32-C7A4-4739-994B-BE492F855ACC}"/>
              </a:ext>
            </a:extLst>
          </p:cNvPr>
          <p:cNvSpPr>
            <a:spLocks noGrp="1"/>
          </p:cNvSpPr>
          <p:nvPr>
            <p:ph type="body" sz="quarter" idx="16"/>
          </p:nvPr>
        </p:nvSpPr>
        <p:spPr>
          <a:xfrm>
            <a:off x="1290908" y="1617663"/>
            <a:ext cx="9618391" cy="1336675"/>
          </a:xfrm>
        </p:spPr>
        <p:txBody>
          <a:bodyPr>
            <a:no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Title 6">
            <a:extLst>
              <a:ext uri="{FF2B5EF4-FFF2-40B4-BE49-F238E27FC236}">
                <a16:creationId xmlns:a16="http://schemas.microsoft.com/office/drawing/2014/main" id="{2C1ABD52-D5FE-4FC2-8449-5DA0E52853E1}"/>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2242703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noProof="0" smtClean="0"/>
              <a:t>Click to edit Master title style</a:t>
            </a:r>
            <a:endParaRPr lang="en-US" noProof="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7236069" y="6332578"/>
            <a:ext cx="4315852" cy="320123"/>
          </a:xfrm>
        </p:spPr>
        <p:txBody>
          <a:bodyPr/>
          <a:lstStyle>
            <a:lvl1pPr algn="r">
              <a:defRPr/>
            </a:lvl1pPr>
          </a:lstStyle>
          <a:p>
            <a:fld id="{2D202488-4139-4052-B998-251C9C912739}" type="datetimeFigureOut">
              <a:rPr lang="en-US" noProof="0" smtClean="0"/>
              <a:pPr/>
              <a:t>05-Oct-25</a:t>
            </a:fld>
            <a:endParaRPr lang="en-US" noProof="0" dirty="0"/>
          </a:p>
        </p:txBody>
      </p:sp>
      <p:sp>
        <p:nvSpPr>
          <p:cNvPr id="6" name="Footer Placeholder 5"/>
          <p:cNvSpPr>
            <a:spLocks noGrp="1"/>
          </p:cNvSpPr>
          <p:nvPr>
            <p:ph type="ftr" sz="quarter" idx="11"/>
          </p:nvPr>
        </p:nvSpPr>
        <p:spPr>
          <a:xfrm>
            <a:off x="1447382" y="6332578"/>
            <a:ext cx="5541004" cy="320931"/>
          </a:xfrm>
        </p:spPr>
        <p:txBody>
          <a:bodyPr/>
          <a:lstStyle/>
          <a:p>
            <a:r>
              <a:rPr lang="en-US" noProof="0" dirty="0"/>
              <a:t>Add Footer Here</a:t>
            </a:r>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81589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3"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cstate="screen">
            <a:extLst>
              <a:ext uri="{BEBA8EAE-BF5A-486C-A8C5-ECC9F3942E4B}">
                <a14:imgProps xmlns:a14="http://schemas.microsoft.com/office/drawing/2010/main">
                  <a14:imgLayer r:embed="rId15">
                    <a14:imgEffect>
                      <a14:brightnessContrast contrast="40000"/>
                    </a14:imgEffect>
                  </a14:imgLayer>
                </a14:imgProps>
              </a:ext>
              <a:ext uri="{28A0092B-C50C-407E-A947-70E740481C1C}">
                <a14:useLocalDpi xmlns:a14="http://schemas.microsoft.com/office/drawing/2010/main"/>
              </a:ext>
            </a:extLst>
          </a:blip>
          <a:srcRect b="-1562"/>
          <a:stretch/>
        </p:blipFill>
        <p:spPr bwMode="black">
          <a:xfrm>
            <a:off x="0" y="6126480"/>
            <a:ext cx="12192000" cy="742950"/>
          </a:xfrm>
          <a:prstGeom prst="rect">
            <a:avLst/>
          </a:prstGeom>
        </p:spPr>
      </p:pic>
      <p:sp>
        <p:nvSpPr>
          <p:cNvPr id="2" name="Title Placeholder 1"/>
          <p:cNvSpPr>
            <a:spLocks noGrp="1"/>
          </p:cNvSpPr>
          <p:nvPr>
            <p:ph type="title"/>
          </p:nvPr>
        </p:nvSpPr>
        <p:spPr>
          <a:xfrm>
            <a:off x="1294363" y="804519"/>
            <a:ext cx="9603275" cy="1049235"/>
          </a:xfrm>
          <a:prstGeom prst="rect">
            <a:avLst/>
          </a:prstGeom>
        </p:spPr>
        <p:txBody>
          <a:bodyPr vert="horz" lIns="91440" tIns="45720" rIns="91440" bIns="45720" rtlCol="0" anchor="t">
            <a:norm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1294363" y="2015732"/>
            <a:ext cx="9603275" cy="3450613"/>
          </a:xfrm>
          <a:prstGeom prst="rect">
            <a:avLst/>
          </a:prstGeom>
        </p:spPr>
        <p:txBody>
          <a:bodyPr vert="horz" lIns="91440" tIns="45720" rIns="91440" bIns="45720" rtlCol="0">
            <a:norm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2"/>
          </p:nvPr>
        </p:nvSpPr>
        <p:spPr>
          <a:xfrm>
            <a:off x="7396923" y="6340793"/>
            <a:ext cx="3500715" cy="309201"/>
          </a:xfrm>
          <a:prstGeom prst="rect">
            <a:avLst/>
          </a:prstGeom>
        </p:spPr>
        <p:txBody>
          <a:bodyPr vert="horz" lIns="91440" tIns="45720" rIns="91440" bIns="45720" rtlCol="0" anchor="ctr"/>
          <a:lstStyle>
            <a:lvl1pPr algn="r">
              <a:defRPr sz="1000">
                <a:solidFill>
                  <a:schemeClr val="bg1"/>
                </a:solidFill>
              </a:defRPr>
            </a:lvl1pPr>
          </a:lstStyle>
          <a:p>
            <a:fld id="{2D202488-4139-4052-B998-251C9C912739}" type="datetimeFigureOut">
              <a:rPr lang="en-US" noProof="0" smtClean="0"/>
              <a:pPr/>
              <a:t>05-Oct-25</a:t>
            </a:fld>
            <a:endParaRPr lang="en-US" noProof="0" dirty="0"/>
          </a:p>
        </p:txBody>
      </p:sp>
      <p:sp>
        <p:nvSpPr>
          <p:cNvPr id="5" name="Footer Placeholder 4"/>
          <p:cNvSpPr>
            <a:spLocks noGrp="1"/>
          </p:cNvSpPr>
          <p:nvPr>
            <p:ph type="ftr" sz="quarter" idx="3"/>
          </p:nvPr>
        </p:nvSpPr>
        <p:spPr>
          <a:xfrm>
            <a:off x="1294364" y="6339730"/>
            <a:ext cx="5938836" cy="309201"/>
          </a:xfrm>
          <a:prstGeom prst="rect">
            <a:avLst/>
          </a:prstGeom>
        </p:spPr>
        <p:txBody>
          <a:bodyPr vert="horz" lIns="91440" tIns="45720" rIns="91440" bIns="45720" rtlCol="0" anchor="ctr"/>
          <a:lstStyle>
            <a:lvl1pPr algn="l">
              <a:defRPr sz="1000">
                <a:solidFill>
                  <a:schemeClr val="bg1"/>
                </a:solidFill>
              </a:defRPr>
            </a:lvl1pPr>
          </a:lstStyle>
          <a:p>
            <a:r>
              <a:rPr lang="en-US" noProof="0" dirty="0"/>
              <a:t>Add Footer Here</a:t>
            </a:r>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75870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7" r:id="rId7"/>
    <p:sldLayoutId id="2147483691" r:id="rId8"/>
    <p:sldLayoutId id="2147483692" r:id="rId9"/>
    <p:sldLayoutId id="2147483696" r:id="rId10"/>
    <p:sldLayoutId id="214748369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0DCA56C-7A25-4BD4-AA72-5256E68BE4CB}"/>
              </a:ext>
            </a:extLst>
          </p:cNvPr>
          <p:cNvSpPr>
            <a:spLocks noGrp="1"/>
          </p:cNvSpPr>
          <p:nvPr>
            <p:ph type="ctrTitle"/>
          </p:nvPr>
        </p:nvSpPr>
        <p:spPr>
          <a:xfrm>
            <a:off x="326571" y="365759"/>
            <a:ext cx="12997543" cy="600529"/>
          </a:xfrm>
        </p:spPr>
        <p:txBody>
          <a:bodyPr>
            <a:normAutofit/>
          </a:bodyPr>
          <a:lstStyle/>
          <a:p>
            <a:r>
              <a:rPr lang="en-US" sz="3600" dirty="0" smtClean="0">
                <a:solidFill>
                  <a:srgbClr val="002060"/>
                </a:solidFill>
                <a:latin typeface="Times New Roman" panose="02020603050405020304" pitchFamily="18" charset="0"/>
                <a:cs typeface="Times New Roman" panose="02020603050405020304" pitchFamily="18" charset="0"/>
              </a:rPr>
              <a:t>International Islamic University Chittagong</a:t>
            </a:r>
            <a:endParaRPr lang="en-US" sz="3600" dirty="0">
              <a:solidFill>
                <a:srgbClr val="002060"/>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7744691" y="3976256"/>
            <a:ext cx="4273138" cy="1200329"/>
          </a:xfrm>
          <a:prstGeom prst="rect">
            <a:avLst/>
          </a:prstGeom>
          <a:noFill/>
        </p:spPr>
        <p:txBody>
          <a:bodyPr wrap="square" rtlCol="0">
            <a:spAutoFit/>
          </a:bodyPr>
          <a:lstStyle/>
          <a:p>
            <a:r>
              <a:rPr lang="en-US" sz="2400" dirty="0" smtClean="0">
                <a:solidFill>
                  <a:schemeClr val="tx1">
                    <a:lumMod val="95000"/>
                    <a:lumOff val="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Abu Raihan Anchari Miskat</a:t>
            </a:r>
          </a:p>
          <a:p>
            <a:r>
              <a:rPr lang="en-US" sz="2400" dirty="0" smtClean="0">
                <a:solidFill>
                  <a:schemeClr val="tx1">
                    <a:lumMod val="95000"/>
                    <a:lumOff val="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Adjunct Faculty</a:t>
            </a:r>
          </a:p>
          <a:p>
            <a:r>
              <a:rPr lang="en-US" sz="2400" dirty="0" smtClean="0">
                <a:solidFill>
                  <a:schemeClr val="tx1">
                    <a:lumMod val="95000"/>
                    <a:lumOff val="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Dept. of CCE, IIUC</a:t>
            </a:r>
            <a:endParaRPr lang="en-US" sz="2400" dirty="0">
              <a:solidFill>
                <a:schemeClr val="tx1">
                  <a:lumMod val="95000"/>
                  <a:lumOff val="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3" name="TextBox 12"/>
          <p:cNvSpPr txBox="1"/>
          <p:nvPr/>
        </p:nvSpPr>
        <p:spPr>
          <a:xfrm>
            <a:off x="1953887" y="1270347"/>
            <a:ext cx="8769531" cy="523220"/>
          </a:xfrm>
          <a:prstGeom prst="rect">
            <a:avLst/>
          </a:prstGeom>
          <a:noFill/>
        </p:spPr>
        <p:txBody>
          <a:bodyPr wrap="square" rtlCol="0">
            <a:spAutoFit/>
          </a:bodyPr>
          <a:lstStyle/>
          <a:p>
            <a:r>
              <a:rPr lang="en-US" sz="2800" dirty="0" smtClean="0">
                <a:solidFill>
                  <a:srgbClr val="002060"/>
                </a:solidFill>
                <a:latin typeface="Times New Roman" panose="02020603050405020304" pitchFamily="18" charset="0"/>
                <a:cs typeface="Times New Roman" panose="02020603050405020304" pitchFamily="18" charset="0"/>
              </a:rPr>
              <a:t>Department of Computer and Communication Engineering</a:t>
            </a:r>
            <a:endParaRPr lang="en-US" sz="2800" dirty="0">
              <a:solidFill>
                <a:srgbClr val="00206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1953887" y="2293450"/>
            <a:ext cx="8769531" cy="954107"/>
          </a:xfrm>
          <a:prstGeom prst="rect">
            <a:avLst/>
          </a:prstGeom>
          <a:noFill/>
        </p:spPr>
        <p:txBody>
          <a:bodyPr wrap="square" rtlCol="0">
            <a:spAutoFit/>
          </a:bodyPr>
          <a:lstStyle/>
          <a:p>
            <a:r>
              <a:rPr lang="en-US" sz="2800" dirty="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Course Code: CCE-3507</a:t>
            </a:r>
          </a:p>
          <a:p>
            <a:r>
              <a:rPr lang="en-US" sz="2800" dirty="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Course Title: System Analysis, Design and Development</a:t>
            </a:r>
            <a:endParaRPr lang="en-US" sz="2800"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421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94363" y="1516968"/>
            <a:ext cx="9603275" cy="3450613"/>
          </a:xfrm>
        </p:spPr>
        <p:txBody>
          <a:bodyPr>
            <a:normAutofit fontScale="92500" lnSpcReduction="10000"/>
          </a:bodyPr>
          <a:lstStyle/>
          <a:p>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feasibility study is an assessment of a project's practicality to determine if it's likely to succeed before significant resources are invested.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objectively evaluates a project's potential by examining its goals, the required resources, financial aspects, and potential challenges to identify strengths, weaknesses, opportunities, and risks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 feasibility report </a:t>
            </a:r>
            <a:r>
              <a:rPr lang="en-US" dirty="0">
                <a:latin typeface="Times New Roman" panose="02020603050405020304" pitchFamily="18" charset="0"/>
                <a:cs typeface="Times New Roman" panose="02020603050405020304" pitchFamily="18" charset="0"/>
              </a:rPr>
              <a:t>is a document that assesses the viability and practicality of a proposed project, idea, or solution to determine if it is worth pursuing. It analyzes various factors like technical, financial, market, operational, and legal aspects, identifying challenges, costs, and benefits.</a:t>
            </a:r>
          </a:p>
        </p:txBody>
      </p:sp>
      <p:sp>
        <p:nvSpPr>
          <p:cNvPr id="3" name="Title 2"/>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Feasibility study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5149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94363" y="1516968"/>
            <a:ext cx="9603275" cy="4648305"/>
          </a:xfrm>
        </p:spPr>
        <p:txBody>
          <a:bodyPr>
            <a:normAutofit/>
          </a:bodyPr>
          <a:lstStyle/>
          <a:p>
            <a:r>
              <a:rPr lang="en-US" b="1" dirty="0">
                <a:latin typeface="Times New Roman" panose="02020603050405020304" pitchFamily="18" charset="0"/>
                <a:cs typeface="Times New Roman" panose="02020603050405020304" pitchFamily="18" charset="0"/>
              </a:rPr>
              <a:t>Technical </a:t>
            </a:r>
            <a:r>
              <a:rPr lang="en-US" b="1" dirty="0" smtClean="0">
                <a:latin typeface="Times New Roman" panose="02020603050405020304" pitchFamily="18" charset="0"/>
                <a:cs typeface="Times New Roman" panose="02020603050405020304" pitchFamily="18" charset="0"/>
              </a:rPr>
              <a:t>feasibility: </a:t>
            </a:r>
            <a:r>
              <a:rPr lang="en-US" dirty="0" smtClean="0">
                <a:latin typeface="Times New Roman" panose="02020603050405020304" pitchFamily="18" charset="0"/>
                <a:cs typeface="Times New Roman" panose="02020603050405020304" pitchFamily="18" charset="0"/>
              </a:rPr>
              <a:t> It </a:t>
            </a:r>
            <a:r>
              <a:rPr lang="en-US" dirty="0">
                <a:latin typeface="Times New Roman" panose="02020603050405020304" pitchFamily="18" charset="0"/>
                <a:cs typeface="Times New Roman" panose="02020603050405020304" pitchFamily="18" charset="0"/>
              </a:rPr>
              <a:t>is focused on gaining an understanding of the present technical resources of the </a:t>
            </a:r>
            <a:r>
              <a:rPr lang="en-US" dirty="0" smtClean="0">
                <a:latin typeface="Times New Roman" panose="02020603050405020304" pitchFamily="18" charset="0"/>
                <a:cs typeface="Times New Roman" panose="02020603050405020304" pitchFamily="18" charset="0"/>
              </a:rPr>
              <a:t>organization </a:t>
            </a:r>
            <a:r>
              <a:rPr lang="en-US" dirty="0">
                <a:latin typeface="Times New Roman" panose="02020603050405020304" pitchFamily="18" charset="0"/>
                <a:cs typeface="Times New Roman" panose="02020603050405020304" pitchFamily="18" charset="0"/>
              </a:rPr>
              <a:t>and their </a:t>
            </a:r>
            <a:r>
              <a:rPr lang="en-US" dirty="0" smtClean="0">
                <a:latin typeface="Times New Roman" panose="02020603050405020304" pitchFamily="18" charset="0"/>
                <a:cs typeface="Times New Roman" panose="02020603050405020304" pitchFamily="18" charset="0"/>
              </a:rPr>
              <a:t>applicability. It </a:t>
            </a:r>
            <a:r>
              <a:rPr lang="en-US" dirty="0">
                <a:latin typeface="Times New Roman" panose="02020603050405020304" pitchFamily="18" charset="0"/>
                <a:cs typeface="Times New Roman" panose="02020603050405020304" pitchFamily="18" charset="0"/>
              </a:rPr>
              <a:t>is an evaluation of the hardware and software and how it </a:t>
            </a:r>
            <a:r>
              <a:rPr lang="en-US" dirty="0" smtClean="0">
                <a:latin typeface="Times New Roman" panose="02020603050405020304" pitchFamily="18" charset="0"/>
                <a:cs typeface="Times New Roman" panose="02020603050405020304" pitchFamily="18" charset="0"/>
              </a:rPr>
              <a:t>meets the need of the proposed system. </a:t>
            </a:r>
          </a:p>
          <a:p>
            <a:r>
              <a:rPr lang="en-US" b="1" dirty="0" smtClean="0">
                <a:latin typeface="Times New Roman" panose="02020603050405020304" pitchFamily="18" charset="0"/>
                <a:cs typeface="Times New Roman" panose="02020603050405020304" pitchFamily="18" charset="0"/>
              </a:rPr>
              <a:t>Economic feasibility:  </a:t>
            </a:r>
            <a:r>
              <a:rPr lang="en-US" dirty="0" smtClean="0">
                <a:latin typeface="Times New Roman" panose="02020603050405020304" pitchFamily="18" charset="0"/>
                <a:cs typeface="Times New Roman" panose="02020603050405020304" pitchFamily="18" charset="0"/>
              </a:rPr>
              <a:t>The purpose of it is to determine the positive economic benefits to the organization that the proposed system will provide. It includes quantification and identification of all the benefits expected. This assessment typically involves a cost/ benefits analysis. Economic feasibility is also called cost-benefit analysis. </a:t>
            </a:r>
          </a:p>
          <a:p>
            <a:r>
              <a:rPr lang="en-US" b="1" dirty="0" smtClean="0">
                <a:latin typeface="Times New Roman" panose="02020603050405020304" pitchFamily="18" charset="0"/>
                <a:cs typeface="Times New Roman" panose="02020603050405020304" pitchFamily="18" charset="0"/>
              </a:rPr>
              <a:t>Operational Feasibility: </a:t>
            </a:r>
            <a:r>
              <a:rPr lang="en-US" dirty="0" smtClean="0">
                <a:latin typeface="Times New Roman" panose="02020603050405020304" pitchFamily="18" charset="0"/>
                <a:cs typeface="Times New Roman" panose="02020603050405020304" pitchFamily="18" charset="0"/>
              </a:rPr>
              <a:t>It refers </a:t>
            </a:r>
            <a:r>
              <a:rPr lang="en-US" dirty="0">
                <a:latin typeface="Times New Roman" panose="02020603050405020304" pitchFamily="18" charset="0"/>
                <a:cs typeface="Times New Roman" panose="02020603050405020304" pitchFamily="18" charset="0"/>
              </a:rPr>
              <a:t>to the measure of solving problems with the help of a new proposed system. It helps in taking advantage of the opportunities and fulfills the requirements as identified during the development of the project. </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More: </a:t>
            </a:r>
            <a:r>
              <a:rPr lang="en-US" dirty="0">
                <a:latin typeface="Times New Roman" panose="02020603050405020304" pitchFamily="18" charset="0"/>
                <a:cs typeface="Times New Roman" panose="02020603050405020304" pitchFamily="18" charset="0"/>
              </a:rPr>
              <a:t>Schedule feasibility </a:t>
            </a:r>
            <a:r>
              <a:rPr lang="en-US" dirty="0" smtClean="0">
                <a:latin typeface="Times New Roman" panose="02020603050405020304" pitchFamily="18" charset="0"/>
                <a:cs typeface="Times New Roman" panose="02020603050405020304" pitchFamily="18" charset="0"/>
              </a:rPr>
              <a:t>, Political feasibility, Legal Feasibility</a:t>
            </a:r>
            <a:endParaRPr lang="en-US"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Types of Feasibility study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7592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94363" y="1516967"/>
            <a:ext cx="9603275" cy="4800705"/>
          </a:xfrm>
        </p:spPr>
        <p:txBody>
          <a:bodyPr>
            <a:normAutofit/>
          </a:bodyPr>
          <a:lstStyle/>
          <a:p>
            <a:pPr marL="457200" indent="-457200">
              <a:buAutoNum type="arabicParenBoth"/>
            </a:pPr>
            <a:r>
              <a:rPr lang="en-US" b="1" dirty="0" smtClean="0">
                <a:latin typeface="Times New Roman" panose="02020603050405020304" pitchFamily="18" charset="0"/>
                <a:cs typeface="Times New Roman" panose="02020603050405020304" pitchFamily="18" charset="0"/>
              </a:rPr>
              <a:t>Development </a:t>
            </a:r>
            <a:r>
              <a:rPr lang="en-US" b="1" dirty="0">
                <a:latin typeface="Times New Roman" panose="02020603050405020304" pitchFamily="18" charset="0"/>
                <a:cs typeface="Times New Roman" panose="02020603050405020304" pitchFamily="18" charset="0"/>
              </a:rPr>
              <a:t>costs: </a:t>
            </a:r>
            <a:r>
              <a:rPr lang="en-US" dirty="0">
                <a:latin typeface="Times New Roman" panose="02020603050405020304" pitchFamily="18" charset="0"/>
                <a:cs typeface="Times New Roman" panose="02020603050405020304" pitchFamily="18" charset="0"/>
              </a:rPr>
              <a:t>Development costs are those tangible expenses that are incurred during the creation of the </a:t>
            </a:r>
            <a:r>
              <a:rPr lang="en-US" dirty="0" smtClean="0">
                <a:latin typeface="Times New Roman" panose="02020603050405020304" pitchFamily="18" charset="0"/>
                <a:cs typeface="Times New Roman" panose="02020603050405020304" pitchFamily="18" charset="0"/>
              </a:rPr>
              <a:t>system</a:t>
            </a:r>
            <a:r>
              <a:rPr lang="en-US" dirty="0">
                <a:latin typeface="Times New Roman" panose="02020603050405020304" pitchFamily="18" charset="0"/>
                <a:cs typeface="Times New Roman" panose="02020603050405020304" pitchFamily="18" charset="0"/>
              </a:rPr>
              <a:t>, such as salaries for the project team. </a:t>
            </a:r>
            <a:endParaRPr lang="en-US" dirty="0" smtClean="0">
              <a:latin typeface="Times New Roman" panose="02020603050405020304" pitchFamily="18" charset="0"/>
              <a:cs typeface="Times New Roman" panose="02020603050405020304" pitchFamily="18" charset="0"/>
            </a:endParaRPr>
          </a:p>
          <a:p>
            <a:pPr marL="457200" indent="-457200">
              <a:buAutoNum type="arabicParenBoth"/>
            </a:pPr>
            <a:r>
              <a:rPr lang="en-US" b="1" dirty="0" smtClean="0">
                <a:latin typeface="Times New Roman" panose="02020603050405020304" pitchFamily="18" charset="0"/>
                <a:cs typeface="Times New Roman" panose="02020603050405020304" pitchFamily="18" charset="0"/>
              </a:rPr>
              <a:t>Operational costs</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Operational costs are those tangible costs that are required to operate the system, such as the </a:t>
            </a:r>
            <a:r>
              <a:rPr lang="en-US" dirty="0" smtClean="0">
                <a:latin typeface="Times New Roman" panose="02020603050405020304" pitchFamily="18" charset="0"/>
                <a:cs typeface="Times New Roman" panose="02020603050405020304" pitchFamily="18" charset="0"/>
              </a:rPr>
              <a:t>software </a:t>
            </a:r>
            <a:r>
              <a:rPr lang="en-US" dirty="0">
                <a:latin typeface="Times New Roman" panose="02020603050405020304" pitchFamily="18" charset="0"/>
                <a:cs typeface="Times New Roman" panose="02020603050405020304" pitchFamily="18" charset="0"/>
              </a:rPr>
              <a:t>licensing fees.</a:t>
            </a:r>
            <a:endParaRPr lang="en-US" dirty="0" smtClean="0">
              <a:latin typeface="Times New Roman" panose="02020603050405020304" pitchFamily="18" charset="0"/>
              <a:cs typeface="Times New Roman" panose="02020603050405020304" pitchFamily="18" charset="0"/>
            </a:endParaRPr>
          </a:p>
          <a:p>
            <a:pPr marL="457200" indent="-457200">
              <a:buAutoNum type="arabicParenBoth"/>
            </a:pPr>
            <a:r>
              <a:rPr lang="en-US" b="1" dirty="0" smtClean="0">
                <a:latin typeface="Times New Roman" panose="02020603050405020304" pitchFamily="18" charset="0"/>
                <a:cs typeface="Times New Roman" panose="02020603050405020304" pitchFamily="18" charset="0"/>
              </a:rPr>
              <a:t>Tangible </a:t>
            </a:r>
            <a:r>
              <a:rPr lang="en-US" b="1" dirty="0">
                <a:latin typeface="Times New Roman" panose="02020603050405020304" pitchFamily="18" charset="0"/>
                <a:cs typeface="Times New Roman" panose="02020603050405020304" pitchFamily="18" charset="0"/>
              </a:rPr>
              <a:t>benefits: </a:t>
            </a:r>
            <a:r>
              <a:rPr lang="en-US" dirty="0">
                <a:latin typeface="Times New Roman" panose="02020603050405020304" pitchFamily="18" charset="0"/>
                <a:cs typeface="Times New Roman" panose="02020603050405020304" pitchFamily="18" charset="0"/>
              </a:rPr>
              <a:t>include revenue that the system enables the organization to collect, such as </a:t>
            </a:r>
            <a:r>
              <a:rPr lang="en-US" dirty="0" smtClean="0">
                <a:latin typeface="Times New Roman" panose="02020603050405020304" pitchFamily="18" charset="0"/>
                <a:cs typeface="Times New Roman" panose="02020603050405020304" pitchFamily="18" charset="0"/>
              </a:rPr>
              <a:t>increased sales, reduction of costs, etc. </a:t>
            </a:r>
          </a:p>
          <a:p>
            <a:pPr marL="457200" indent="-457200">
              <a:buAutoNum type="arabicParenBoth"/>
            </a:pPr>
            <a:r>
              <a:rPr lang="en-US" b="1" dirty="0" smtClean="0">
                <a:latin typeface="Times New Roman" panose="02020603050405020304" pitchFamily="18" charset="0"/>
                <a:cs typeface="Times New Roman" panose="02020603050405020304" pitchFamily="18" charset="0"/>
              </a:rPr>
              <a:t>Intangibles</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Intangible costs and benefits are more difficult to incorporate into the economic feasibility </a:t>
            </a:r>
            <a:r>
              <a:rPr lang="en-US" dirty="0" smtClean="0">
                <a:latin typeface="Times New Roman" panose="02020603050405020304" pitchFamily="18" charset="0"/>
                <a:cs typeface="Times New Roman" panose="02020603050405020304" pitchFamily="18" charset="0"/>
              </a:rPr>
              <a:t>analysis </a:t>
            </a:r>
            <a:r>
              <a:rPr lang="en-US" dirty="0">
                <a:latin typeface="Times New Roman" panose="02020603050405020304" pitchFamily="18" charset="0"/>
                <a:cs typeface="Times New Roman" panose="02020603050405020304" pitchFamily="18" charset="0"/>
              </a:rPr>
              <a:t>because they are based on intuition and belief rather than on “hard </a:t>
            </a:r>
            <a:r>
              <a:rPr lang="en-US" dirty="0" smtClean="0">
                <a:latin typeface="Times New Roman" panose="02020603050405020304" pitchFamily="18" charset="0"/>
                <a:cs typeface="Times New Roman" panose="02020603050405020304" pitchFamily="18" charset="0"/>
              </a:rPr>
              <a:t>numbers”.</a:t>
            </a:r>
            <a:endParaRPr lang="en-US"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costs and benefits</a:t>
            </a:r>
          </a:p>
        </p:txBody>
      </p:sp>
    </p:spTree>
    <p:extLst>
      <p:ext uri="{BB962C8B-B14F-4D97-AF65-F5344CB8AC3E}">
        <p14:creationId xmlns:p14="http://schemas.microsoft.com/office/powerpoint/2010/main" val="3525292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94363" y="1516968"/>
            <a:ext cx="9603275" cy="3450613"/>
          </a:xfrm>
        </p:spPr>
        <p:txBody>
          <a:bodyPr numCol="2">
            <a:normAutofit/>
          </a:bodyPr>
          <a:lstStyle/>
          <a:p>
            <a:pPr marL="0" indent="0">
              <a:buNone/>
            </a:pPr>
            <a:r>
              <a:rPr lang="en-US" b="1" dirty="0" smtClean="0">
                <a:latin typeface="Times New Roman" panose="02020603050405020304" pitchFamily="18" charset="0"/>
                <a:cs typeface="Times New Roman" panose="02020603050405020304" pitchFamily="18" charset="0"/>
              </a:rPr>
              <a:t>One-Time </a:t>
            </a:r>
            <a:r>
              <a:rPr lang="en-US" b="1" dirty="0">
                <a:latin typeface="Times New Roman" panose="02020603050405020304" pitchFamily="18" charset="0"/>
                <a:cs typeface="Times New Roman" panose="02020603050405020304" pitchFamily="18" charset="0"/>
              </a:rPr>
              <a:t>Costs: </a:t>
            </a:r>
            <a:r>
              <a:rPr lang="en-US" dirty="0" smtClean="0">
                <a:latin typeface="Times New Roman" panose="02020603050405020304" pitchFamily="18" charset="0"/>
                <a:cs typeface="Times New Roman" panose="02020603050405020304" pitchFamily="18" charset="0"/>
              </a:rPr>
              <a:t>Associated </a:t>
            </a:r>
            <a:r>
              <a:rPr lang="en-US" dirty="0">
                <a:latin typeface="Times New Roman" panose="02020603050405020304" pitchFamily="18" charset="0"/>
                <a:cs typeface="Times New Roman" panose="02020603050405020304" pitchFamily="18" charset="0"/>
              </a:rPr>
              <a:t>with project start-up, initiation and development </a:t>
            </a:r>
            <a:endParaRPr lang="en-US" dirty="0" smtClean="0">
              <a:latin typeface="Times New Roman" panose="02020603050405020304" pitchFamily="18" charset="0"/>
              <a:cs typeface="Times New Roman" panose="02020603050405020304" pitchFamily="18" charset="0"/>
            </a:endParaRPr>
          </a:p>
          <a:p>
            <a:pPr marL="457200" lvl="1" indent="0">
              <a:buNone/>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System development </a:t>
            </a:r>
            <a:endParaRPr lang="en-US" dirty="0" smtClean="0">
              <a:latin typeface="Times New Roman" panose="02020603050405020304" pitchFamily="18" charset="0"/>
              <a:cs typeface="Times New Roman" panose="02020603050405020304" pitchFamily="18" charset="0"/>
            </a:endParaRPr>
          </a:p>
          <a:p>
            <a:pPr marL="457200" lvl="1" indent="0">
              <a:buNone/>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New hardware and software purchases </a:t>
            </a:r>
            <a:endParaRPr lang="en-US" dirty="0" smtClean="0">
              <a:latin typeface="Times New Roman" panose="02020603050405020304" pitchFamily="18" charset="0"/>
              <a:cs typeface="Times New Roman" panose="02020603050405020304" pitchFamily="18" charset="0"/>
            </a:endParaRPr>
          </a:p>
          <a:p>
            <a:pPr marL="457200" lvl="1" indent="0">
              <a:buNone/>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User training </a:t>
            </a:r>
            <a:endParaRPr lang="en-US" dirty="0" smtClean="0">
              <a:latin typeface="Times New Roman" panose="02020603050405020304" pitchFamily="18" charset="0"/>
              <a:cs typeface="Times New Roman" panose="02020603050405020304" pitchFamily="18" charset="0"/>
            </a:endParaRPr>
          </a:p>
          <a:p>
            <a:pPr marL="457200" lvl="1" indent="0">
              <a:buNone/>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Site preparation </a:t>
            </a:r>
            <a:endParaRPr lang="en-US" dirty="0" smtClean="0">
              <a:latin typeface="Times New Roman" panose="02020603050405020304" pitchFamily="18" charset="0"/>
              <a:cs typeface="Times New Roman" panose="02020603050405020304" pitchFamily="18" charset="0"/>
            </a:endParaRPr>
          </a:p>
          <a:p>
            <a:pPr marL="457200" lvl="1" indent="0">
              <a:buNone/>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Data or system conversion </a:t>
            </a:r>
            <a:endParaRPr lang="en-US" dirty="0" smtClean="0">
              <a:latin typeface="Times New Roman" panose="02020603050405020304" pitchFamily="18" charset="0"/>
              <a:cs typeface="Times New Roman" panose="02020603050405020304" pitchFamily="18" charset="0"/>
            </a:endParaRPr>
          </a:p>
          <a:p>
            <a:pPr marL="457200" lvl="1" indent="0">
              <a:buNone/>
            </a:pP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Recurring </a:t>
            </a:r>
            <a:r>
              <a:rPr lang="en-US" b="1" dirty="0">
                <a:latin typeface="Times New Roman" panose="02020603050405020304" pitchFamily="18" charset="0"/>
                <a:cs typeface="Times New Roman" panose="02020603050405020304" pitchFamily="18" charset="0"/>
              </a:rPr>
              <a:t>(Operational) Costs: </a:t>
            </a:r>
            <a:r>
              <a:rPr lang="en-US" dirty="0" smtClean="0">
                <a:latin typeface="Times New Roman" panose="02020603050405020304" pitchFamily="18" charset="0"/>
                <a:cs typeface="Times New Roman" panose="02020603050405020304" pitchFamily="18" charset="0"/>
              </a:rPr>
              <a:t>Associated </a:t>
            </a:r>
            <a:r>
              <a:rPr lang="en-US" dirty="0">
                <a:latin typeface="Times New Roman" panose="02020603050405020304" pitchFamily="18" charset="0"/>
                <a:cs typeface="Times New Roman" panose="02020603050405020304" pitchFamily="18" charset="0"/>
              </a:rPr>
              <a:t>with on-going use of the system </a:t>
            </a:r>
            <a:endParaRPr lang="en-US" dirty="0" smtClean="0">
              <a:latin typeface="Times New Roman" panose="02020603050405020304" pitchFamily="18" charset="0"/>
              <a:cs typeface="Times New Roman" panose="02020603050405020304" pitchFamily="18" charset="0"/>
            </a:endParaRPr>
          </a:p>
          <a:p>
            <a:pPr marL="457200" lvl="1" indent="0">
              <a:buNone/>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New human resource costs </a:t>
            </a:r>
            <a:endParaRPr lang="en-US" sz="2000" dirty="0" smtClean="0">
              <a:latin typeface="Times New Roman" panose="02020603050405020304" pitchFamily="18" charset="0"/>
              <a:cs typeface="Times New Roman" panose="02020603050405020304" pitchFamily="18" charset="0"/>
            </a:endParaRPr>
          </a:p>
          <a:p>
            <a:pPr marL="457200" lvl="1" indent="0">
              <a:buNone/>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Application software maintenance </a:t>
            </a:r>
            <a:endParaRPr lang="en-US" sz="2000" dirty="0" smtClean="0">
              <a:latin typeface="Times New Roman" panose="02020603050405020304" pitchFamily="18" charset="0"/>
              <a:cs typeface="Times New Roman" panose="02020603050405020304" pitchFamily="18" charset="0"/>
            </a:endParaRPr>
          </a:p>
          <a:p>
            <a:pPr marL="457200" lvl="1" indent="0">
              <a:buNone/>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Incremental data storage expense </a:t>
            </a:r>
            <a:endParaRPr lang="en-US" sz="2000" dirty="0" smtClean="0">
              <a:latin typeface="Times New Roman" panose="02020603050405020304" pitchFamily="18" charset="0"/>
              <a:cs typeface="Times New Roman" panose="02020603050405020304" pitchFamily="18" charset="0"/>
            </a:endParaRPr>
          </a:p>
          <a:p>
            <a:pPr marL="457200" lvl="1" indent="0">
              <a:buNone/>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Incremental communications </a:t>
            </a:r>
            <a:endParaRPr lang="en-US" sz="2000" dirty="0" smtClean="0">
              <a:latin typeface="Times New Roman" panose="02020603050405020304" pitchFamily="18" charset="0"/>
              <a:cs typeface="Times New Roman" panose="02020603050405020304" pitchFamily="18" charset="0"/>
            </a:endParaRPr>
          </a:p>
          <a:p>
            <a:pPr marL="457200" lvl="1" indent="0">
              <a:buNone/>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New software and hardware releases </a:t>
            </a:r>
            <a:endParaRPr lang="en-US" sz="2000" dirty="0" smtClean="0">
              <a:latin typeface="Times New Roman" panose="02020603050405020304" pitchFamily="18" charset="0"/>
              <a:cs typeface="Times New Roman" panose="02020603050405020304" pitchFamily="18" charset="0"/>
            </a:endParaRPr>
          </a:p>
          <a:p>
            <a:pPr marL="457200" lvl="1" indent="0">
              <a:buNone/>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Consumable supplies</a:t>
            </a:r>
          </a:p>
        </p:txBody>
      </p:sp>
    </p:spTree>
    <p:extLst>
      <p:ext uri="{BB962C8B-B14F-4D97-AF65-F5344CB8AC3E}">
        <p14:creationId xmlns:p14="http://schemas.microsoft.com/office/powerpoint/2010/main" val="696596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94363" y="1516968"/>
            <a:ext cx="9603275" cy="3450613"/>
          </a:xfrm>
        </p:spPr>
        <p:txBody>
          <a:bodyPr/>
          <a:lstStyle/>
          <a:p>
            <a:pPr marL="457200" indent="-457200">
              <a:buAutoNum type="arabicPeriod"/>
            </a:pPr>
            <a:r>
              <a:rPr lang="en-US" dirty="0" smtClean="0">
                <a:latin typeface="Times New Roman" panose="02020603050405020304" pitchFamily="18" charset="0"/>
                <a:cs typeface="Times New Roman" panose="02020603050405020304" pitchFamily="18" charset="0"/>
              </a:rPr>
              <a:t>Identify </a:t>
            </a:r>
            <a:r>
              <a:rPr lang="en-US" dirty="0">
                <a:latin typeface="Times New Roman" panose="02020603050405020304" pitchFamily="18" charset="0"/>
                <a:cs typeface="Times New Roman" panose="02020603050405020304" pitchFamily="18" charset="0"/>
              </a:rPr>
              <a:t>Costs and </a:t>
            </a:r>
            <a:r>
              <a:rPr lang="en-US" dirty="0" smtClean="0">
                <a:latin typeface="Times New Roman" panose="02020603050405020304" pitchFamily="18" charset="0"/>
                <a:cs typeface="Times New Roman" panose="02020603050405020304" pitchFamily="18" charset="0"/>
              </a:rPr>
              <a:t>Benefits</a:t>
            </a:r>
          </a:p>
          <a:p>
            <a:pPr marL="457200" indent="-457200">
              <a:buAutoNum type="arabicPeriod"/>
            </a:pPr>
            <a:r>
              <a:rPr lang="en-US" dirty="0" smtClean="0">
                <a:latin typeface="Times New Roman" panose="02020603050405020304" pitchFamily="18" charset="0"/>
                <a:cs typeface="Times New Roman" panose="02020603050405020304" pitchFamily="18" charset="0"/>
              </a:rPr>
              <a:t>Assign Values to </a:t>
            </a:r>
            <a:r>
              <a:rPr lang="en-US" dirty="0">
                <a:latin typeface="Times New Roman" panose="02020603050405020304" pitchFamily="18" charset="0"/>
                <a:cs typeface="Times New Roman" panose="02020603050405020304" pitchFamily="18" charset="0"/>
              </a:rPr>
              <a:t>Costs and Benefits </a:t>
            </a:r>
            <a:endParaRPr lang="en-US" dirty="0" smtClean="0">
              <a:latin typeface="Times New Roman" panose="02020603050405020304" pitchFamily="18" charset="0"/>
              <a:cs typeface="Times New Roman" panose="02020603050405020304" pitchFamily="18" charset="0"/>
            </a:endParaRPr>
          </a:p>
          <a:p>
            <a:pPr marL="457200" indent="-457200">
              <a:buAutoNum type="arabicPeriod"/>
            </a:pPr>
            <a:r>
              <a:rPr lang="en-US" dirty="0" smtClean="0">
                <a:latin typeface="Times New Roman" panose="02020603050405020304" pitchFamily="18" charset="0"/>
                <a:cs typeface="Times New Roman" panose="02020603050405020304" pitchFamily="18" charset="0"/>
              </a:rPr>
              <a:t>Determine </a:t>
            </a:r>
            <a:r>
              <a:rPr lang="en-US" dirty="0">
                <a:latin typeface="Times New Roman" panose="02020603050405020304" pitchFamily="18" charset="0"/>
                <a:cs typeface="Times New Roman" panose="02020603050405020304" pitchFamily="18" charset="0"/>
              </a:rPr>
              <a:t>Cash </a:t>
            </a:r>
            <a:r>
              <a:rPr lang="en-US" dirty="0" smtClean="0">
                <a:latin typeface="Times New Roman" panose="02020603050405020304" pitchFamily="18" charset="0"/>
                <a:cs typeface="Times New Roman" panose="02020603050405020304" pitchFamily="18" charset="0"/>
              </a:rPr>
              <a:t>Flow</a:t>
            </a:r>
          </a:p>
          <a:p>
            <a:pPr marL="457200" indent="-457200">
              <a:buAutoNum type="arabicPeriod"/>
            </a:pPr>
            <a:r>
              <a:rPr lang="en-US" dirty="0" smtClean="0">
                <a:latin typeface="Times New Roman" panose="02020603050405020304" pitchFamily="18" charset="0"/>
                <a:cs typeface="Times New Roman" panose="02020603050405020304" pitchFamily="18" charset="0"/>
              </a:rPr>
              <a:t>Assess </a:t>
            </a:r>
            <a:r>
              <a:rPr lang="en-US" dirty="0">
                <a:latin typeface="Times New Roman" panose="02020603050405020304" pitchFamily="18" charset="0"/>
                <a:cs typeface="Times New Roman" panose="02020603050405020304" pitchFamily="18" charset="0"/>
              </a:rPr>
              <a:t>Project’s Economic Value  </a:t>
            </a:r>
          </a:p>
          <a:p>
            <a:pPr marL="457200" indent="-457200">
              <a:buAutoNum type="arabicPeriod"/>
            </a:pPr>
            <a:endParaRPr lang="en-US"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STEPS in ECONOMIC </a:t>
            </a:r>
            <a:r>
              <a:rPr lang="en-US" dirty="0">
                <a:latin typeface="Times New Roman" panose="02020603050405020304" pitchFamily="18" charset="0"/>
                <a:cs typeface="Times New Roman" panose="02020603050405020304" pitchFamily="18" charset="0"/>
              </a:rPr>
              <a:t>FEASIBILITY ANALYSIS </a:t>
            </a:r>
          </a:p>
        </p:txBody>
      </p:sp>
    </p:spTree>
    <p:extLst>
      <p:ext uri="{BB962C8B-B14F-4D97-AF65-F5344CB8AC3E}">
        <p14:creationId xmlns:p14="http://schemas.microsoft.com/office/powerpoint/2010/main" val="3146853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94363" y="1516968"/>
            <a:ext cx="9603275" cy="3450613"/>
          </a:xfrm>
        </p:spPr>
        <p:txBody>
          <a:bodyPr/>
          <a:lstStyle/>
          <a:p>
            <a:pPr marL="457200" indent="-457200">
              <a:buAutoNum type="arabicPeriod"/>
            </a:pPr>
            <a:r>
              <a:rPr lang="en-US" dirty="0" smtClean="0">
                <a:latin typeface="Times New Roman" panose="02020603050405020304" pitchFamily="18" charset="0"/>
                <a:cs typeface="Times New Roman" panose="02020603050405020304" pitchFamily="18" charset="0"/>
              </a:rPr>
              <a:t>Identify </a:t>
            </a:r>
            <a:r>
              <a:rPr lang="en-US" dirty="0">
                <a:latin typeface="Times New Roman" panose="02020603050405020304" pitchFamily="18" charset="0"/>
                <a:cs typeface="Times New Roman" panose="02020603050405020304" pitchFamily="18" charset="0"/>
              </a:rPr>
              <a:t>Costs and </a:t>
            </a:r>
            <a:r>
              <a:rPr lang="en-US" dirty="0" smtClean="0">
                <a:latin typeface="Times New Roman" panose="02020603050405020304" pitchFamily="18" charset="0"/>
                <a:cs typeface="Times New Roman" panose="02020603050405020304" pitchFamily="18" charset="0"/>
              </a:rPr>
              <a:t>Benefits</a:t>
            </a:r>
          </a:p>
          <a:p>
            <a:pPr marL="457200" indent="-457200">
              <a:buAutoNum type="arabicPeriod"/>
            </a:pPr>
            <a:r>
              <a:rPr lang="en-US" dirty="0" smtClean="0">
                <a:latin typeface="Times New Roman" panose="02020603050405020304" pitchFamily="18" charset="0"/>
                <a:cs typeface="Times New Roman" panose="02020603050405020304" pitchFamily="18" charset="0"/>
              </a:rPr>
              <a:t>Assign Values to </a:t>
            </a:r>
            <a:r>
              <a:rPr lang="en-US" dirty="0">
                <a:latin typeface="Times New Roman" panose="02020603050405020304" pitchFamily="18" charset="0"/>
                <a:cs typeface="Times New Roman" panose="02020603050405020304" pitchFamily="18" charset="0"/>
              </a:rPr>
              <a:t>Costs and Benefits </a:t>
            </a:r>
            <a:endParaRPr lang="en-US" dirty="0" smtClean="0">
              <a:latin typeface="Times New Roman" panose="02020603050405020304" pitchFamily="18" charset="0"/>
              <a:cs typeface="Times New Roman" panose="02020603050405020304" pitchFamily="18" charset="0"/>
            </a:endParaRPr>
          </a:p>
          <a:p>
            <a:pPr marL="457200" indent="-457200">
              <a:buAutoNum type="arabicPeriod"/>
            </a:pPr>
            <a:r>
              <a:rPr lang="en-US" dirty="0" smtClean="0">
                <a:latin typeface="Times New Roman" panose="02020603050405020304" pitchFamily="18" charset="0"/>
                <a:cs typeface="Times New Roman" panose="02020603050405020304" pitchFamily="18" charset="0"/>
              </a:rPr>
              <a:t>Determine </a:t>
            </a:r>
            <a:r>
              <a:rPr lang="en-US" dirty="0">
                <a:latin typeface="Times New Roman" panose="02020603050405020304" pitchFamily="18" charset="0"/>
                <a:cs typeface="Times New Roman" panose="02020603050405020304" pitchFamily="18" charset="0"/>
              </a:rPr>
              <a:t>Cash </a:t>
            </a:r>
            <a:r>
              <a:rPr lang="en-US" dirty="0" smtClean="0">
                <a:latin typeface="Times New Roman" panose="02020603050405020304" pitchFamily="18" charset="0"/>
                <a:cs typeface="Times New Roman" panose="02020603050405020304" pitchFamily="18" charset="0"/>
              </a:rPr>
              <a:t>Flow</a:t>
            </a:r>
          </a:p>
          <a:p>
            <a:pPr marL="457200" indent="-457200">
              <a:buAutoNum type="arabicPeriod"/>
            </a:pPr>
            <a:r>
              <a:rPr lang="en-US" dirty="0" smtClean="0">
                <a:latin typeface="Times New Roman" panose="02020603050405020304" pitchFamily="18" charset="0"/>
                <a:cs typeface="Times New Roman" panose="02020603050405020304" pitchFamily="18" charset="0"/>
              </a:rPr>
              <a:t>Assess </a:t>
            </a:r>
            <a:r>
              <a:rPr lang="en-US" dirty="0">
                <a:latin typeface="Times New Roman" panose="02020603050405020304" pitchFamily="18" charset="0"/>
                <a:cs typeface="Times New Roman" panose="02020603050405020304" pitchFamily="18" charset="0"/>
              </a:rPr>
              <a:t>Project’s Economic Value  </a:t>
            </a:r>
          </a:p>
          <a:p>
            <a:pPr marL="457200" indent="-457200">
              <a:buAutoNum type="arabicPeriod"/>
            </a:pPr>
            <a:endParaRPr lang="en-US"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STEPS in ECONOMIC </a:t>
            </a:r>
            <a:r>
              <a:rPr lang="en-US" dirty="0">
                <a:latin typeface="Times New Roman" panose="02020603050405020304" pitchFamily="18" charset="0"/>
                <a:cs typeface="Times New Roman" panose="02020603050405020304" pitchFamily="18" charset="0"/>
              </a:rPr>
              <a:t>FEASIBILITY ANALYSIS </a:t>
            </a:r>
          </a:p>
        </p:txBody>
      </p:sp>
    </p:spTree>
    <p:extLst>
      <p:ext uri="{BB962C8B-B14F-4D97-AF65-F5344CB8AC3E}">
        <p14:creationId xmlns:p14="http://schemas.microsoft.com/office/powerpoint/2010/main" val="3076489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30154" y="2757055"/>
            <a:ext cx="9567484" cy="2893580"/>
          </a:xfrm>
          <a:prstGeom prst="rect">
            <a:avLst/>
          </a:prstGeom>
          <a:ln>
            <a:solidFill>
              <a:schemeClr val="tx1"/>
            </a:solidFill>
          </a:ln>
        </p:spPr>
      </p:pic>
      <p:sp>
        <p:nvSpPr>
          <p:cNvPr id="3" name="Title 2"/>
          <p:cNvSpPr>
            <a:spLocks noGrp="1"/>
          </p:cNvSpPr>
          <p:nvPr>
            <p:ph type="title"/>
          </p:nvPr>
        </p:nvSpPr>
        <p:spPr>
          <a:xfrm>
            <a:off x="1294363" y="804520"/>
            <a:ext cx="9603275" cy="580936"/>
          </a:xfrm>
        </p:spPr>
        <p:txBody>
          <a:bodyPr/>
          <a:lstStyle/>
          <a:p>
            <a:r>
              <a:rPr lang="en-US" dirty="0" smtClean="0">
                <a:latin typeface="Times New Roman" panose="02020603050405020304" pitchFamily="18" charset="0"/>
                <a:cs typeface="Times New Roman" panose="02020603050405020304" pitchFamily="18" charset="0"/>
              </a:rPr>
              <a:t>Cash flow analysis</a:t>
            </a:r>
            <a:endParaRPr lang="en-US" dirty="0">
              <a:latin typeface="Times New Roman" panose="02020603050405020304" pitchFamily="18" charset="0"/>
              <a:cs typeface="Times New Roman" panose="02020603050405020304" pitchFamily="18" charset="0"/>
            </a:endParaRPr>
          </a:p>
        </p:txBody>
      </p:sp>
      <p:sp>
        <p:nvSpPr>
          <p:cNvPr id="9" name="TextBox 8"/>
          <p:cNvSpPr txBox="1"/>
          <p:nvPr/>
        </p:nvSpPr>
        <p:spPr>
          <a:xfrm>
            <a:off x="1294363" y="1609590"/>
            <a:ext cx="9603275"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Cash flow analysis is the process of reviewing a business's or project's cash inflows </a:t>
            </a: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money coming in) and outflows (money going out) over a specific period to </a:t>
            </a:r>
            <a:r>
              <a:rPr lang="en-US" dirty="0" smtClean="0">
                <a:latin typeface="Times New Roman" panose="02020603050405020304" pitchFamily="18" charset="0"/>
                <a:cs typeface="Times New Roman" panose="02020603050405020304" pitchFamily="18" charset="0"/>
              </a:rPr>
              <a:t>assess </a:t>
            </a:r>
            <a:r>
              <a:rPr lang="en-US" dirty="0">
                <a:latin typeface="Times New Roman" panose="02020603050405020304" pitchFamily="18" charset="0"/>
                <a:cs typeface="Times New Roman" panose="02020603050405020304" pitchFamily="18" charset="0"/>
              </a:rPr>
              <a:t>its financial health, liquidity, and ability to meet obligations. </a:t>
            </a:r>
          </a:p>
        </p:txBody>
      </p:sp>
    </p:spTree>
    <p:extLst>
      <p:ext uri="{BB962C8B-B14F-4D97-AF65-F5344CB8AC3E}">
        <p14:creationId xmlns:p14="http://schemas.microsoft.com/office/powerpoint/2010/main" val="33840843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294363" y="1516968"/>
                <a:ext cx="9603275" cy="3450613"/>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The return on investment (ROI) is a simple calculation that divides the project’s net benefits </a:t>
                </a: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total benefits - total costs) by the total costs.</a:t>
                </a:r>
              </a:p>
              <a:p>
                <a:pPr marL="0" indent="0">
                  <a:buNone/>
                </a:pPr>
                <a:r>
                  <a:rPr lang="en-US" sz="2400" dirty="0" smtClean="0">
                    <a:latin typeface="Times New Roman" panose="02020603050405020304" pitchFamily="18" charset="0"/>
                    <a:cs typeface="Times New Roman" panose="02020603050405020304" pitchFamily="18" charset="0"/>
                  </a:rPr>
                  <a:t>ROI  = </a:t>
                </a:r>
                <a14:m>
                  <m:oMath xmlns:m="http://schemas.openxmlformats.org/officeDocument/2006/math">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𝑇𝑜𝑡𝑎𝑙</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𝑅𝑒𝑣𝑒𝑛𝑢𝑒</m:t>
                        </m:r>
                        <m:r>
                          <a:rPr lang="en-US" sz="2400" b="0" i="1" smtClean="0">
                            <a:latin typeface="Cambria Math" panose="02040503050406030204" pitchFamily="18" charset="0"/>
                            <a:cs typeface="Times New Roman" panose="02020603050405020304" pitchFamily="18" charset="0"/>
                          </a:rPr>
                          <m:t>  − </m:t>
                        </m:r>
                        <m:r>
                          <a:rPr lang="en-US" sz="2400" b="0" i="1" smtClean="0">
                            <a:latin typeface="Cambria Math" panose="02040503050406030204" pitchFamily="18" charset="0"/>
                            <a:cs typeface="Times New Roman" panose="02020603050405020304" pitchFamily="18" charset="0"/>
                          </a:rPr>
                          <m:t>𝑇𝑜𝑡𝑎𝑙</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𝐶𝑜𝑠𝑡𝑠</m:t>
                        </m:r>
                      </m:num>
                      <m:den>
                        <m:r>
                          <a:rPr lang="en-US" sz="2400" b="0" i="1" smtClean="0">
                            <a:latin typeface="Cambria Math" panose="02040503050406030204" pitchFamily="18" charset="0"/>
                            <a:cs typeface="Times New Roman" panose="02020603050405020304" pitchFamily="18" charset="0"/>
                          </a:rPr>
                          <m:t>𝑇𝑜𝑡𝑎𝑙</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𝐶𝑜𝑠𝑡𝑠</m:t>
                        </m:r>
                      </m:den>
                    </m:f>
                  </m:oMath>
                </a14:m>
                <a:endParaRPr lang="en-US" sz="2400"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Based</a:t>
                </a:r>
                <a:r>
                  <a:rPr lang="en-US" dirty="0">
                    <a:latin typeface="Times New Roman" panose="02020603050405020304" pitchFamily="18" charset="0"/>
                    <a:cs typeface="Times New Roman" panose="02020603050405020304" pitchFamily="18" charset="0"/>
                  </a:rPr>
                  <a:t> on previous example: </a:t>
                </a:r>
                <a:endParaRPr lang="en-US" dirty="0" smtClean="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ROI  = </a:t>
                </a:r>
                <a14:m>
                  <m:oMath xmlns:m="http://schemas.openxmlformats.org/officeDocument/2006/math">
                    <m:f>
                      <m:fPr>
                        <m:ctrlPr>
                          <a:rPr lang="en-US" sz="2400" i="1">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152000</m:t>
                        </m:r>
                        <m:r>
                          <a:rPr lang="en-US" sz="2400" i="1">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138000</m:t>
                        </m:r>
                      </m:num>
                      <m:den>
                        <m:r>
                          <a:rPr lang="en-US" sz="2400" b="0" i="1" smtClean="0">
                            <a:latin typeface="Cambria Math" panose="02040503050406030204" pitchFamily="18" charset="0"/>
                            <a:cs typeface="Times New Roman" panose="02020603050405020304" pitchFamily="18" charset="0"/>
                          </a:rPr>
                          <m:t>138000</m:t>
                        </m:r>
                      </m:den>
                    </m:f>
                  </m:oMath>
                </a14:m>
                <a:r>
                  <a:rPr lang="en-US" sz="2400" dirty="0" smtClean="0">
                    <a:latin typeface="Times New Roman" panose="02020603050405020304" pitchFamily="18" charset="0"/>
                    <a:cs typeface="Times New Roman" panose="02020603050405020304" pitchFamily="18" charset="0"/>
                  </a:rPr>
                  <a:t> = 0.101 = 10.1%</a:t>
                </a:r>
                <a:endParaRPr lang="en-US" sz="2400" dirty="0">
                  <a:latin typeface="Times New Roman" panose="02020603050405020304" pitchFamily="18" charset="0"/>
                  <a:cs typeface="Times New Roman" panose="02020603050405020304" pitchFamily="18" charset="0"/>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294363" y="1516968"/>
                <a:ext cx="9603275" cy="3450613"/>
              </a:xfrm>
              <a:blipFill>
                <a:blip r:embed="rId2"/>
                <a:stretch>
                  <a:fillRect l="-952" t="-177" r="-381"/>
                </a:stretch>
              </a:blipFill>
            </p:spPr>
            <p:txBody>
              <a:bodyPr/>
              <a:lstStyle/>
              <a:p>
                <a:r>
                  <a:rPr lang="en-US">
                    <a:noFill/>
                  </a:rPr>
                  <a:t> </a:t>
                </a:r>
              </a:p>
            </p:txBody>
          </p:sp>
        </mc:Fallback>
      </mc:AlternateContent>
      <p:sp>
        <p:nvSpPr>
          <p:cNvPr id="3" name="Title 2"/>
          <p:cNvSpPr>
            <a:spLocks noGrp="1"/>
          </p:cNvSpPr>
          <p:nvPr>
            <p:ph type="title"/>
          </p:nvPr>
        </p:nvSpPr>
        <p:spPr>
          <a:xfrm>
            <a:off x="1294363" y="804519"/>
            <a:ext cx="9603275" cy="608645"/>
          </a:xfrm>
        </p:spPr>
        <p:txBody>
          <a:bodyPr/>
          <a:lstStyle/>
          <a:p>
            <a:r>
              <a:rPr lang="en-US" dirty="0">
                <a:latin typeface="Times New Roman" panose="02020603050405020304" pitchFamily="18" charset="0"/>
                <a:cs typeface="Times New Roman" panose="02020603050405020304" pitchFamily="18" charset="0"/>
              </a:rPr>
              <a:t>Return on </a:t>
            </a:r>
            <a:r>
              <a:rPr lang="en-US" dirty="0" smtClean="0">
                <a:latin typeface="Times New Roman" panose="02020603050405020304" pitchFamily="18" charset="0"/>
                <a:cs typeface="Times New Roman" panose="02020603050405020304" pitchFamily="18" charset="0"/>
              </a:rPr>
              <a:t>Investment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2839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87234" y="2988393"/>
            <a:ext cx="8621464" cy="3079897"/>
          </a:xfrm>
          <a:prstGeom prst="rect">
            <a:avLst/>
          </a:prstGeom>
        </p:spPr>
      </p:pic>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Break-Even </a:t>
            </a:r>
            <a:r>
              <a:rPr lang="en-US" dirty="0" smtClean="0">
                <a:latin typeface="Times New Roman" panose="02020603050405020304" pitchFamily="18" charset="0"/>
                <a:cs typeface="Times New Roman" panose="02020603050405020304" pitchFamily="18" charset="0"/>
              </a:rPr>
              <a:t>Point</a:t>
            </a:r>
            <a:endParaRPr lang="en-US" dirty="0">
              <a:latin typeface="Times New Roman" panose="02020603050405020304" pitchFamily="18" charset="0"/>
              <a:cs typeface="Times New Roman" panose="02020603050405020304" pitchFamily="18" charset="0"/>
            </a:endParaRPr>
          </a:p>
        </p:txBody>
      </p:sp>
      <p:sp>
        <p:nvSpPr>
          <p:cNvPr id="5" name="Rectangle 4"/>
          <p:cNvSpPr/>
          <p:nvPr/>
        </p:nvSpPr>
        <p:spPr>
          <a:xfrm>
            <a:off x="1294362" y="1664955"/>
            <a:ext cx="9603275" cy="1323439"/>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The break-even point (also called </a:t>
            </a:r>
            <a:r>
              <a:rPr lang="en-US" sz="2000" b="1" dirty="0">
                <a:latin typeface="Times New Roman" panose="02020603050405020304" pitchFamily="18" charset="0"/>
                <a:cs typeface="Times New Roman" panose="02020603050405020304" pitchFamily="18" charset="0"/>
              </a:rPr>
              <a:t>the payback method</a:t>
            </a:r>
            <a:r>
              <a:rPr lang="en-US" sz="2000" dirty="0">
                <a:latin typeface="Times New Roman" panose="02020603050405020304" pitchFamily="18" charset="0"/>
                <a:cs typeface="Times New Roman" panose="02020603050405020304" pitchFamily="18" charset="0"/>
              </a:rPr>
              <a:t>) is defined as the number of years it takes a firm to recover its original investment in the project from net cash flows. </a:t>
            </a:r>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Based on last example: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66583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294362" y="1530822"/>
                <a:ext cx="10565129" cy="4523614"/>
              </a:xfrm>
            </p:spPr>
            <p:txBody>
              <a:bodyPr numCol="1">
                <a:normAutofit/>
              </a:bodyPr>
              <a:lstStyle/>
              <a:p>
                <a:pPr marL="0" indent="0">
                  <a:buNone/>
                </a:pPr>
                <a:r>
                  <a:rPr lang="en-US" sz="2600" dirty="0">
                    <a:latin typeface="Times New Roman" panose="02020603050405020304" pitchFamily="18" charset="0"/>
                    <a:cs typeface="Times New Roman" panose="02020603050405020304" pitchFamily="18" charset="0"/>
                  </a:rPr>
                  <a:t>Present </a:t>
                </a:r>
                <a:r>
                  <a:rPr lang="en-US" sz="2600" dirty="0" smtClean="0">
                    <a:latin typeface="Times New Roman" panose="02020603050405020304" pitchFamily="18" charset="0"/>
                    <a:cs typeface="Times New Roman" panose="02020603050405020304" pitchFamily="18" charset="0"/>
                  </a:rPr>
                  <a:t>Value Analysis</a:t>
                </a:r>
              </a:p>
              <a:p>
                <a:pPr marL="3200400" lvl="7" indent="0">
                  <a:buNone/>
                </a:pPr>
                <a14:m>
                  <m:oMath xmlns:m="http://schemas.openxmlformats.org/officeDocument/2006/math">
                    <m:r>
                      <a:rPr lang="en-US" sz="2800" b="0" i="1">
                        <a:latin typeface="Cambria Math" panose="02040503050406030204" pitchFamily="18" charset="0"/>
                        <a:cs typeface="Times New Roman" panose="02020603050405020304" pitchFamily="18" charset="0"/>
                      </a:rPr>
                      <m:t>𝑃𝑉</m:t>
                    </m:r>
                    <m:r>
                      <a:rPr lang="en-US" sz="2800" b="0" i="1">
                        <a:latin typeface="Cambria Math" panose="02040503050406030204" pitchFamily="18" charset="0"/>
                        <a:cs typeface="Times New Roman" panose="02020603050405020304" pitchFamily="18" charset="0"/>
                      </a:rPr>
                      <m:t>=</m:t>
                    </m:r>
                    <m:f>
                      <m:fPr>
                        <m:ctrlPr>
                          <a:rPr lang="en-US" sz="2800" i="1">
                            <a:latin typeface="Cambria Math" panose="02040503050406030204" pitchFamily="18" charset="0"/>
                            <a:cs typeface="Times New Roman" panose="02020603050405020304" pitchFamily="18" charset="0"/>
                          </a:rPr>
                        </m:ctrlPr>
                      </m:fPr>
                      <m:num>
                        <m:r>
                          <a:rPr lang="en-US" sz="2800" b="0" i="1">
                            <a:latin typeface="Cambria Math" panose="02040503050406030204" pitchFamily="18" charset="0"/>
                            <a:cs typeface="Times New Roman" panose="02020603050405020304" pitchFamily="18" charset="0"/>
                          </a:rPr>
                          <m:t>𝐶</m:t>
                        </m:r>
                      </m:num>
                      <m:den>
                        <m:d>
                          <m:dPr>
                            <m:ctrlPr>
                              <a:rPr lang="en-US" sz="2800" i="1">
                                <a:latin typeface="Cambria Math" panose="02040503050406030204" pitchFamily="18" charset="0"/>
                                <a:cs typeface="Times New Roman" panose="02020603050405020304" pitchFamily="18" charset="0"/>
                              </a:rPr>
                            </m:ctrlPr>
                          </m:dPr>
                          <m:e>
                            <m:r>
                              <a:rPr lang="en-US" sz="2800" b="0" i="1">
                                <a:latin typeface="Cambria Math" panose="02040503050406030204" pitchFamily="18" charset="0"/>
                                <a:cs typeface="Times New Roman" panose="02020603050405020304" pitchFamily="18" charset="0"/>
                              </a:rPr>
                              <m:t>1+</m:t>
                            </m:r>
                            <m:r>
                              <a:rPr lang="en-US" sz="2800" b="0" i="1">
                                <a:latin typeface="Cambria Math" panose="02040503050406030204" pitchFamily="18" charset="0"/>
                                <a:cs typeface="Times New Roman" panose="02020603050405020304" pitchFamily="18" charset="0"/>
                              </a:rPr>
                              <m:t>𝑟</m:t>
                            </m:r>
                          </m:e>
                        </m:d>
                        <m:r>
                          <a:rPr lang="en-US" sz="2800" b="0" i="1" baseline="30000">
                            <a:latin typeface="Cambria Math" panose="02040503050406030204" pitchFamily="18" charset="0"/>
                            <a:cs typeface="Times New Roman" panose="02020603050405020304" pitchFamily="18" charset="0"/>
                          </a:rPr>
                          <m:t>𝑛</m:t>
                        </m:r>
                      </m:den>
                    </m:f>
                  </m:oMath>
                </a14:m>
                <a:r>
                  <a:rPr lang="en-US" sz="1800" i="1" dirty="0" smtClean="0">
                    <a:latin typeface="Times New Roman" panose="02020603050405020304" pitchFamily="18" charset="0"/>
                    <a:cs typeface="Times New Roman" panose="02020603050405020304" pitchFamily="18" charset="0"/>
                  </a:rPr>
                  <a:t>  </a:t>
                </a:r>
              </a:p>
              <a:p>
                <a:pPr marL="0" indent="0">
                  <a:buNone/>
                </a:pPr>
                <a:r>
                  <a:rPr lang="en-US" dirty="0" smtClean="0">
                    <a:latin typeface="Times New Roman" panose="02020603050405020304" pitchFamily="18" charset="0"/>
                    <a:cs typeface="Times New Roman" panose="02020603050405020304" pitchFamily="18" charset="0"/>
                  </a:rPr>
                  <a:t>Where </a:t>
                </a:r>
                <a:r>
                  <a:rPr lang="en-US" dirty="0">
                    <a:latin typeface="Times New Roman" panose="02020603050405020304" pitchFamily="18" charset="0"/>
                    <a:cs typeface="Times New Roman" panose="02020603050405020304" pitchFamily="18" charset="0"/>
                  </a:rPr>
                  <a:t>C is Cash flow amount, r is rate of return (required rate of return), and n is the year in which the cash flow occurs. </a:t>
                </a:r>
                <a:endParaRPr lang="en-US" b="1" dirty="0" smtClean="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$100 received in 3 years with a required rate of return of 10% </a:t>
                </a:r>
                <a:r>
                  <a:rPr lang="en-US" dirty="0" smtClean="0">
                    <a:latin typeface="Times New Roman" panose="02020603050405020304" pitchFamily="18" charset="0"/>
                    <a:cs typeface="Times New Roman" panose="02020603050405020304" pitchFamily="18" charset="0"/>
                  </a:rPr>
                  <a:t>has </a:t>
                </a:r>
                <a:r>
                  <a:rPr lang="en-US" dirty="0">
                    <a:latin typeface="Times New Roman" panose="02020603050405020304" pitchFamily="18" charset="0"/>
                    <a:cs typeface="Times New Roman" panose="02020603050405020304" pitchFamily="18" charset="0"/>
                  </a:rPr>
                  <a:t>a PV of $75.13 </a:t>
                </a:r>
              </a:p>
              <a:p>
                <a:pPr marL="0" indent="0">
                  <a:buNone/>
                </a:pPr>
                <a:endParaRPr lang="en-US" b="0"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294362" y="1530822"/>
                <a:ext cx="10565129" cy="4523614"/>
              </a:xfrm>
              <a:blipFill>
                <a:blip r:embed="rId2"/>
                <a:stretch>
                  <a:fillRect l="-1039" t="-270"/>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Discounted Cash Flow Technique</a:t>
            </a:r>
            <a:endParaRPr lang="en-US"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3"/>
          <a:stretch>
            <a:fillRect/>
          </a:stretch>
        </p:blipFill>
        <p:spPr>
          <a:xfrm>
            <a:off x="3310174" y="4325609"/>
            <a:ext cx="6198517" cy="1243919"/>
          </a:xfrm>
          <a:prstGeom prst="rect">
            <a:avLst/>
          </a:prstGeom>
        </p:spPr>
      </p:pic>
    </p:spTree>
    <p:extLst>
      <p:ext uri="{BB962C8B-B14F-4D97-AF65-F5344CB8AC3E}">
        <p14:creationId xmlns:p14="http://schemas.microsoft.com/office/powerpoint/2010/main" val="14139961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188799" y="1726456"/>
            <a:ext cx="7814396" cy="2199797"/>
          </a:xfrm>
          <a:prstGeom prst="rect">
            <a:avLst/>
          </a:prstGeom>
        </p:spPr>
      </p:pic>
      <mc:AlternateContent xmlns:mc="http://schemas.openxmlformats.org/markup-compatibility/2006">
        <mc:Choice xmlns:a14="http://schemas.microsoft.com/office/drawing/2010/main" Requires="a14">
          <p:sp>
            <p:nvSpPr>
              <p:cNvPr id="5" name="Rectangle 4"/>
              <p:cNvSpPr/>
              <p:nvPr/>
            </p:nvSpPr>
            <p:spPr>
              <a:xfrm>
                <a:off x="1294360" y="4101461"/>
                <a:ext cx="9603275" cy="1015663"/>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Net Present Value (NPV): </a:t>
                </a:r>
                <a:endParaRPr lang="en-US" sz="2000" i="1" dirty="0" smtClean="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𝑁𝑃𝑉</m:t>
                      </m:r>
                      <m:r>
                        <a:rPr lang="en-US" sz="2000" i="1" dirty="0">
                          <a:latin typeface="Cambria Math" panose="02040503050406030204" pitchFamily="18" charset="0"/>
                        </a:rPr>
                        <m:t> = ∑ </m:t>
                      </m:r>
                      <m:r>
                        <a:rPr lang="en-US" sz="2000" i="1" dirty="0">
                          <a:latin typeface="Cambria Math" panose="02040503050406030204" pitchFamily="18" charset="0"/>
                        </a:rPr>
                        <m:t>𝑃𝑉</m:t>
                      </m:r>
                      <m:r>
                        <a:rPr lang="en-US" sz="2000" i="1" dirty="0">
                          <a:latin typeface="Cambria Math" panose="02040503050406030204" pitchFamily="18" charset="0"/>
                        </a:rPr>
                        <m:t> </m:t>
                      </m:r>
                      <m:r>
                        <a:rPr lang="en-US" sz="2000" i="1" dirty="0">
                          <a:latin typeface="Cambria Math" panose="02040503050406030204" pitchFamily="18" charset="0"/>
                        </a:rPr>
                        <m:t>𝑜𝑓</m:t>
                      </m:r>
                      <m:r>
                        <a:rPr lang="en-US" sz="2000" i="1" dirty="0">
                          <a:latin typeface="Cambria Math" panose="02040503050406030204" pitchFamily="18" charset="0"/>
                        </a:rPr>
                        <m:t> </m:t>
                      </m:r>
                      <m:r>
                        <a:rPr lang="en-US" sz="2000" i="1" dirty="0">
                          <a:latin typeface="Cambria Math" panose="02040503050406030204" pitchFamily="18" charset="0"/>
                        </a:rPr>
                        <m:t>𝑇𝑜𝑡𝑎𝑙</m:t>
                      </m:r>
                      <m:r>
                        <a:rPr lang="en-US" sz="2000" i="1" dirty="0">
                          <a:latin typeface="Cambria Math" panose="02040503050406030204" pitchFamily="18" charset="0"/>
                        </a:rPr>
                        <m:t> </m:t>
                      </m:r>
                      <m:r>
                        <a:rPr lang="en-US" sz="2000" i="1" dirty="0">
                          <a:latin typeface="Cambria Math" panose="02040503050406030204" pitchFamily="18" charset="0"/>
                        </a:rPr>
                        <m:t>𝐵𝑒𝑛𝑒𝑓𝑖𝑡𝑠</m:t>
                      </m:r>
                      <m:r>
                        <a:rPr lang="en-US" sz="2000" i="1" dirty="0">
                          <a:latin typeface="Cambria Math" panose="02040503050406030204" pitchFamily="18" charset="0"/>
                        </a:rPr>
                        <m:t> − ∑</m:t>
                      </m:r>
                      <m:r>
                        <a:rPr lang="en-US" sz="2000" i="1" dirty="0">
                          <a:latin typeface="Cambria Math" panose="02040503050406030204" pitchFamily="18" charset="0"/>
                        </a:rPr>
                        <m:t>𝑃𝑉</m:t>
                      </m:r>
                      <m:r>
                        <a:rPr lang="en-US" sz="2000" i="1" dirty="0">
                          <a:latin typeface="Cambria Math" panose="02040503050406030204" pitchFamily="18" charset="0"/>
                        </a:rPr>
                        <m:t> </m:t>
                      </m:r>
                      <m:r>
                        <a:rPr lang="en-US" sz="2000" i="1" dirty="0">
                          <a:latin typeface="Cambria Math" panose="02040503050406030204" pitchFamily="18" charset="0"/>
                        </a:rPr>
                        <m:t>𝑜𝑓</m:t>
                      </m:r>
                      <m:r>
                        <a:rPr lang="en-US" sz="2000" i="1" dirty="0">
                          <a:latin typeface="Cambria Math" panose="02040503050406030204" pitchFamily="18" charset="0"/>
                        </a:rPr>
                        <m:t> </m:t>
                      </m:r>
                      <m:r>
                        <a:rPr lang="en-US" sz="2000" i="1" dirty="0">
                          <a:latin typeface="Cambria Math" panose="02040503050406030204" pitchFamily="18" charset="0"/>
                        </a:rPr>
                        <m:t>𝑇𝑜𝑡𝑎𝑙</m:t>
                      </m:r>
                      <m:r>
                        <a:rPr lang="en-US" sz="2000" i="1" dirty="0">
                          <a:latin typeface="Cambria Math" panose="02040503050406030204" pitchFamily="18" charset="0"/>
                        </a:rPr>
                        <m:t> </m:t>
                      </m:r>
                      <m:r>
                        <a:rPr lang="en-US" sz="2000" i="1" dirty="0">
                          <a:latin typeface="Cambria Math" panose="02040503050406030204" pitchFamily="18" charset="0"/>
                        </a:rPr>
                        <m:t>𝐶𝑜𝑠𝑡𝑠</m:t>
                      </m:r>
                      <m:r>
                        <a:rPr lang="en-US" sz="2000" i="1" dirty="0">
                          <a:latin typeface="Cambria Math" panose="02040503050406030204" pitchFamily="18" charset="0"/>
                        </a:rPr>
                        <m:t> </m:t>
                      </m:r>
                    </m:oMath>
                  </m:oMathPara>
                </a14:m>
                <a:endParaRPr lang="en-US" sz="2000" dirty="0">
                  <a:latin typeface="Times New Roman" panose="02020603050405020304" pitchFamily="18" charset="0"/>
                  <a:cs typeface="Times New Roman" panose="02020603050405020304" pitchFamily="18" charset="0"/>
                </a:endParaRPr>
              </a:p>
              <a:p>
                <a:pPr lvl="4"/>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$125,056 - $131,029 = </a:t>
                </a:r>
                <a:r>
                  <a:rPr lang="en-US" sz="2000">
                    <a:latin typeface="Times New Roman" panose="02020603050405020304" pitchFamily="18" charset="0"/>
                    <a:cs typeface="Times New Roman" panose="02020603050405020304" pitchFamily="18" charset="0"/>
                  </a:rPr>
                  <a:t>($</a:t>
                </a:r>
                <a:r>
                  <a:rPr lang="en-US" sz="2000" smtClean="0">
                    <a:latin typeface="Times New Roman" panose="02020603050405020304" pitchFamily="18" charset="0"/>
                    <a:cs typeface="Times New Roman" panose="02020603050405020304" pitchFamily="18" charset="0"/>
                  </a:rPr>
                  <a:t>5,973) </a:t>
                </a:r>
                <a:endParaRPr lang="en-US" sz="2000" dirty="0">
                  <a:latin typeface="Times New Roman" panose="02020603050405020304" pitchFamily="18" charset="0"/>
                  <a:cs typeface="Times New Roman" panose="02020603050405020304" pitchFamily="18" charset="0"/>
                </a:endParaRPr>
              </a:p>
            </p:txBody>
          </p:sp>
        </mc:Choice>
        <mc:Fallback>
          <p:sp>
            <p:nvSpPr>
              <p:cNvPr id="5" name="Rectangle 4"/>
              <p:cNvSpPr>
                <a:spLocks noRot="1" noChangeAspect="1" noMove="1" noResize="1" noEditPoints="1" noAdjustHandles="1" noChangeArrowheads="1" noChangeShapeType="1" noTextEdit="1"/>
              </p:cNvSpPr>
              <p:nvPr/>
            </p:nvSpPr>
            <p:spPr>
              <a:xfrm>
                <a:off x="1294360" y="4101461"/>
                <a:ext cx="9603275" cy="1015663"/>
              </a:xfrm>
              <a:prstGeom prst="rect">
                <a:avLst/>
              </a:prstGeom>
              <a:blipFill>
                <a:blip r:embed="rId3"/>
                <a:stretch>
                  <a:fillRect l="-635" t="-3614" b="-10241"/>
                </a:stretch>
              </a:blipFill>
            </p:spPr>
            <p:txBody>
              <a:bodyPr/>
              <a:lstStyle/>
              <a:p>
                <a:r>
                  <a:rPr lang="en-US">
                    <a:noFill/>
                  </a:rPr>
                  <a:t> </a:t>
                </a:r>
              </a:p>
            </p:txBody>
          </p:sp>
        </mc:Fallback>
      </mc:AlternateContent>
      <p:sp>
        <p:nvSpPr>
          <p:cNvPr id="6" name="Rectangle 5"/>
          <p:cNvSpPr/>
          <p:nvPr/>
        </p:nvSpPr>
        <p:spPr>
          <a:xfrm>
            <a:off x="1294360" y="5117124"/>
            <a:ext cx="9603275" cy="707886"/>
          </a:xfrm>
          <a:prstGeom prst="rect">
            <a:avLst/>
          </a:prstGeom>
        </p:spPr>
        <p:txBody>
          <a:bodyPr wrap="square">
            <a:spAutoFit/>
          </a:bodyPr>
          <a:lstStyle/>
          <a:p>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present value of the projected benefits and costs have been calculated using a 10% required rate of return.</a:t>
            </a:r>
          </a:p>
        </p:txBody>
      </p:sp>
    </p:spTree>
    <p:extLst>
      <p:ext uri="{BB962C8B-B14F-4D97-AF65-F5344CB8AC3E}">
        <p14:creationId xmlns:p14="http://schemas.microsoft.com/office/powerpoint/2010/main" val="31597203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94363" y="1516968"/>
            <a:ext cx="9603275" cy="3450613"/>
          </a:xfrm>
        </p:spPr>
        <p:txBody>
          <a:bodyPr>
            <a:normAutofit/>
          </a:bodyPr>
          <a:lstStyle/>
          <a:p>
            <a:r>
              <a:rPr lang="en-US" dirty="0">
                <a:latin typeface="Times New Roman" panose="02020603050405020304" pitchFamily="18" charset="0"/>
                <a:cs typeface="Times New Roman" panose="02020603050405020304" pitchFamily="18" charset="0"/>
              </a:rPr>
              <a:t>The term business case refers to the reasons, or justification, for a proposal.  </a:t>
            </a:r>
          </a:p>
          <a:p>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business case is a formal document that provides the justification for a proposed project, investment, or initiative by outlining the problem it aims to solve, the benefits it will bring, the costs involved, and the potential risks.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business case should be comprehensive, yet easy to understand. It should describe </a:t>
            </a:r>
            <a:r>
              <a:rPr lang="en-US" dirty="0" smtClean="0">
                <a:latin typeface="Times New Roman" panose="02020603050405020304" pitchFamily="18" charset="0"/>
                <a:cs typeface="Times New Roman" panose="02020603050405020304" pitchFamily="18" charset="0"/>
              </a:rPr>
              <a:t>the project </a:t>
            </a:r>
            <a:r>
              <a:rPr lang="en-US" dirty="0">
                <a:latin typeface="Times New Roman" panose="02020603050405020304" pitchFamily="18" charset="0"/>
                <a:cs typeface="Times New Roman" panose="02020603050405020304" pitchFamily="18" charset="0"/>
              </a:rPr>
              <a:t>clearly and estimate the project’s financial impact. </a:t>
            </a:r>
          </a:p>
        </p:txBody>
      </p:sp>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 business case</a:t>
            </a:r>
          </a:p>
        </p:txBody>
      </p:sp>
    </p:spTree>
    <p:extLst>
      <p:ext uri="{BB962C8B-B14F-4D97-AF65-F5344CB8AC3E}">
        <p14:creationId xmlns:p14="http://schemas.microsoft.com/office/powerpoint/2010/main" val="16018351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94363" y="1516967"/>
            <a:ext cx="9603275" cy="4897687"/>
          </a:xfrm>
        </p:spPr>
        <p:txBody>
          <a:bodyPr>
            <a:normAutofit/>
          </a:bodyPr>
          <a:lstStyle/>
          <a:p>
            <a:pPr marL="0" indent="0">
              <a:buNone/>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business case should answer questions such as the following: </a:t>
            </a: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 Why </a:t>
            </a:r>
            <a:r>
              <a:rPr lang="en-US" dirty="0">
                <a:latin typeface="Times New Roman" panose="02020603050405020304" pitchFamily="18" charset="0"/>
                <a:cs typeface="Times New Roman" panose="02020603050405020304" pitchFamily="18" charset="0"/>
              </a:rPr>
              <a:t>are we doing this project? </a:t>
            </a: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 What </a:t>
            </a:r>
            <a:r>
              <a:rPr lang="en-US" dirty="0">
                <a:latin typeface="Times New Roman" panose="02020603050405020304" pitchFamily="18" charset="0"/>
                <a:cs typeface="Times New Roman" panose="02020603050405020304" pitchFamily="18" charset="0"/>
              </a:rPr>
              <a:t>is the project about? </a:t>
            </a: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 How </a:t>
            </a:r>
            <a:r>
              <a:rPr lang="en-US" dirty="0">
                <a:latin typeface="Times New Roman" panose="02020603050405020304" pitchFamily="18" charset="0"/>
                <a:cs typeface="Times New Roman" panose="02020603050405020304" pitchFamily="18" charset="0"/>
              </a:rPr>
              <a:t>much will it cost and how long will it take? </a:t>
            </a: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 What </a:t>
            </a:r>
            <a:r>
              <a:rPr lang="en-US" dirty="0">
                <a:latin typeface="Times New Roman" panose="02020603050405020304" pitchFamily="18" charset="0"/>
                <a:cs typeface="Times New Roman" panose="02020603050405020304" pitchFamily="18" charset="0"/>
              </a:rPr>
              <a:t>is the return on investment and payback period? </a:t>
            </a: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 What </a:t>
            </a:r>
            <a:r>
              <a:rPr lang="en-US" dirty="0">
                <a:latin typeface="Times New Roman" panose="02020603050405020304" pitchFamily="18" charset="0"/>
                <a:cs typeface="Times New Roman" panose="02020603050405020304" pitchFamily="18" charset="0"/>
              </a:rPr>
              <a:t>are the risks of doing the project? </a:t>
            </a: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 What </a:t>
            </a:r>
            <a:r>
              <a:rPr lang="en-US" dirty="0">
                <a:latin typeface="Times New Roman" panose="02020603050405020304" pitchFamily="18" charset="0"/>
                <a:cs typeface="Times New Roman" panose="02020603050405020304" pitchFamily="18" charset="0"/>
              </a:rPr>
              <a:t>are the risks of not doing the project? </a:t>
            </a: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 How </a:t>
            </a:r>
            <a:r>
              <a:rPr lang="en-US" dirty="0">
                <a:latin typeface="Times New Roman" panose="02020603050405020304" pitchFamily="18" charset="0"/>
                <a:cs typeface="Times New Roman" panose="02020603050405020304" pitchFamily="18" charset="0"/>
              </a:rPr>
              <a:t>will we measure success? </a:t>
            </a: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 What </a:t>
            </a:r>
            <a:r>
              <a:rPr lang="en-US" dirty="0">
                <a:latin typeface="Times New Roman" panose="02020603050405020304" pitchFamily="18" charset="0"/>
                <a:cs typeface="Times New Roman" panose="02020603050405020304" pitchFamily="18" charset="0"/>
              </a:rPr>
              <a:t>alternatives exist?</a:t>
            </a:r>
          </a:p>
        </p:txBody>
      </p:sp>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 business case</a:t>
            </a:r>
          </a:p>
        </p:txBody>
      </p:sp>
    </p:spTree>
    <p:extLst>
      <p:ext uri="{BB962C8B-B14F-4D97-AF65-F5344CB8AC3E}">
        <p14:creationId xmlns:p14="http://schemas.microsoft.com/office/powerpoint/2010/main" val="572094610"/>
      </p:ext>
    </p:extLst>
  </p:cSld>
  <p:clrMapOvr>
    <a:masterClrMapping/>
  </p:clrMapOvr>
  <p:timing>
    <p:tnLst>
      <p:par>
        <p:cTn id="1" dur="indefinite" restart="never" nodeType="tmRoot"/>
      </p:par>
    </p:tnLst>
  </p:timing>
</p:sld>
</file>

<file path=ppt/theme/theme1.xml><?xml version="1.0" encoding="utf-8"?>
<a:theme xmlns:a="http://schemas.openxmlformats.org/drawingml/2006/main" name="Theme3">
  <a:themeElements>
    <a:clrScheme name="Custom 10">
      <a:dk1>
        <a:sysClr val="windowText" lastClr="000000"/>
      </a:dk1>
      <a:lt1>
        <a:sysClr val="window" lastClr="FFFFFF"/>
      </a:lt1>
      <a:dk2>
        <a:srgbClr val="454545"/>
      </a:dk2>
      <a:lt2>
        <a:srgbClr val="DFDBD5"/>
      </a:lt2>
      <a:accent1>
        <a:srgbClr val="B71E42"/>
      </a:accent1>
      <a:accent2>
        <a:srgbClr val="84582C"/>
      </a:accent2>
      <a:accent3>
        <a:srgbClr val="002060"/>
      </a:accent3>
      <a:accent4>
        <a:srgbClr val="586EA6"/>
      </a:accent4>
      <a:accent5>
        <a:srgbClr val="586EA6"/>
      </a:accent5>
      <a:accent6>
        <a:srgbClr val="6892A0"/>
      </a:accent6>
      <a:hlink>
        <a:srgbClr val="B71E42"/>
      </a:hlink>
      <a:folHlink>
        <a:srgbClr val="586EA6"/>
      </a:folHlink>
    </a:clrScheme>
    <a:fontScheme name="Default">
      <a:majorFont>
        <a:latin typeface="Gill Sans MT"/>
        <a:ea typeface=""/>
        <a:cs typeface=""/>
      </a:majorFont>
      <a:minorFont>
        <a:latin typeface="Gill Sans MT"/>
        <a:ea typeface=""/>
        <a:cs typeface=""/>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spDef>
      <a:spPr>
        <a:solidFill>
          <a:srgbClr val="B71E42"/>
        </a:solidFill>
        <a:ln>
          <a:noFill/>
        </a:ln>
      </a:spPr>
      <a:bodyPr rtlCol="0" anchor="ctr"/>
      <a:lstStyle>
        <a:defPPr algn="ctr">
          <a:defRPr/>
        </a:defPPr>
      </a:lstStyle>
      <a:style>
        <a:lnRef idx="3">
          <a:schemeClr val="lt1"/>
        </a:lnRef>
        <a:fillRef idx="1">
          <a:schemeClr val="accent1"/>
        </a:fillRef>
        <a:effectRef idx="1">
          <a:schemeClr val="accent1"/>
        </a:effectRef>
        <a:fontRef idx="minor">
          <a:schemeClr val="lt1"/>
        </a:fontRef>
      </a:style>
    </a:spDef>
    <a:lnDef>
      <a:spPr>
        <a:ln w="31750"/>
      </a:spPr>
      <a:bodyPr/>
      <a:lstStyle/>
      <a:style>
        <a:lnRef idx="3">
          <a:schemeClr val="accent1"/>
        </a:lnRef>
        <a:fillRef idx="0">
          <a:schemeClr val="accent1"/>
        </a:fillRef>
        <a:effectRef idx="2">
          <a:schemeClr val="accent1"/>
        </a:effectRef>
        <a:fontRef idx="minor">
          <a:schemeClr val="tx1"/>
        </a:fontRef>
      </a:style>
    </a:lnDef>
  </a:objectDefaults>
  <a:extraClrSchemeLst/>
  <a:extLst>
    <a:ext uri="{05A4C25C-085E-4340-85A3-A5531E510DB2}">
      <thm15:themeFamily xmlns:thm15="http://schemas.microsoft.com/office/thememl/2012/main" name="Theme3" id="{FB03BC74-5683-4378-A2C2-9732300F9EBA}" vid="{3EFA06A2-0147-4E8E-A408-BC8DD123615C}"/>
    </a:ext>
  </a:extLst>
</a:theme>
</file>

<file path=docProps/app.xml><?xml version="1.0" encoding="utf-8"?>
<Properties xmlns="http://schemas.openxmlformats.org/officeDocument/2006/extended-properties" xmlns:vt="http://schemas.openxmlformats.org/officeDocument/2006/docPropsVTypes">
  <Template>Theme3</Template>
  <TotalTime>0</TotalTime>
  <Words>813</Words>
  <Application>Microsoft Office PowerPoint</Application>
  <PresentationFormat>Widescreen</PresentationFormat>
  <Paragraphs>80</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Cambria Math</vt:lpstr>
      <vt:lpstr>Gill Sans MT</vt:lpstr>
      <vt:lpstr>Times New Roman</vt:lpstr>
      <vt:lpstr>Wingdings</vt:lpstr>
      <vt:lpstr>Theme3</vt:lpstr>
      <vt:lpstr>International Islamic University Chittagong</vt:lpstr>
      <vt:lpstr>Feasibility study</vt:lpstr>
      <vt:lpstr>Types of Feasibility study</vt:lpstr>
      <vt:lpstr>costs and benefits</vt:lpstr>
      <vt:lpstr>PowerPoint Presentation</vt:lpstr>
      <vt:lpstr>STEPS in ECONOMIC FEASIBILITY ANALYSIS </vt:lpstr>
      <vt:lpstr>STEPS in ECONOMIC FEASIBILITY ANALYSIS </vt:lpstr>
      <vt:lpstr>Cash flow analysis</vt:lpstr>
      <vt:lpstr>Return on Investment</vt:lpstr>
      <vt:lpstr>Break-Even Point</vt:lpstr>
      <vt:lpstr>Discounted Cash Flow Technique</vt:lpstr>
      <vt:lpstr>PowerPoint Presentation</vt:lpstr>
      <vt:lpstr>A business case</vt:lpstr>
      <vt:lpstr>A business case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2025-09-27T16:44:37Z</dcterms:created>
  <dcterms:modified xsi:type="dcterms:W3CDTF">2025-10-05T08:43:50Z</dcterms:modified>
</cp:coreProperties>
</file>